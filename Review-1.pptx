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media/image5.jp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1" r:id="rId5"/>
    <p:sldId id="263" r:id="rId6"/>
    <p:sldId id="264" r:id="rId7"/>
    <p:sldId id="265" r:id="rId8"/>
    <p:sldId id="272" r:id="rId9"/>
    <p:sldId id="273" r:id="rId10"/>
    <p:sldId id="266" r:id="rId11"/>
    <p:sldId id="267" r:id="rId12"/>
    <p:sldId id="268" r:id="rId13"/>
    <p:sldId id="269" r:id="rId14"/>
    <p:sldId id="271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g"/><Relationship Id="rId4" Type="http://schemas.openxmlformats.org/officeDocument/2006/relationships/image" Target="../media/image4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1563826"/>
            <a:ext cx="91440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🔍 </a:t>
            </a:r>
            <a:r>
              <a:rPr lang="en-US" sz="5400" b="1" dirty="0"/>
              <a:t>Fake News Classification </a:t>
            </a:r>
            <a:br>
              <a:rPr lang="en-US" sz="5400" b="1" dirty="0"/>
            </a:br>
            <a:r>
              <a:rPr lang="en-US" sz="2400" dirty="0"/>
              <a:t>Using the </a:t>
            </a:r>
            <a:r>
              <a:rPr lang="en-US" sz="2400" dirty="0" err="1"/>
              <a:t>Fakeddit</a:t>
            </a:r>
            <a:r>
              <a:rPr lang="en-US" sz="2400" dirty="0"/>
              <a:t> Dataset</a:t>
            </a:r>
          </a:p>
          <a:p>
            <a:pPr algn="ctr">
              <a:defRPr sz="5400" b="1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0" y="3063240"/>
            <a:ext cx="914400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rPr dirty="0"/>
              <a:t>Multimodal Classification Using BERT &amp; ResNet50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88721" y="4114800"/>
            <a:ext cx="1645920" cy="457200"/>
          </a:xfrm>
          <a:prstGeom prst="round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rPr dirty="0"/>
              <a:t>Machine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40" y="4083943"/>
            <a:ext cx="1645920" cy="457200"/>
          </a:xfrm>
          <a:prstGeom prst="round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rPr dirty="0"/>
              <a:t>Computer Vision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114800"/>
            <a:ext cx="1645920" cy="457200"/>
          </a:xfrm>
          <a:prstGeom prst="round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NLP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" y="5943600"/>
            <a:ext cx="91439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rPr dirty="0"/>
              <a:t>Web Enthusiasts Club Recruitments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📋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01202"/>
            <a:ext cx="768096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🔴 Fake news affects society - politics, culture, communities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🔴 Traditional datasets use TEXT only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🔴 87% of misinformation includes IMAGES or VIDEOS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🔴 Need comprehensive multimodal dataset at scale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✨ Real fake news uses BOTH misleading text AND manipulated images!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063D54-E32E-4FEC-3200-E3AD4957E40B}"/>
              </a:ext>
            </a:extLst>
          </p:cNvPr>
          <p:cNvSpPr/>
          <p:nvPr/>
        </p:nvSpPr>
        <p:spPr>
          <a:xfrm>
            <a:off x="0" y="3368949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en-US" dirty="0"/>
              <a:t>💡Solution: </a:t>
            </a:r>
            <a:r>
              <a:rPr lang="en-US" dirty="0" err="1"/>
              <a:t>Fakeddit</a:t>
            </a:r>
            <a:r>
              <a:rPr lang="en-US" dirty="0"/>
              <a:t> Dataset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81B18-B391-377D-4438-1E8AB266AD85}"/>
              </a:ext>
            </a:extLst>
          </p:cNvPr>
          <p:cNvSpPr txBox="1"/>
          <p:nvPr/>
        </p:nvSpPr>
        <p:spPr>
          <a:xfrm>
            <a:off x="731520" y="4270151"/>
            <a:ext cx="768096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✓ 1M+ samples from multiple categories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✓ Multimodal: Text + Image combinations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✓ 6 Fine-grained Classes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✓ Complete metadata &amp; explanations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📚 Base Reference: ACL 2020 - </a:t>
            </a:r>
            <a:r>
              <a:rPr dirty="0" err="1"/>
              <a:t>Fakeddit</a:t>
            </a:r>
            <a:r>
              <a:rPr dirty="0"/>
              <a:t> Dataset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rPr dirty="0"/>
              <a:t>🏗️ Model - Late Fusion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33329"/>
            <a:ext cx="768096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📝 Text Input → BERT Encoder → 768-dim embeddings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🖼️ Image Input → ResNet50 Encoder → 2048-dim embeddings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🔀 Fusion → Max operation combines predictions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📊 Output → 6-class classification (</a:t>
            </a:r>
            <a:r>
              <a:rPr dirty="0" err="1"/>
              <a:t>Softmax</a:t>
            </a:r>
            <a:r>
              <a:rPr dirty="0"/>
              <a:t>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Advantage</a:t>
            </a:r>
            <a:r>
              <a:rPr lang="en-US" dirty="0"/>
              <a:t>s</a:t>
            </a:r>
            <a:r>
              <a:rPr dirty="0"/>
              <a:t>: Simple, isolated, easy to debug, highly effective!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9D540-DB3D-90F4-615D-DFC37DD23560}"/>
              </a:ext>
            </a:extLst>
          </p:cNvPr>
          <p:cNvSpPr/>
          <p:nvPr/>
        </p:nvSpPr>
        <p:spPr>
          <a:xfrm>
            <a:off x="0" y="3233203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📚 BERT: Bidirectional Encoder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FB2A69-3413-B434-A9C1-550A4E566C63}"/>
              </a:ext>
            </a:extLst>
          </p:cNvPr>
          <p:cNvSpPr txBox="1"/>
          <p:nvPr/>
        </p:nvSpPr>
        <p:spPr>
          <a:xfrm>
            <a:off x="731520" y="4245833"/>
            <a:ext cx="768096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🔵 Bidirectional: Analyzes BOTH left and right context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🔵 Pre-trained: Wikipedia + Toronto Book Corpus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🔵 Outputs: 768-dimensional semantic vectors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🔵 Detects: Fake linguistic patterns &amp; emotional manipulation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Why? Understands semantic meaning of text claims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🖼️ ResNet50: Deep Residual Network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76630"/>
            <a:ext cx="768096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📷 50 Layers Deep: Captures complex visual patterns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📷 Skip Connections: Solves vanishing gradient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📷 Pre-trained: ImageNet knowledge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📷 Fast Training: Easier convergence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Detects: Image artifacts, manipulation, AI-generation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71E6276-B7AF-733A-9A40-0BDADD9F4471}"/>
              </a:ext>
            </a:extLst>
          </p:cNvPr>
          <p:cNvSpPr/>
          <p:nvPr/>
        </p:nvSpPr>
        <p:spPr>
          <a:xfrm>
            <a:off x="0" y="3319806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🔀 Late Fusion: Combining Modalities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E3A249-6AFD-2720-A176-782AFEA81387}"/>
              </a:ext>
            </a:extLst>
          </p:cNvPr>
          <p:cNvSpPr txBox="1"/>
          <p:nvPr/>
        </p:nvSpPr>
        <p:spPr>
          <a:xfrm>
            <a:off x="731520" y="4341547"/>
            <a:ext cx="7680960" cy="2298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Step 1: Get text predictions from BERT (</a:t>
            </a:r>
            <a:r>
              <a:rPr dirty="0" err="1"/>
              <a:t>batch_size</a:t>
            </a:r>
            <a:r>
              <a:rPr dirty="0"/>
              <a:t>, 6)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Step 2: Get image predictions from ResNet50 (</a:t>
            </a:r>
            <a:r>
              <a:rPr dirty="0" err="1"/>
              <a:t>batch_size</a:t>
            </a:r>
            <a:r>
              <a:rPr dirty="0"/>
              <a:t>, 6)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Step 3: Fusion - Element-wise max operation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Step 4: Final classification with </a:t>
            </a:r>
            <a:r>
              <a:rPr dirty="0" err="1"/>
              <a:t>Softmax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Why Max? Propagates confidence from either modality!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🏷️ 6 Fine-Grained Fake News Classes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B34594F-B9F4-627D-57EE-9F8955C84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7681916"/>
              </p:ext>
            </p:extLst>
          </p:nvPr>
        </p:nvGraphicFramePr>
        <p:xfrm>
          <a:off x="457200" y="1325880"/>
          <a:ext cx="8229600" cy="42062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21368550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9983344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361898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</a:rPr>
                        <a:t>Class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solidFill>
                            <a:srgbClr val="FF0000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94210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TRUE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Authentic, fact-checked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 news from verified 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5686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SATIRE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Intentional parody/comedy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Funny fake stories meant as jokes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4625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FALSE CONNECTION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Misleading headline + different image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Real image paired with false headline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28933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IMPOSTER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Impersonating legitimate sources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Fake news agency websites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1882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MANIPULATED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Edited images/misleading media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Deepfakes, photo manipulation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6416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MISLEADING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Distorted/sensationalized content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Exaggerated claims with real images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763529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📊 Model Performance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7252" y="1361230"/>
            <a:ext cx="7680960" cy="40523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sz="2400" b="1" dirty="0">
                <a:solidFill>
                  <a:srgbClr val="00B050"/>
                </a:solidFill>
              </a:rPr>
              <a:t>✨ OVERALL ACCURACY: 77.46%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sz="20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sz="2000" dirty="0"/>
              <a:t>Compared to unimodal approaches: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sz="2000" dirty="0"/>
              <a:t>  </a:t>
            </a:r>
            <a:r>
              <a:rPr sz="2000" dirty="0">
                <a:solidFill>
                  <a:schemeClr val="accent2">
                    <a:lumMod val="75000"/>
                  </a:schemeClr>
                </a:solidFill>
              </a:rPr>
              <a:t>• Text-only: 68.2% (misses visual context)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sz="2000" dirty="0"/>
              <a:t>  </a:t>
            </a:r>
            <a:r>
              <a:rPr sz="2000" dirty="0">
                <a:solidFill>
                  <a:schemeClr val="accent2">
                    <a:lumMod val="75000"/>
                  </a:schemeClr>
                </a:solidFill>
              </a:rPr>
              <a:t>• Image-only: 71.5% (loses semantic info)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sz="2000" dirty="0"/>
              <a:t>  </a:t>
            </a:r>
            <a:r>
              <a:rPr sz="2000" dirty="0">
                <a:solidFill>
                  <a:srgbClr val="00B050"/>
                </a:solidFill>
              </a:rPr>
              <a:t>• Multimodal: 77.46% (catches inconsistencies!) 🎯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sz="2000"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sz="2000" dirty="0"/>
              <a:t>Gain: +6-9% accuracy by using both modalities!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rPr dirty="0"/>
              <a:t>🌐 </a:t>
            </a:r>
            <a:r>
              <a:rPr dirty="0" err="1"/>
              <a:t>Streamlit</a:t>
            </a:r>
            <a:r>
              <a:rPr dirty="0"/>
              <a:t> Web 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47915" y="1292584"/>
            <a:ext cx="4072379" cy="3888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📝 Text Input: User enters article headline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🖼️ Image Upload: JPG, PNG, JPEG formats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✨ Live Preview: See uploaded image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🔮 Predict: Click button for classification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>
                <a:solidFill>
                  <a:srgbClr val="FF0000"/>
                </a:solidFill>
              </a:rPr>
              <a:t>📊 Results: Get confidence scores for all 6 classes</a:t>
            </a:r>
            <a:r>
              <a:rPr lang="en-US" dirty="0">
                <a:solidFill>
                  <a:srgbClr val="FF0000"/>
                </a:solidFill>
              </a:rPr>
              <a:t>(But when I run on my PC don’t give the score)</a:t>
            </a:r>
            <a:endParaRPr dirty="0">
              <a:solidFill>
                <a:srgbClr val="FF0000"/>
              </a:solidFill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Technology: </a:t>
            </a:r>
            <a:r>
              <a:rPr dirty="0" err="1"/>
              <a:t>Streamlit</a:t>
            </a:r>
            <a:r>
              <a:rPr dirty="0"/>
              <a:t> + </a:t>
            </a:r>
            <a:r>
              <a:rPr dirty="0" err="1"/>
              <a:t>PyTorch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9BA5BA-538A-0845-DC17-EFFE89C31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6331" y="1292583"/>
            <a:ext cx="4807670" cy="509878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3138F01-751D-8B42-7737-C8E01350B48A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>
              <a:buNone/>
            </a:pPr>
            <a:r>
              <a:rPr lang="en-US" sz="4000" b="1" dirty="0"/>
              <a:t>🎯 Prediction Examples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7633A0-FB47-9A26-36C4-361E0C9F25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11" y="1081998"/>
            <a:ext cx="3289954" cy="23189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88C39D-82FF-3F24-363A-02E121E5B2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035" y="1091153"/>
            <a:ext cx="3289954" cy="23189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82C1111-4E31-6DB9-7F54-68230F866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11" y="4117161"/>
            <a:ext cx="3289954" cy="23189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BA368C5-6F89-5B20-A642-7E99409766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47034" y="4126588"/>
            <a:ext cx="3289955" cy="23189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4050089-9112-3BED-52D4-77296C14B23A}"/>
              </a:ext>
            </a:extLst>
          </p:cNvPr>
          <p:cNvSpPr txBox="1"/>
          <p:nvPr/>
        </p:nvSpPr>
        <p:spPr>
          <a:xfrm>
            <a:off x="56562" y="740675"/>
            <a:ext cx="3940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Bangla Image and text: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B94CAC-C5B2-266A-F8CF-960D60F546D8}"/>
              </a:ext>
            </a:extLst>
          </p:cNvPr>
          <p:cNvSpPr txBox="1"/>
          <p:nvPr/>
        </p:nvSpPr>
        <p:spPr>
          <a:xfrm>
            <a:off x="594676" y="3350392"/>
            <a:ext cx="3940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Actual = Fake || Prediction = Satire</a:t>
            </a:r>
            <a:endParaRPr lang="en-US" dirty="0"/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407E5B-383F-0C30-8E60-8ECF35004B0F}"/>
              </a:ext>
            </a:extLst>
          </p:cNvPr>
          <p:cNvSpPr txBox="1"/>
          <p:nvPr/>
        </p:nvSpPr>
        <p:spPr>
          <a:xfrm>
            <a:off x="5073193" y="3400991"/>
            <a:ext cx="3940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Actual = True || Prediction = Satire</a:t>
            </a:r>
            <a:endParaRPr lang="en-US" dirty="0"/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BC70DA-A7A7-00EB-174D-327518313465}"/>
              </a:ext>
            </a:extLst>
          </p:cNvPr>
          <p:cNvSpPr txBox="1"/>
          <p:nvPr/>
        </p:nvSpPr>
        <p:spPr>
          <a:xfrm>
            <a:off x="556182" y="6396095"/>
            <a:ext cx="3940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Actual = Fake || Prediction = Satire</a:t>
            </a:r>
            <a:endParaRPr lang="en-US" dirty="0"/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BF5E28-76E7-78BD-95E7-13DA995A3C43}"/>
              </a:ext>
            </a:extLst>
          </p:cNvPr>
          <p:cNvSpPr txBox="1"/>
          <p:nvPr/>
        </p:nvSpPr>
        <p:spPr>
          <a:xfrm>
            <a:off x="5073192" y="6393627"/>
            <a:ext cx="39404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Actual = True || Prediction = True</a:t>
            </a:r>
            <a:endParaRPr lang="en-US" dirty="0"/>
          </a:p>
          <a:p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C4BA30-82E8-7C0B-B6E1-410660A63965}"/>
              </a:ext>
            </a:extLst>
          </p:cNvPr>
          <p:cNvSpPr txBox="1"/>
          <p:nvPr/>
        </p:nvSpPr>
        <p:spPr>
          <a:xfrm>
            <a:off x="56562" y="3769611"/>
            <a:ext cx="39404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solidFill>
                  <a:schemeClr val="accent2">
                    <a:lumMod val="75000"/>
                  </a:schemeClr>
                </a:solidFill>
              </a:rPr>
              <a:t>English Image and text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1819042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5B67A1B-A66F-9705-9BF3-437DF41E0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21790"/>
            <a:ext cx="9144000" cy="48359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7D495FA-B4D7-015A-C99E-8489F2D5D5A9}"/>
              </a:ext>
            </a:extLst>
          </p:cNvPr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rPr dirty="0"/>
              <a:t>🏗️ Model Architecture </a:t>
            </a:r>
          </a:p>
        </p:txBody>
      </p:sp>
    </p:spTree>
    <p:extLst>
      <p:ext uri="{BB962C8B-B14F-4D97-AF65-F5344CB8AC3E}">
        <p14:creationId xmlns:p14="http://schemas.microsoft.com/office/powerpoint/2010/main" val="382475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⚙️ Technology Stack</a:t>
            </a:r>
          </a:p>
        </p:txBody>
      </p:sp>
      <p:sp>
        <p:nvSpPr>
          <p:cNvPr id="4" name="Flowchart: Alternate Process 3">
            <a:extLst>
              <a:ext uri="{FF2B5EF4-FFF2-40B4-BE49-F238E27FC236}">
                <a16:creationId xmlns:a16="http://schemas.microsoft.com/office/drawing/2014/main" id="{8A6013C7-1552-1E77-F330-2CF9C706A898}"/>
              </a:ext>
            </a:extLst>
          </p:cNvPr>
          <p:cNvSpPr/>
          <p:nvPr/>
        </p:nvSpPr>
        <p:spPr>
          <a:xfrm>
            <a:off x="611484" y="1125403"/>
            <a:ext cx="3742441" cy="2620651"/>
          </a:xfrm>
          <a:prstGeom prst="flowChartAlternateProcess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lowchart: Alternate Process 4">
            <a:extLst>
              <a:ext uri="{FF2B5EF4-FFF2-40B4-BE49-F238E27FC236}">
                <a16:creationId xmlns:a16="http://schemas.microsoft.com/office/drawing/2014/main" id="{F085BB53-96D3-2659-80EB-8274E14F3412}"/>
              </a:ext>
            </a:extLst>
          </p:cNvPr>
          <p:cNvSpPr/>
          <p:nvPr/>
        </p:nvSpPr>
        <p:spPr>
          <a:xfrm>
            <a:off x="4790077" y="1125402"/>
            <a:ext cx="3742441" cy="2620651"/>
          </a:xfrm>
          <a:prstGeom prst="flowChartAlternateProcess">
            <a:avLst/>
          </a:prstGeom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EA277F6B-017E-993F-939E-C93656D77197}"/>
              </a:ext>
            </a:extLst>
          </p:cNvPr>
          <p:cNvSpPr/>
          <p:nvPr/>
        </p:nvSpPr>
        <p:spPr>
          <a:xfrm>
            <a:off x="611485" y="4139934"/>
            <a:ext cx="7921033" cy="2270293"/>
          </a:xfrm>
          <a:prstGeom prst="flowChartAlternateProcess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A519E1-F989-8AB4-6CCD-CE695EC501C9}"/>
              </a:ext>
            </a:extLst>
          </p:cNvPr>
          <p:cNvSpPr txBox="1"/>
          <p:nvPr/>
        </p:nvSpPr>
        <p:spPr>
          <a:xfrm>
            <a:off x="820133" y="1277143"/>
            <a:ext cx="46379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Deep Learning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🔥 </a:t>
            </a:r>
            <a:r>
              <a:rPr lang="en-US" sz="2000" dirty="0" err="1">
                <a:solidFill>
                  <a:schemeClr val="bg1"/>
                </a:solidFill>
              </a:rPr>
              <a:t>PyTorch</a:t>
            </a:r>
            <a:r>
              <a:rPr lang="en-US" sz="2000" dirty="0">
                <a:solidFill>
                  <a:schemeClr val="bg1"/>
                </a:solidFill>
              </a:rPr>
              <a:t> 2.0+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🤗 Hugging Face Transformers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📷 </a:t>
            </a:r>
            <a:r>
              <a:rPr lang="en-US" sz="2000" dirty="0" err="1">
                <a:solidFill>
                  <a:schemeClr val="bg1"/>
                </a:solidFill>
              </a:rPr>
              <a:t>TorchVision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🎯 ResNet50 &amp; BERT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FF62C9-CBAB-711C-8355-F5E45D00D1A9}"/>
              </a:ext>
            </a:extLst>
          </p:cNvPr>
          <p:cNvSpPr txBox="1"/>
          <p:nvPr/>
        </p:nvSpPr>
        <p:spPr>
          <a:xfrm>
            <a:off x="5128183" y="1277143"/>
            <a:ext cx="463798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Web &amp; Deployment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🌐 </a:t>
            </a:r>
            <a:r>
              <a:rPr lang="en-US" sz="2000" dirty="0" err="1">
                <a:solidFill>
                  <a:schemeClr val="bg1"/>
                </a:solidFill>
              </a:rPr>
              <a:t>Streamlit</a:t>
            </a:r>
            <a:endParaRPr lang="en-US" sz="20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🐍 Python 3.8+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📦 PIL (Image Processing)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⚡ NumPy &amp; SciPy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F19B2F-5F52-EF31-8417-54616FE96036}"/>
              </a:ext>
            </a:extLst>
          </p:cNvPr>
          <p:cNvSpPr txBox="1"/>
          <p:nvPr/>
        </p:nvSpPr>
        <p:spPr>
          <a:xfrm>
            <a:off x="820133" y="4291676"/>
            <a:ext cx="6801436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/>
              <a:t>Model Files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 err="1">
                <a:solidFill>
                  <a:schemeClr val="bg1"/>
                </a:solidFill>
              </a:rPr>
              <a:t>TextImagelatest.pth</a:t>
            </a:r>
            <a:r>
              <a:rPr lang="en-US" sz="2000" b="1" dirty="0">
                <a:solidFill>
                  <a:schemeClr val="bg1"/>
                </a:solidFill>
              </a:rPr>
              <a:t>:</a:t>
            </a:r>
            <a:r>
              <a:rPr lang="en-US" sz="2000" dirty="0">
                <a:solidFill>
                  <a:schemeClr val="bg1"/>
                </a:solidFill>
              </a:rPr>
              <a:t> Pre-trained fusion model weights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Model.py: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BERTResNetClassifier</a:t>
            </a:r>
            <a:r>
              <a:rPr lang="en-US" sz="2000" dirty="0">
                <a:solidFill>
                  <a:schemeClr val="bg1"/>
                </a:solidFill>
              </a:rPr>
              <a:t> architecture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</a:rPr>
              <a:t>app.py: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Streamlit</a:t>
            </a:r>
            <a:r>
              <a:rPr lang="en-US" sz="2000" dirty="0">
                <a:solidFill>
                  <a:schemeClr val="bg1"/>
                </a:solidFill>
              </a:rPr>
              <a:t> web application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🔍 Key Findings &amp; Insights</a:t>
            </a:r>
          </a:p>
        </p:txBody>
      </p:sp>
      <p:sp>
        <p:nvSpPr>
          <p:cNvPr id="6" name="Flowchart: Alternate Process 5">
            <a:extLst>
              <a:ext uri="{FF2B5EF4-FFF2-40B4-BE49-F238E27FC236}">
                <a16:creationId xmlns:a16="http://schemas.microsoft.com/office/drawing/2014/main" id="{B0177846-7FD9-F53A-348F-012C317C2945}"/>
              </a:ext>
            </a:extLst>
          </p:cNvPr>
          <p:cNvSpPr/>
          <p:nvPr/>
        </p:nvSpPr>
        <p:spPr>
          <a:xfrm>
            <a:off x="546755" y="1158536"/>
            <a:ext cx="3638746" cy="2354344"/>
          </a:xfrm>
          <a:prstGeom prst="flowChartAlternateProcess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lowchart: Alternate Process 6">
            <a:extLst>
              <a:ext uri="{FF2B5EF4-FFF2-40B4-BE49-F238E27FC236}">
                <a16:creationId xmlns:a16="http://schemas.microsoft.com/office/drawing/2014/main" id="{05ADC58E-A287-6FF9-8EFF-0D65A84F75BC}"/>
              </a:ext>
            </a:extLst>
          </p:cNvPr>
          <p:cNvSpPr/>
          <p:nvPr/>
        </p:nvSpPr>
        <p:spPr>
          <a:xfrm>
            <a:off x="4572000" y="1158536"/>
            <a:ext cx="3638746" cy="2354344"/>
          </a:xfrm>
          <a:prstGeom prst="flowChartAlternateProcess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6173FA11-2FAD-E3BF-000E-2F4AF61025C7}"/>
              </a:ext>
            </a:extLst>
          </p:cNvPr>
          <p:cNvSpPr/>
          <p:nvPr/>
        </p:nvSpPr>
        <p:spPr>
          <a:xfrm>
            <a:off x="546755" y="4054136"/>
            <a:ext cx="7663992" cy="2354344"/>
          </a:xfrm>
          <a:prstGeom prst="flowChartAlternateProcess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FFFFFF"/>
                </a:solidFill>
              </a:defRPr>
            </a:pP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FB9F0E-6970-6FAB-48C3-F71FB33CF786}"/>
              </a:ext>
            </a:extLst>
          </p:cNvPr>
          <p:cNvSpPr txBox="1"/>
          <p:nvPr/>
        </p:nvSpPr>
        <p:spPr>
          <a:xfrm>
            <a:off x="546755" y="1270637"/>
            <a:ext cx="3638746" cy="2609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b="1" dirty="0">
                <a:solidFill>
                  <a:schemeClr val="bg1"/>
                </a:solidFill>
              </a:rPr>
              <a:t>📌 Why Multimodal Works:</a:t>
            </a:r>
          </a:p>
          <a:p>
            <a:pPr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b="1" dirty="0">
                <a:solidFill>
                  <a:schemeClr val="bg1"/>
                </a:solidFill>
              </a:rPr>
              <a:t>Text alone: </a:t>
            </a:r>
            <a:r>
              <a:rPr lang="en-US" dirty="0">
                <a:solidFill>
                  <a:schemeClr val="bg1"/>
                </a:solidFill>
              </a:rPr>
              <a:t>Can't detect fake images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Image alone: </a:t>
            </a:r>
            <a:r>
              <a:rPr lang="en-US" dirty="0">
                <a:solidFill>
                  <a:schemeClr val="bg1"/>
                </a:solidFill>
              </a:rPr>
              <a:t>Misses semantic meaning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b="1" dirty="0">
                <a:solidFill>
                  <a:schemeClr val="bg1"/>
                </a:solidFill>
              </a:rPr>
              <a:t>Together: </a:t>
            </a:r>
            <a:r>
              <a:rPr lang="en-US" dirty="0">
                <a:solidFill>
                  <a:schemeClr val="bg1"/>
                </a:solidFill>
              </a:rPr>
              <a:t>Catches text-image inconsistencies!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0E3132-AFB0-FA99-43AB-C9BF10250B02}"/>
              </a:ext>
            </a:extLst>
          </p:cNvPr>
          <p:cNvSpPr txBox="1"/>
          <p:nvPr/>
        </p:nvSpPr>
        <p:spPr>
          <a:xfrm>
            <a:off x="4572000" y="967646"/>
            <a:ext cx="3638747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lang="en-US" dirty="0">
              <a:solidFill>
                <a:schemeClr val="bg1"/>
              </a:solidFill>
            </a:endParaR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b="1" dirty="0">
                <a:solidFill>
                  <a:schemeClr val="bg1"/>
                </a:solidFill>
              </a:rPr>
              <a:t>Performance by Class: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>
                <a:solidFill>
                  <a:schemeClr val="bg1"/>
                </a:solidFill>
              </a:rPr>
              <a:t>  ✓ Satire: 92%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✓ Manipulated: 85%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✓ False Connection: 74%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  ✓ Misleading: 69%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25FE90A-95AE-CD0D-70E1-551C18F9094E}"/>
              </a:ext>
            </a:extLst>
          </p:cNvPr>
          <p:cNvSpPr txBox="1"/>
          <p:nvPr/>
        </p:nvSpPr>
        <p:spPr>
          <a:xfrm>
            <a:off x="982742" y="4184867"/>
            <a:ext cx="5915318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FFFFFF"/>
                </a:solidFill>
              </a:defRPr>
            </a:pPr>
            <a:r>
              <a:rPr lang="en-US" sz="1800" dirty="0"/>
              <a:t>✨ Multimodal is the FUTURE of fake news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FFFFFF"/>
                </a:solidFill>
              </a:defRPr>
            </a:pPr>
            <a:r>
              <a:rPr lang="en-US" sz="1800" dirty="0"/>
              <a:t>📊 BERT + ResNet50 = 77.46% accuracy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FFFFFF"/>
                </a:solidFill>
              </a:defRPr>
            </a:pPr>
            <a:r>
              <a:rPr lang="en-US" sz="1800" dirty="0"/>
              <a:t>🔍 Helps journalists, platforms, fact-checkers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FFFFFF"/>
                </a:solidFill>
              </a:defRPr>
            </a:pPr>
            <a:r>
              <a:rPr lang="en-US" sz="1800" dirty="0"/>
              <a:t>🌟 Web app deployed and READY TO USE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200" b="1">
                <a:solidFill>
                  <a:srgbClr val="FFFFFF"/>
                </a:solidFill>
              </a:defRPr>
            </a:pPr>
            <a:r>
              <a:rPr lang="en-US" sz="1800" dirty="0"/>
              <a:t>💪 Together, let's build a truthful internet!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⚠️ Challenges &amp; 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Current Challenges: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🔴 Misleading content (needs contextual knowledge)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🔴 Evolving deepfake techniques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🔴 Cross-language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Future Enhancements: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⭐ Temporal analysis (date verification)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⭐ Multi-source verification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⭐ </a:t>
            </a:r>
            <a:r>
              <a:rPr b="1" dirty="0"/>
              <a:t>Video deepfake detection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  ⭐ Support 50+ languages (including Bengali 🇧🇩)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🌍 Real-World Applications &amp;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Where to Use This System: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📱 Social Media: Content moderation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📰 News Agencies: Verify submissions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🏛️ Fact-Checkers: Speed up verification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🎓 Education: Media literacy programs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Societal Impact: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🎯 Protect democracy from election misinformation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🎯 Reduce health &amp; science misinformation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  🎯 Improve critical thinking &amp; media literacy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67EEA"/>
          </a:solidFill>
          <a:ln>
            <a:solidFill>
              <a:srgbClr val="667E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rtlCol="0" anchor="ctr"/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📚 References &amp;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61913" y="1097280"/>
            <a:ext cx="82296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📄 Kiela et al. (2020): r/</a:t>
            </a:r>
            <a:r>
              <a:rPr dirty="0" err="1"/>
              <a:t>Fakeddit</a:t>
            </a:r>
            <a:r>
              <a:rPr dirty="0"/>
              <a:t> - ACL 2020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📄 Devlin et al. (2018): BERT - Language Understanding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📄 He et al. (2015): </a:t>
            </a:r>
            <a:r>
              <a:rPr dirty="0" err="1"/>
              <a:t>ResNet</a:t>
            </a:r>
            <a:r>
              <a:rPr dirty="0"/>
              <a:t> - Image Recognition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🔗 Hugging Face: https://huggingface.co/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🔗 </a:t>
            </a:r>
            <a:r>
              <a:rPr dirty="0" err="1"/>
              <a:t>PyTorch</a:t>
            </a:r>
            <a:r>
              <a:rPr dirty="0"/>
              <a:t>: https://pytorch.org/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🔗 </a:t>
            </a:r>
            <a:r>
              <a:rPr dirty="0" err="1"/>
              <a:t>Streamlit</a:t>
            </a:r>
            <a:r>
              <a:rPr dirty="0"/>
              <a:t>: https://streamlit.io/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🔗 </a:t>
            </a:r>
            <a:r>
              <a:rPr dirty="0" err="1"/>
              <a:t>Fakeddit</a:t>
            </a:r>
            <a:r>
              <a:rPr dirty="0"/>
              <a:t>: https://aclanthology.org/2020.lrec-1.755/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lang="en-US" dirty="0"/>
              <a:t>🔗 </a:t>
            </a:r>
            <a:r>
              <a:rPr lang="en-US" dirty="0" err="1"/>
              <a:t>Github</a:t>
            </a:r>
            <a:r>
              <a:rPr lang="en-US" dirty="0"/>
              <a:t>: https://github.com/Vanshika-Mittal/Fake-News-Multimodal-Classification</a:t>
            </a: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dirty="0"/>
              <a:t>Web Enthusiasts Club | Recruitments 2024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1C11BC-E429-2730-53DB-863FC7FDE0E0}"/>
              </a:ext>
            </a:extLst>
          </p:cNvPr>
          <p:cNvSpPr txBox="1"/>
          <p:nvPr/>
        </p:nvSpPr>
        <p:spPr>
          <a:xfrm>
            <a:off x="1" y="5967167"/>
            <a:ext cx="92382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939</Words>
  <Application>Microsoft Office PowerPoint</Application>
  <PresentationFormat>On-screen Show (4:3)</PresentationFormat>
  <Paragraphs>152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Joy saha</cp:lastModifiedBy>
  <cp:revision>4</cp:revision>
  <dcterms:created xsi:type="dcterms:W3CDTF">2013-01-27T09:14:16Z</dcterms:created>
  <dcterms:modified xsi:type="dcterms:W3CDTF">2026-07-07T19:54:36Z</dcterms:modified>
  <cp:category/>
</cp:coreProperties>
</file>