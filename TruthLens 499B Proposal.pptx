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70" r:id="rId4"/>
    <p:sldId id="271" r:id="rId5"/>
    <p:sldId id="273" r:id="rId6"/>
    <p:sldId id="272" r:id="rId7"/>
    <p:sldId id="257" r:id="rId8"/>
    <p:sldId id="258" r:id="rId9"/>
    <p:sldId id="259" r:id="rId10"/>
    <p:sldId id="261" r:id="rId11"/>
    <p:sldId id="268" r:id="rId12"/>
    <p:sldId id="262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782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1502571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2667096825000291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Faysal1000/BTMD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article/10.1007/s44354-026-00047-w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0" y="9144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2C3A5E"/>
          </a:solidFill>
          <a:ln w="12700">
            <a:solidFill>
              <a:srgbClr val="4A5A8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21031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32918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2C3A5E"/>
          </a:solidFill>
          <a:ln w="12700">
            <a:solidFill>
              <a:srgbClr val="4A5A8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PROJECT PROPOSAL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280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1945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Multimodal Misinformation Verification for Bangla Social-Media Content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presentation · Proposed work, not yet implemented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0587D05D-B8B1-EFD2-D164-6627137A2A48}"/>
              </a:ext>
            </a:extLst>
          </p:cNvPr>
          <p:cNvSpPr txBox="1"/>
          <p:nvPr/>
        </p:nvSpPr>
        <p:spPr>
          <a:xfrm>
            <a:off x="457200" y="296929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/>
              <a:t>1. BD-</a:t>
            </a:r>
            <a:r>
              <a:rPr lang="en-US" sz="2000" dirty="0" err="1"/>
              <a:t>FakeDetect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C0411-6023-C7AA-2C1A-72DA2C3E7217}"/>
              </a:ext>
            </a:extLst>
          </p:cNvPr>
          <p:cNvSpPr txBox="1"/>
          <p:nvPr/>
        </p:nvSpPr>
        <p:spPr>
          <a:xfrm>
            <a:off x="450426" y="807853"/>
            <a:ext cx="8178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Paper:</a:t>
            </a:r>
            <a:r>
              <a:rPr lang="en-US" sz="1400" dirty="0"/>
              <a:t> </a:t>
            </a:r>
            <a:r>
              <a:rPr lang="en-US" sz="1400" i="1" dirty="0"/>
              <a:t>A Multimodal Framework for Misinformation Detection in Bengali Using Large Language Models</a:t>
            </a:r>
          </a:p>
          <a:p>
            <a:r>
              <a:rPr lang="en-US" sz="1400" i="1" dirty="0">
                <a:hlinkClick r:id="rId2"/>
              </a:rPr>
              <a:t>https://ieeexplore.ieee.org/document/11502571</a:t>
            </a:r>
            <a:r>
              <a:rPr lang="en-US" sz="1400" i="1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22E15-B7A5-9E99-A435-BB9EA58C8208}"/>
              </a:ext>
            </a:extLst>
          </p:cNvPr>
          <p:cNvSpPr txBox="1"/>
          <p:nvPr/>
        </p:nvSpPr>
        <p:spPr>
          <a:xfrm>
            <a:off x="457200" y="1680383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They created </a:t>
            </a:r>
            <a:r>
              <a:rPr lang="en-US" sz="1400" b="1" dirty="0"/>
              <a:t>BD-</a:t>
            </a:r>
            <a:r>
              <a:rPr lang="en-US" sz="1400" b="1" dirty="0" err="1"/>
              <a:t>FakeDetect</a:t>
            </a:r>
            <a:r>
              <a:rPr lang="en-US" sz="1400" dirty="0"/>
              <a:t>, a manually curated Bengali misinformation dataset with </a:t>
            </a:r>
            <a:r>
              <a:rPr lang="en-US" sz="1400" b="1" dirty="0"/>
              <a:t>5,929 news articles/posts</a:t>
            </a:r>
            <a:r>
              <a:rPr lang="en-US" sz="1400" dirty="0"/>
              <a:t> from verified fact-checking platforms. They used </a:t>
            </a:r>
            <a:r>
              <a:rPr lang="en-US" sz="1400" b="1" dirty="0"/>
              <a:t>GPT-4o</a:t>
            </a:r>
            <a:r>
              <a:rPr lang="en-US" sz="1400" dirty="0"/>
              <a:t> for multimodal misinformation detection and added a </a:t>
            </a:r>
            <a:r>
              <a:rPr lang="en-US" sz="1400" b="1" dirty="0"/>
              <a:t>RAG pipeline</a:t>
            </a:r>
            <a:r>
              <a:rPr lang="en-US" sz="1400" dirty="0"/>
              <a:t> to provide external evidence and reduce hallucination. Their final GPT-4o system achieved 81.8% validation accuracy. </a:t>
            </a:r>
          </a:p>
          <a:p>
            <a:r>
              <a:rPr lang="en-US" sz="1600" b="1" dirty="0"/>
              <a:t>Main method: </a:t>
            </a:r>
            <a:r>
              <a:rPr lang="en-US" sz="1400" dirty="0"/>
              <a:t>Bengali text/image → GPT-4o → RAG evidence → misinformation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B7AF1-97E3-10D3-CE10-0834654A0DCC}"/>
              </a:ext>
            </a:extLst>
          </p:cNvPr>
          <p:cNvSpPr txBox="1"/>
          <p:nvPr/>
        </p:nvSpPr>
        <p:spPr>
          <a:xfrm>
            <a:off x="450426" y="133107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What did they do?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273F28-112A-DE0E-CF5D-DDAE4D9A9428}"/>
              </a:ext>
            </a:extLst>
          </p:cNvPr>
          <p:cNvSpPr txBox="1"/>
          <p:nvPr/>
        </p:nvSpPr>
        <p:spPr>
          <a:xfrm>
            <a:off x="453813" y="2880712"/>
            <a:ext cx="817541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Gap / Limitation</a:t>
            </a:r>
          </a:p>
          <a:p>
            <a:pPr>
              <a:buNone/>
            </a:pPr>
            <a:r>
              <a:rPr lang="en-US" sz="1200" dirty="0"/>
              <a:t>The main task is still </a:t>
            </a:r>
            <a:r>
              <a:rPr lang="en-US" sz="1200" b="1" dirty="0"/>
              <a:t>misinformation detection/classification</a:t>
            </a:r>
            <a:r>
              <a:rPr lang="en-US" sz="1200" dirty="0"/>
              <a:t>. It does not establish the same complete claim-level workflow we are targeting: </a:t>
            </a:r>
            <a:r>
              <a:rPr lang="en-US" sz="1200" b="1" dirty="0"/>
              <a:t>atomic claim → external evidence → evidence ranking/provenance → 3-way verification → evidence-grounded explanation → leakage-resistant evaluation.</a:t>
            </a: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/>
              <a:t>So, </a:t>
            </a:r>
            <a:r>
              <a:rPr lang="en-US" sz="1200" b="1" dirty="0"/>
              <a:t>Bangla + multimodal + RAG already exists</a:t>
            </a:r>
            <a:r>
              <a:rPr lang="en-US" sz="1200" dirty="0"/>
              <a:t>. We cannot claim that as our novelty.</a:t>
            </a:r>
          </a:p>
          <a:p>
            <a:pPr>
              <a:buNone/>
            </a:pPr>
            <a:endParaRPr lang="en-US" sz="1200" b="1" dirty="0"/>
          </a:p>
          <a:p>
            <a:pPr>
              <a:buNone/>
            </a:pPr>
            <a:r>
              <a:rPr lang="en-US" sz="1200" b="1" dirty="0"/>
              <a:t>Our lesson: </a:t>
            </a:r>
            <a:r>
              <a:rPr lang="en-US" sz="1200" dirty="0"/>
              <a:t>BD-</a:t>
            </a:r>
            <a:r>
              <a:rPr lang="en-US" sz="1200" dirty="0" err="1"/>
              <a:t>FakeDetect</a:t>
            </a:r>
            <a:r>
              <a:rPr lang="en-US" sz="1200" dirty="0"/>
              <a:t> is a </a:t>
            </a:r>
            <a:r>
              <a:rPr lang="en-US" sz="1200" b="1" dirty="0"/>
              <a:t>very important baseline/dataset</a:t>
            </a:r>
            <a:r>
              <a:rPr lang="en-US" sz="1200" dirty="0"/>
              <a:t>, but our work needs to go beyond simply asking:</a:t>
            </a:r>
          </a:p>
          <a:p>
            <a:pPr>
              <a:buNone/>
            </a:pPr>
            <a:r>
              <a:rPr lang="en-US" sz="1200" dirty="0"/>
              <a:t>“Is this post fake?”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E16419-2D0F-653F-B508-4C60E06230C2}"/>
              </a:ext>
            </a:extLst>
          </p:cNvPr>
          <p:cNvSpPr txBox="1"/>
          <p:nvPr/>
        </p:nvSpPr>
        <p:spPr>
          <a:xfrm>
            <a:off x="250614" y="11186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LITERATURE REVIEW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16735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7E4AD8-0917-8F89-352E-DA74699A001A}"/>
              </a:ext>
            </a:extLst>
          </p:cNvPr>
          <p:cNvSpPr txBox="1"/>
          <p:nvPr/>
        </p:nvSpPr>
        <p:spPr>
          <a:xfrm>
            <a:off x="331893" y="184030"/>
            <a:ext cx="83718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/>
              <a:t>2. </a:t>
            </a:r>
            <a:r>
              <a:rPr lang="en-US" b="1" dirty="0" err="1"/>
              <a:t>MultiBanFakeDetect</a:t>
            </a:r>
            <a:endParaRPr lang="en-US" b="1" dirty="0"/>
          </a:p>
          <a:p>
            <a:pPr>
              <a:buNone/>
            </a:pPr>
            <a:r>
              <a:rPr lang="en-US" sz="1400" b="1" dirty="0"/>
              <a:t>Paper:</a:t>
            </a:r>
            <a:r>
              <a:rPr lang="en-US" sz="1400" dirty="0"/>
              <a:t> </a:t>
            </a:r>
            <a:r>
              <a:rPr lang="en-US" sz="1400" i="1" dirty="0" err="1"/>
              <a:t>MultiBanFakeDetect</a:t>
            </a:r>
            <a:r>
              <a:rPr lang="en-US" sz="1400" i="1" dirty="0"/>
              <a:t>: Integrating Advanced Fusion Techniques for Multimodal Detection of Bangla Fake News in Under-Resourced Contexts: </a:t>
            </a:r>
            <a:r>
              <a:rPr lang="en-US" sz="1400" i="1" dirty="0">
                <a:hlinkClick r:id="rId2"/>
              </a:rPr>
              <a:t>https://www.sciencedirect.com/science/article/pii/S2667096825000291</a:t>
            </a:r>
            <a:r>
              <a:rPr lang="en-US" sz="1400" i="1" dirty="0"/>
              <a:t> 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C5DD14-1ABB-0900-CFF5-D1AC47CAD753}"/>
              </a:ext>
            </a:extLst>
          </p:cNvPr>
          <p:cNvSpPr txBox="1"/>
          <p:nvPr/>
        </p:nvSpPr>
        <p:spPr>
          <a:xfrm>
            <a:off x="386080" y="1247702"/>
            <a:ext cx="8263467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did they do?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/>
              <a:t>They created </a:t>
            </a:r>
            <a:r>
              <a:rPr lang="en-US" sz="1400" b="1" dirty="0"/>
              <a:t>9,600 Bangla text-image pairs</a:t>
            </a:r>
            <a:r>
              <a:rPr lang="en-US" sz="1400" dirty="0"/>
              <a:t>.</a:t>
            </a:r>
          </a:p>
          <a:p>
            <a:pPr algn="just">
              <a:buNone/>
            </a:pPr>
            <a:r>
              <a:rPr lang="en-US" sz="1400" dirty="0"/>
              <a:t>They </a:t>
            </a:r>
            <a:r>
              <a:rPr lang="en-US" sz="1400" dirty="0" err="1"/>
              <a:t>tested:mBERT</a:t>
            </a:r>
            <a:r>
              <a:rPr lang="en-US" sz="1400" dirty="0"/>
              <a:t>, XLM-R, </a:t>
            </a:r>
            <a:r>
              <a:rPr lang="en-US" sz="1400" dirty="0" err="1"/>
              <a:t>DistilBERT</a:t>
            </a:r>
            <a:r>
              <a:rPr lang="en-US" sz="1400" dirty="0"/>
              <a:t>, DenseNet-169, Early Fusion, Intermediate Fusion, Late Fusion</a:t>
            </a:r>
          </a:p>
          <a:p>
            <a:pPr algn="just">
              <a:buNone/>
            </a:pPr>
            <a:r>
              <a:rPr lang="en-US" sz="1400" dirty="0"/>
              <a:t>Their best multimodal model, DenseNet-169 + </a:t>
            </a:r>
            <a:r>
              <a:rPr lang="en-US" sz="1400" dirty="0" err="1"/>
              <a:t>mBERT</a:t>
            </a:r>
            <a:r>
              <a:rPr lang="en-US" sz="1400" dirty="0"/>
              <a:t>, achieved 79.69% accuracy, compared with 73.13% for text-only </a:t>
            </a:r>
            <a:r>
              <a:rPr lang="en-US" sz="1400" dirty="0" err="1"/>
              <a:t>mBERT</a:t>
            </a:r>
            <a:r>
              <a:rPr lang="en-US" sz="1400" dirty="0"/>
              <a:t>. </a:t>
            </a:r>
          </a:p>
          <a:p>
            <a:pPr>
              <a:buNone/>
            </a:pPr>
            <a:r>
              <a:rPr lang="en-US" b="1" dirty="0"/>
              <a:t>Main method: </a:t>
            </a:r>
            <a:r>
              <a:rPr lang="en-US" sz="1400" dirty="0"/>
              <a:t>Bangla text + image → text/image encoders → fusion → Fake/Real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BF97C8-F9C7-DA74-D4C9-1E4A9548D19F}"/>
              </a:ext>
            </a:extLst>
          </p:cNvPr>
          <p:cNvSpPr txBox="1"/>
          <p:nvPr/>
        </p:nvSpPr>
        <p:spPr>
          <a:xfrm>
            <a:off x="386080" y="2797876"/>
            <a:ext cx="837184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Gap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/>
              <a:t>The authors themselves point out that the work:</a:t>
            </a:r>
          </a:p>
          <a:p>
            <a:pPr algn="just"/>
            <a:r>
              <a:rPr lang="en-US" sz="1400" dirty="0"/>
              <a:t>focuses on </a:t>
            </a:r>
            <a:r>
              <a:rPr lang="en-US" sz="1400" b="1" dirty="0"/>
              <a:t>static text + image, </a:t>
            </a:r>
            <a:r>
              <a:rPr lang="en-US" sz="1400" dirty="0"/>
              <a:t>does not include </a:t>
            </a:r>
            <a:r>
              <a:rPr lang="en-US" sz="1400" b="1" dirty="0"/>
              <a:t>audio/video, </a:t>
            </a:r>
            <a:r>
              <a:rPr lang="en-US" sz="1400" dirty="0"/>
              <a:t>has limited interpretability, does not perform broader real-time/network-level analysis, has limitations in generalization across Bangla dialects and evolving </a:t>
            </a:r>
            <a:r>
              <a:rPr lang="en-US" sz="1400" dirty="0" err="1"/>
              <a:t>misinformation.More</a:t>
            </a:r>
            <a:r>
              <a:rPr lang="en-US" sz="1400" dirty="0"/>
              <a:t> importantly for </a:t>
            </a:r>
            <a:r>
              <a:rPr lang="en-US" sz="1400" b="1" dirty="0"/>
              <a:t>our project</a:t>
            </a:r>
            <a:r>
              <a:rPr lang="en-US" sz="1400" dirty="0"/>
              <a:t>, it is primarily </a:t>
            </a:r>
            <a:r>
              <a:rPr lang="en-US" sz="1400" b="1" dirty="0"/>
              <a:t>classification</a:t>
            </a:r>
            <a:r>
              <a:rPr lang="en-US" sz="1400" dirty="0"/>
              <a:t>, not external claim verification.</a:t>
            </a:r>
          </a:p>
          <a:p>
            <a:pPr>
              <a:buNone/>
            </a:pPr>
            <a:r>
              <a:rPr lang="en-US" sz="1400" b="1" dirty="0"/>
              <a:t>Our lesson</a:t>
            </a:r>
          </a:p>
          <a:p>
            <a:pPr>
              <a:buNone/>
            </a:pPr>
            <a:r>
              <a:rPr lang="en-US" sz="1400" dirty="0"/>
              <a:t>Multimodal Bangla detection is </a:t>
            </a:r>
            <a:r>
              <a:rPr lang="en-US" sz="1400" b="1" dirty="0"/>
              <a:t>already done</a:t>
            </a:r>
            <a:r>
              <a:rPr lang="en-US" sz="1400" dirty="0"/>
              <a:t>.</a:t>
            </a:r>
          </a:p>
          <a:p>
            <a:pPr>
              <a:buNone/>
            </a:pPr>
            <a:r>
              <a:rPr lang="en-US" sz="1400" b="1" dirty="0"/>
              <a:t>“We use XLM-R + </a:t>
            </a:r>
            <a:r>
              <a:rPr lang="en-US" sz="1400" b="1" dirty="0" err="1"/>
              <a:t>ViT</a:t>
            </a:r>
            <a:r>
              <a:rPr lang="en-US" sz="1400" b="1" dirty="0"/>
              <a:t> to detect Bangla fake news” ≠ strong novelty.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3F41E1-5245-1CD5-058B-3CEB01735A3F}"/>
              </a:ext>
            </a:extLst>
          </p:cNvPr>
          <p:cNvSpPr txBox="1"/>
          <p:nvPr/>
        </p:nvSpPr>
        <p:spPr>
          <a:xfrm>
            <a:off x="250614" y="11186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LITERATURE REVIEW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22963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EF2FCD-7E89-BAB6-AED6-C224A997E877}"/>
              </a:ext>
            </a:extLst>
          </p:cNvPr>
          <p:cNvSpPr txBox="1"/>
          <p:nvPr/>
        </p:nvSpPr>
        <p:spPr>
          <a:xfrm>
            <a:off x="338668" y="331889"/>
            <a:ext cx="8514080" cy="739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BTMD / </a:t>
            </a:r>
            <a:r>
              <a:rPr lang="en-US" b="1" dirty="0" err="1"/>
              <a:t>MoME-BanglaFake</a:t>
            </a:r>
            <a:endParaRPr lang="en-US" b="1" dirty="0"/>
          </a:p>
          <a:p>
            <a:pPr>
              <a:lnSpc>
                <a:spcPct val="200000"/>
              </a:lnSpc>
              <a:buNone/>
            </a:pPr>
            <a:r>
              <a:rPr lang="en-US" sz="1400" b="1" dirty="0"/>
              <a:t>Dataset:</a:t>
            </a:r>
            <a:r>
              <a:rPr lang="en-US" sz="1400" dirty="0"/>
              <a:t> </a:t>
            </a:r>
            <a:r>
              <a:rPr lang="en-US" sz="1400" i="1" dirty="0"/>
              <a:t>Bengali Trimodal Misinformation Dataset (BTMD) </a:t>
            </a:r>
            <a:r>
              <a:rPr lang="en-US" sz="1400" i="1" dirty="0">
                <a:hlinkClick r:id="rId2"/>
              </a:rPr>
              <a:t>https://huggingface.co/datasets/Faysal1000/BTMD</a:t>
            </a:r>
            <a:r>
              <a:rPr lang="en-US" sz="1400" i="1" dirty="0"/>
              <a:t>  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AAC39-8F32-3F05-DCBB-178D7D7EFE5E}"/>
              </a:ext>
            </a:extLst>
          </p:cNvPr>
          <p:cNvSpPr txBox="1"/>
          <p:nvPr/>
        </p:nvSpPr>
        <p:spPr>
          <a:xfrm>
            <a:off x="358987" y="983723"/>
            <a:ext cx="8426026" cy="206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What did they do?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/>
              <a:t>BTMD contains </a:t>
            </a:r>
            <a:r>
              <a:rPr lang="en-US" sz="1400" b="1" dirty="0"/>
              <a:t>6,058 Bengali news instances</a:t>
            </a:r>
            <a:r>
              <a:rPr lang="en-US" sz="1400" dirty="0"/>
              <a:t> across: Text, Image, Video</a:t>
            </a:r>
          </a:p>
          <a:p>
            <a:pPr>
              <a:buNone/>
            </a:pPr>
            <a:r>
              <a:rPr lang="en-US" sz="1400" dirty="0"/>
              <a:t>It supports: Real vs Fake, Real / Misinformation / Satire / Clickbait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/>
              <a:t>There are 4,457 text, 4,289 image and 1,383 video </a:t>
            </a:r>
            <a:r>
              <a:rPr lang="en-US" sz="1400" dirty="0" err="1"/>
              <a:t>instances.The</a:t>
            </a:r>
            <a:r>
              <a:rPr lang="en-US" sz="1400" dirty="0"/>
              <a:t> associated </a:t>
            </a:r>
            <a:r>
              <a:rPr lang="en-US" sz="1400" b="1" dirty="0" err="1"/>
              <a:t>MoME-BanglaFake</a:t>
            </a:r>
            <a:r>
              <a:rPr lang="en-US" sz="1400" dirty="0"/>
              <a:t> framework uses a mixture-of-modality-experts idea for multimodal fake-news detection.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Main method: </a:t>
            </a:r>
            <a:r>
              <a:rPr lang="en-US" sz="1400" b="1" dirty="0"/>
              <a:t>Text + Image + Video → modality experts → fusion/decision → Fake/Real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B2011-994E-2E4E-43DA-677CA9C9EC1F}"/>
              </a:ext>
            </a:extLst>
          </p:cNvPr>
          <p:cNvSpPr txBox="1"/>
          <p:nvPr/>
        </p:nvSpPr>
        <p:spPr>
          <a:xfrm>
            <a:off x="358987" y="3013853"/>
            <a:ext cx="84260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/>
              <a:t>Gap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/>
              <a:t>The major limitation for us is that the task remains mainly: </a:t>
            </a:r>
            <a:r>
              <a:rPr lang="en-US" sz="1400" b="1" dirty="0"/>
              <a:t>multimodal misinformation classification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does not give us the full: </a:t>
            </a:r>
            <a:r>
              <a:rPr lang="en-US" sz="1400" b="1" dirty="0"/>
              <a:t>claim → web evidence → evidence quality → provenance → verification → explanation </a:t>
            </a:r>
            <a:r>
              <a:rPr lang="en-US" sz="1400" dirty="0"/>
              <a:t>Also, the dataset/model page currently labels the </a:t>
            </a:r>
            <a:r>
              <a:rPr lang="en-US" sz="1400" dirty="0" err="1"/>
              <a:t>MoME-BanglaFake</a:t>
            </a:r>
            <a:r>
              <a:rPr lang="en-US" sz="1400" dirty="0"/>
              <a:t> paper as </a:t>
            </a:r>
            <a:r>
              <a:rPr lang="en-US" sz="1400" b="1" dirty="0"/>
              <a:t>under review</a:t>
            </a:r>
            <a:r>
              <a:rPr lang="en-US" sz="1400" dirty="0"/>
              <a:t>, so we should not present it as an established published-paper result.</a:t>
            </a:r>
          </a:p>
          <a:p>
            <a:pPr>
              <a:buNone/>
            </a:pPr>
            <a:r>
              <a:rPr lang="en-US" sz="1400" b="1" dirty="0"/>
              <a:t>Our lesson</a:t>
            </a:r>
          </a:p>
          <a:p>
            <a:pPr>
              <a:buNone/>
            </a:pPr>
            <a:r>
              <a:rPr lang="en-US" sz="1400" dirty="0"/>
              <a:t>This paper/dataset makes the </a:t>
            </a:r>
            <a:r>
              <a:rPr lang="en-US" sz="1400" b="1" dirty="0"/>
              <a:t>Bangla + text + image + video</a:t>
            </a:r>
            <a:r>
              <a:rPr lang="en-US" sz="1400" dirty="0"/>
              <a:t> part much less novel.</a:t>
            </a:r>
          </a:p>
          <a:p>
            <a:pPr>
              <a:buNone/>
            </a:pPr>
            <a:r>
              <a:rPr lang="en-US" sz="1400" dirty="0"/>
              <a:t>Therefore, our research should move toward </a:t>
            </a:r>
            <a:r>
              <a:rPr lang="en-US" sz="1400" b="1" dirty="0"/>
              <a:t>evidence-grounded verification</a:t>
            </a:r>
            <a:r>
              <a:rPr lang="en-US" sz="1400" dirty="0"/>
              <a:t>, not simply trimodal classification.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93E9F9-2C47-C7DE-66D8-DD79A280183B}"/>
              </a:ext>
            </a:extLst>
          </p:cNvPr>
          <p:cNvSpPr txBox="1"/>
          <p:nvPr/>
        </p:nvSpPr>
        <p:spPr>
          <a:xfrm>
            <a:off x="250614" y="11186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LITERATURE REVIEW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37287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5C3D4C-144F-4028-8ABB-B8A9E353EBD2}"/>
              </a:ext>
            </a:extLst>
          </p:cNvPr>
          <p:cNvSpPr txBox="1"/>
          <p:nvPr/>
        </p:nvSpPr>
        <p:spPr>
          <a:xfrm>
            <a:off x="264159" y="325121"/>
            <a:ext cx="8812107" cy="79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4. CAMRF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/>
              <a:t>Paper:</a:t>
            </a:r>
            <a:r>
              <a:rPr lang="en-US" sz="1400" dirty="0"/>
              <a:t> </a:t>
            </a:r>
            <a:r>
              <a:rPr lang="en-US" sz="1400" i="1" dirty="0"/>
              <a:t>Context-aware multimodal reasoning for explainable Bengali fake news detection using vision-language models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707F51-F97A-23E2-724E-F4641825EEFF}"/>
              </a:ext>
            </a:extLst>
          </p:cNvPr>
          <p:cNvSpPr txBox="1"/>
          <p:nvPr/>
        </p:nvSpPr>
        <p:spPr>
          <a:xfrm>
            <a:off x="318347" y="1122713"/>
            <a:ext cx="65396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2"/>
              </a:rPr>
              <a:t>https://link.springer.com/article/10.1007/s44354-026-00047-w</a:t>
            </a:r>
            <a:r>
              <a:rPr lang="en-US" sz="11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960B8-0C90-610B-AF95-6B38EAD5C9EB}"/>
              </a:ext>
            </a:extLst>
          </p:cNvPr>
          <p:cNvSpPr txBox="1"/>
          <p:nvPr/>
        </p:nvSpPr>
        <p:spPr>
          <a:xfrm>
            <a:off x="243841" y="1310776"/>
            <a:ext cx="871050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/>
              <a:t>What did they do?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/>
              <a:t>They developed </a:t>
            </a:r>
            <a:r>
              <a:rPr lang="en-US" sz="1400" b="1" dirty="0"/>
              <a:t>CAMRF</a:t>
            </a:r>
            <a:r>
              <a:rPr lang="en-US" sz="1400" dirty="0"/>
              <a:t> for Bengali fake-news detection.</a:t>
            </a:r>
          </a:p>
          <a:p>
            <a:pPr>
              <a:buNone/>
            </a:pPr>
            <a:r>
              <a:rPr lang="en-US" sz="1400" dirty="0" err="1"/>
              <a:t>Pipeline:</a:t>
            </a:r>
            <a:r>
              <a:rPr lang="en-US" sz="1400" b="1" dirty="0" err="1"/>
              <a:t>Image</a:t>
            </a:r>
            <a:r>
              <a:rPr lang="en-US" sz="1400" b="1" dirty="0"/>
              <a:t> → </a:t>
            </a:r>
            <a:r>
              <a:rPr lang="en-US" sz="1400" b="1" dirty="0" err="1"/>
              <a:t>EasyOCR</a:t>
            </a:r>
            <a:r>
              <a:rPr lang="en-US" sz="1400" dirty="0"/>
              <a:t>, </a:t>
            </a:r>
            <a:r>
              <a:rPr lang="en-US" sz="1400" b="1" dirty="0"/>
              <a:t>Image → ResNet-50</a:t>
            </a:r>
            <a:r>
              <a:rPr lang="en-US" sz="1400" dirty="0"/>
              <a:t>, </a:t>
            </a:r>
            <a:r>
              <a:rPr lang="en-US" sz="1400" b="1" dirty="0"/>
              <a:t>Image → </a:t>
            </a:r>
            <a:r>
              <a:rPr lang="en-US" sz="1400" b="1" dirty="0" err="1"/>
              <a:t>ViT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Then: </a:t>
            </a:r>
            <a:r>
              <a:rPr lang="en-US" sz="1400" b="1" dirty="0"/>
              <a:t>OCR + </a:t>
            </a:r>
            <a:r>
              <a:rPr lang="en-US" sz="1400" b="1" dirty="0" err="1"/>
              <a:t>ResNet</a:t>
            </a:r>
            <a:r>
              <a:rPr lang="en-US" sz="1400" b="1" dirty="0"/>
              <a:t> + </a:t>
            </a:r>
            <a:r>
              <a:rPr lang="en-US" sz="1400" b="1" dirty="0" err="1"/>
              <a:t>ViT</a:t>
            </a:r>
            <a:r>
              <a:rPr lang="en-US" sz="1400" b="1" dirty="0"/>
              <a:t> → Context-Aware Multimodal Fusion → Qwen2-VL-2B → explanation + Real/Fake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They tested it on a 1,003-instance Bengali multimodal dataset and reported 97% accuracy.</a:t>
            </a:r>
          </a:p>
          <a:p>
            <a:pPr>
              <a:buNone/>
            </a:pPr>
            <a:r>
              <a:rPr lang="en-US" sz="1400" b="1" dirty="0"/>
              <a:t>Main method: </a:t>
            </a:r>
            <a:r>
              <a:rPr lang="en-US" sz="1400" dirty="0"/>
              <a:t>OCR + CNN + </a:t>
            </a:r>
            <a:r>
              <a:rPr lang="en-US" sz="1400" dirty="0" err="1"/>
              <a:t>ViT</a:t>
            </a:r>
            <a:r>
              <a:rPr lang="en-US" sz="1400" dirty="0"/>
              <a:t> + VLM reasoning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5A23E3-32A7-6A7F-AEC1-F816E2EFE0C0}"/>
              </a:ext>
            </a:extLst>
          </p:cNvPr>
          <p:cNvSpPr txBox="1"/>
          <p:nvPr/>
        </p:nvSpPr>
        <p:spPr>
          <a:xfrm>
            <a:off x="254000" y="2906094"/>
            <a:ext cx="863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Gap</a:t>
            </a:r>
          </a:p>
          <a:p>
            <a:pPr>
              <a:buNone/>
            </a:pPr>
            <a:endParaRPr lang="en-US" sz="100" dirty="0"/>
          </a:p>
          <a:p>
            <a:pPr>
              <a:buNone/>
            </a:pPr>
            <a:endParaRPr lang="en-US" sz="100" dirty="0"/>
          </a:p>
          <a:p>
            <a:pPr>
              <a:buNone/>
            </a:pPr>
            <a:endParaRPr lang="en-US" sz="100" dirty="0"/>
          </a:p>
          <a:p>
            <a:pPr algn="just">
              <a:buNone/>
            </a:pPr>
            <a:r>
              <a:rPr lang="en-US" sz="1400" dirty="0"/>
              <a:t>Dataset only </a:t>
            </a:r>
            <a:r>
              <a:rPr lang="en-US" sz="1400" b="1" dirty="0"/>
              <a:t>1,003 samples; </a:t>
            </a:r>
            <a:r>
              <a:rPr lang="en-US" sz="1400" dirty="0"/>
              <a:t>only </a:t>
            </a:r>
            <a:r>
              <a:rPr lang="en-US" sz="1400" b="1" dirty="0"/>
              <a:t>binary Real/Fake; </a:t>
            </a:r>
            <a:r>
              <a:rPr lang="en-US" sz="1400" dirty="0"/>
              <a:t>OCR can struggle with stylized text; VLM has higher computational cost; explanation quality was not quantitatively evaluated against gold explanations; future work includes </a:t>
            </a:r>
            <a:r>
              <a:rPr lang="en-US" sz="1400" b="1" dirty="0"/>
              <a:t>audio/video; </a:t>
            </a:r>
            <a:r>
              <a:rPr lang="en-US" sz="1400" dirty="0"/>
              <a:t>future work includes integrating </a:t>
            </a:r>
            <a:r>
              <a:rPr lang="en-US" sz="1400" b="1" dirty="0"/>
              <a:t>fact-checking knowledge bases</a:t>
            </a:r>
            <a:r>
              <a:rPr lang="en-US" sz="1400" dirty="0"/>
              <a:t>.</a:t>
            </a:r>
          </a:p>
          <a:p>
            <a:pPr>
              <a:buNone/>
            </a:pPr>
            <a:endParaRPr lang="en-US" sz="100" b="1" dirty="0"/>
          </a:p>
          <a:p>
            <a:pPr>
              <a:buNone/>
            </a:pPr>
            <a:endParaRPr lang="en-US" sz="100" b="1" dirty="0"/>
          </a:p>
          <a:p>
            <a:pPr>
              <a:buNone/>
            </a:pPr>
            <a:endParaRPr lang="en-US" sz="100" b="1" dirty="0"/>
          </a:p>
          <a:p>
            <a:pPr>
              <a:buNone/>
            </a:pPr>
            <a:endParaRPr lang="en-US" sz="100" b="1" dirty="0"/>
          </a:p>
          <a:p>
            <a:pPr>
              <a:buNone/>
            </a:pPr>
            <a:r>
              <a:rPr lang="en-US" sz="1400" b="1" dirty="0"/>
              <a:t>Our lesson: </a:t>
            </a:r>
            <a:r>
              <a:rPr lang="en-US" sz="1400" dirty="0"/>
              <a:t>This is VERY important. They already have: </a:t>
            </a:r>
            <a:r>
              <a:rPr lang="en-US" sz="1400" b="1" dirty="0"/>
              <a:t>Bangla + OCR + image + multimodal reasoning + explanation.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So, our innovation should </a:t>
            </a:r>
            <a:r>
              <a:rPr lang="en-US" sz="1400" b="1" dirty="0"/>
              <a:t>not</a:t>
            </a:r>
            <a:r>
              <a:rPr lang="en-US" sz="1400" dirty="0"/>
              <a:t> be: “We use multimodal reasoning and generate explanations.”</a:t>
            </a:r>
          </a:p>
          <a:p>
            <a:pPr>
              <a:buNone/>
            </a:pPr>
            <a:r>
              <a:rPr lang="en-US" sz="1400" dirty="0"/>
              <a:t>Instead, we can move the explanation toward: </a:t>
            </a:r>
            <a:r>
              <a:rPr lang="en-US" sz="1400" b="1" dirty="0"/>
              <a:t>“This verdict is supported/refuted by these external sources.”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That is much stronger.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F853F7-E03A-7F88-8C02-C2D8B2D783FE}"/>
              </a:ext>
            </a:extLst>
          </p:cNvPr>
          <p:cNvSpPr txBox="1"/>
          <p:nvPr/>
        </p:nvSpPr>
        <p:spPr>
          <a:xfrm>
            <a:off x="250614" y="11186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LITERATURE REVIEW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42419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CD665A-33B7-F133-202A-6E4D1A188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894689"/>
              </p:ext>
            </p:extLst>
          </p:nvPr>
        </p:nvGraphicFramePr>
        <p:xfrm>
          <a:off x="501227" y="617963"/>
          <a:ext cx="8337972" cy="3866596"/>
        </p:xfrm>
        <a:graphic>
          <a:graphicData uri="http://schemas.openxmlformats.org/drawingml/2006/table">
            <a:tbl>
              <a:tblPr/>
              <a:tblGrid>
                <a:gridCol w="1666240">
                  <a:extLst>
                    <a:ext uri="{9D8B030D-6E8A-4147-A177-3AD203B41FA5}">
                      <a16:colId xmlns:a16="http://schemas.microsoft.com/office/drawing/2014/main" val="539737840"/>
                    </a:ext>
                  </a:extLst>
                </a:gridCol>
                <a:gridCol w="3921615">
                  <a:extLst>
                    <a:ext uri="{9D8B030D-6E8A-4147-A177-3AD203B41FA5}">
                      <a16:colId xmlns:a16="http://schemas.microsoft.com/office/drawing/2014/main" val="3505437311"/>
                    </a:ext>
                  </a:extLst>
                </a:gridCol>
                <a:gridCol w="2750117">
                  <a:extLst>
                    <a:ext uri="{9D8B030D-6E8A-4147-A177-3AD203B41FA5}">
                      <a16:colId xmlns:a16="http://schemas.microsoft.com/office/drawing/2014/main" val="889476957"/>
                    </a:ext>
                  </a:extLst>
                </a:gridCol>
              </a:tblGrid>
              <a:tr h="18657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b="1"/>
                        <a:t>Paper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Main contribution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Main limitation for us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93669"/>
                  </a:ext>
                </a:extLst>
              </a:tr>
              <a:tr h="326503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/>
                        <a:t>BD-FakeDetect</a:t>
                      </a:r>
                      <a:endParaRPr lang="en-US" sz="120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Bangla + multimodal + GPT-4o + RAG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Mainly misinformation detection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15386"/>
                  </a:ext>
                </a:extLst>
              </a:tr>
              <a:tr h="326503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/>
                        <a:t>MultiBanFakeDetect</a:t>
                      </a:r>
                      <a:endParaRPr lang="en-US" sz="120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Bangla text-image dataset + fusion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No video/evidence-grounded verification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1455"/>
                  </a:ext>
                </a:extLst>
              </a:tr>
              <a:tr h="186574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/>
                        <a:t>BTMD/MoME</a:t>
                      </a:r>
                      <a:endParaRPr lang="en-US" sz="120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Bangla text-image-video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Mainly classification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84300"/>
                  </a:ext>
                </a:extLst>
              </a:tr>
              <a:tr h="326503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/>
                        <a:t>CAMRF</a:t>
                      </a:r>
                      <a:endParaRPr lang="en-US" sz="120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Bangla + OCR + </a:t>
                      </a:r>
                      <a:r>
                        <a:rPr lang="en-US" sz="1200" dirty="0" err="1"/>
                        <a:t>ViT</a:t>
                      </a:r>
                      <a:r>
                        <a:rPr lang="en-US" sz="1200" dirty="0"/>
                        <a:t> + VLM + explanation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Binary; no external evidence verification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283329"/>
                  </a:ext>
                </a:extLst>
              </a:tr>
              <a:tr h="326503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/>
                        <a:t>FEVER</a:t>
                      </a:r>
                      <a:endParaRPr lang="en-US" sz="120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Claim + evidence + 3-way verification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Wikipedia/textual; not Bangla/multimodal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960602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/>
                        <a:t>MOCHEG</a:t>
                      </a:r>
                      <a:endParaRPr lang="en-US" sz="120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Multimodal evidence retrieval + verification + explanation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Not Bangla/Bangladesh-specific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552907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/>
                        <a:t>AVeriTeC</a:t>
                      </a:r>
                      <a:endParaRPr lang="en-US" sz="120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Real-world claims + web evidence + evidence-quality evaluation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Mainly textual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802899"/>
                  </a:ext>
                </a:extLst>
              </a:tr>
              <a:tr h="326503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/>
                        <a:t>EVID-Bench</a:t>
                      </a:r>
                      <a:endParaRPr lang="en-US" sz="1200" dirty="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Video + web search + evidence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Not Bangla; focused on video manipulation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565906"/>
                  </a:ext>
                </a:extLst>
              </a:tr>
              <a:tr h="326503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/>
                        <a:t>FACTIFY3M</a:t>
                      </a:r>
                      <a:endParaRPr lang="en-US" sz="120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Large multimodal verification + explanation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Not Bangla/provenance-focused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272848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/>
                        <a:t>VERITE</a:t>
                      </a:r>
                      <a:endParaRPr lang="en-US" sz="1200" dirty="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Robust multimodal benchmark; fights unimodal bias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No external evidence/provenance/video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4490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DF1387B-F3F7-CA2B-CE98-74DA88647395}"/>
              </a:ext>
            </a:extLst>
          </p:cNvPr>
          <p:cNvSpPr txBox="1"/>
          <p:nvPr/>
        </p:nvSpPr>
        <p:spPr>
          <a:xfrm>
            <a:off x="250614" y="11186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LITERATURE REVIEW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11477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WHY THIS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1887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32588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74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misinformation spreads through text, images, and videos.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1887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32588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74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often focus on Fake / Real classification.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1887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32588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74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alone does not show whether the factual claim is supported by reliable evidence.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4612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52044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2C3A5E"/>
          </a:solidFill>
          <a:ln w="12700">
            <a:solidFill>
              <a:srgbClr val="4A5A8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520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52044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0624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FROM PREDICTION TO VERIFICATION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Core Idea?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EEF1F6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371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37160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EEF1F6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/ Real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4688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468880"/>
            <a:ext cx="219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865376" y="24688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54096" y="2468880"/>
            <a:ext cx="219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73552" y="24688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Retrieval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62272" y="2468880"/>
            <a:ext cx="219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81728" y="24688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Assessment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870448" y="2468880"/>
            <a:ext cx="219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089904" y="24688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Verification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278624" y="2468880"/>
            <a:ext cx="219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4688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Explanation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3F2F0"/>
          </a:solidFill>
          <a:ln w="12700">
            <a:solidFill>
              <a:srgbClr val="E3F2F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do not simply ask whether a post looks fake. We ask what the post claims, what reliable evidence says, and whether the modalities and evidence are consistent.”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WHAT IS MISSING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828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evidence may be relevant but not sufficient to justify a verdict.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1887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37160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contradiction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828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image, and video may describe different events, dates, places, or contexts.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6060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Missing-modality robustness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external evidence compensate when image/video information is unavailable?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6060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8892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validity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splits can inflate results through claim / event / media leakage.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3F2F0"/>
          </a:solidFill>
          <a:ln w="12700">
            <a:solidFill>
              <a:srgbClr val="E3F2F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is framed conservatively: Bangla-specific multimodal verification + evidence grounding + provenance + leakage-resistant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Understand the post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social-media content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5623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84248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Video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42316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51176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+ Audio + OCR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9008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118104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57016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85032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checkworthiness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239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5196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claim representation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Find evidence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141732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search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185623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1984248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+ news + web sources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42316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2551176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ranking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5216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Verify &amp; explain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141732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verification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185623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1984248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/ Refuted / Insufficient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242316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2551176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explanation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291840" y="3977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 labels: SUPPORTED · REFUTED · INSUFFICIENT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D571CB-2F8D-FB74-56FB-CB84088A1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87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CLAIM-CENTRIC, MULTIMODAL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Strategy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≈100–150 samples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(if the pipeline works)</a:t>
            </a:r>
            <a:endParaRPr lang="en-US" sz="12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≈1,000–1,500 high-quality samples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sample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417320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1417320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URL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351776" y="1417320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801368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007608" y="1801368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text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351776" y="1801368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185416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007608" y="2185416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/ transcript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351776" y="2185416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569464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007608" y="2569464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Checkworthiness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351776" y="2569464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URL / text / rank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2953512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E3F2F0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verdict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007608" y="2953512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351776" y="2953512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337560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ID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007608" y="3337560"/>
            <a:ext cx="125272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1E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DF6E3"/>
          </a:solidFill>
          <a:ln w="12700">
            <a:solidFill>
              <a:srgbClr val="E8D9A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VERIFICATION</a:t>
            </a: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determines final ground truth. LLM/AI output is assistance, not ground truth.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ROADMAP (PROPOSED)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Final Vision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499B · Research proposal (proposed work)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7772400" cy="0"/>
          </a:xfrm>
          <a:prstGeom prst="line">
            <a:avLst/>
          </a:prstGeom>
          <a:noFill/>
          <a:ln w="25400">
            <a:solidFill>
              <a:srgbClr val="C9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371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schema + annotation guideline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1371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100-sample pilot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1371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annotation pipeline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dataset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+ evidence experiments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13716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Leakage-resistant evaluation + analysis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Fake / Real Classification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Evidence-Grounded Verification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1467</Words>
  <Application>Microsoft Office PowerPoint</Application>
  <PresentationFormat>On-screen Show (16:9)</PresentationFormat>
  <Paragraphs>249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Joy saha</cp:lastModifiedBy>
  <cp:revision>4</cp:revision>
  <dcterms:created xsi:type="dcterms:W3CDTF">2026-09-29T17:00:30Z</dcterms:created>
  <dcterms:modified xsi:type="dcterms:W3CDTF">2026-10-06T17:51:55Z</dcterms:modified>
</cp:coreProperties>
</file>