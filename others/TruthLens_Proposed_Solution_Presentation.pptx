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471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15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60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05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975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00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89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07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29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65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12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90105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306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75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66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14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91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7685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TruthLens: VLA Powered AR Fake News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2096291"/>
          </a:xfrm>
        </p:spPr>
        <p:txBody>
          <a:bodyPr>
            <a:normAutofit lnSpcReduction="10000"/>
          </a:bodyPr>
          <a:lstStyle/>
          <a:p>
            <a:r>
              <a:rPr dirty="0"/>
              <a:t>Presented By</a:t>
            </a:r>
          </a:p>
          <a:p>
            <a:r>
              <a:rPr dirty="0"/>
              <a:t>Anas Ahmed</a:t>
            </a:r>
          </a:p>
          <a:p>
            <a:r>
              <a:rPr dirty="0" err="1"/>
              <a:t>Subroto</a:t>
            </a:r>
            <a:r>
              <a:rPr dirty="0"/>
              <a:t> Ghosh</a:t>
            </a:r>
          </a:p>
          <a:p>
            <a:r>
              <a:rPr dirty="0"/>
              <a:t>Joy </a:t>
            </a:r>
            <a:r>
              <a:rPr dirty="0" err="1"/>
              <a:t>Saha</a:t>
            </a:r>
            <a:endParaRPr dirty="0"/>
          </a:p>
          <a:p>
            <a:r>
              <a:rPr dirty="0" smtClean="0"/>
              <a:t>M</a:t>
            </a:r>
            <a:r>
              <a:rPr lang="en-US" dirty="0" smtClean="0"/>
              <a:t>d</a:t>
            </a:r>
            <a:r>
              <a:rPr dirty="0" smtClean="0"/>
              <a:t>. </a:t>
            </a:r>
            <a:r>
              <a:rPr dirty="0"/>
              <a:t>Abu </a:t>
            </a:r>
            <a:r>
              <a:rPr dirty="0" err="1"/>
              <a:t>Sufian</a:t>
            </a:r>
            <a:r>
              <a:rPr dirty="0"/>
              <a:t> </a:t>
            </a:r>
            <a:r>
              <a:rPr dirty="0" err="1"/>
              <a:t>Protik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657885"/>
          </a:xfrm>
        </p:spPr>
        <p:txBody>
          <a:bodyPr>
            <a:normAutofit fontScale="90000"/>
          </a:bodyPr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459" y="1448554"/>
            <a:ext cx="8383509" cy="5241957"/>
          </a:xfrm>
        </p:spPr>
        <p:txBody>
          <a:bodyPr/>
          <a:lstStyle/>
          <a:p>
            <a:pPr marL="36900" indent="0">
              <a:buNone/>
            </a:pPr>
            <a:r>
              <a:rPr lang="en-US" b="1" dirty="0"/>
              <a:t>Problem</a:t>
            </a:r>
          </a:p>
          <a:p>
            <a:r>
              <a:rPr lang="en-US" dirty="0"/>
              <a:t>Fake news spreads rapidly through social media and online news platforms. </a:t>
            </a:r>
          </a:p>
          <a:p>
            <a:r>
              <a:rPr lang="en-US" dirty="0"/>
              <a:t>Existing systems mainly focus on text-based verification. </a:t>
            </a:r>
          </a:p>
          <a:p>
            <a:r>
              <a:rPr lang="en-US" dirty="0"/>
              <a:t>Bangla fake news detection datasets and solutions are limited. </a:t>
            </a:r>
          </a:p>
          <a:p>
            <a:r>
              <a:rPr lang="en-US" dirty="0"/>
              <a:t>Current approaches cannot effectively analyze image-text relationships. </a:t>
            </a:r>
          </a:p>
          <a:p>
            <a:r>
              <a:rPr lang="en-US" dirty="0"/>
              <a:t>Users must manually verify suspicious information. </a:t>
            </a:r>
          </a:p>
          <a:p>
            <a:pPr marL="36900" indent="0">
              <a:buNone/>
            </a:pPr>
            <a:r>
              <a:rPr lang="en-US" b="1" dirty="0"/>
              <a:t>Impact</a:t>
            </a:r>
          </a:p>
          <a:p>
            <a:r>
              <a:rPr lang="en-US" dirty="0"/>
              <a:t>Misinformation causes social panic and confusion. </a:t>
            </a:r>
          </a:p>
          <a:p>
            <a:r>
              <a:rPr lang="en-US" dirty="0"/>
              <a:t>Reduces public trust in media. </a:t>
            </a:r>
          </a:p>
          <a:p>
            <a:r>
              <a:rPr lang="en-US" dirty="0"/>
              <a:t>Influences public opinion and decision making.</a:t>
            </a:r>
          </a:p>
          <a:p>
            <a:pPr marL="36900" indent="0">
              <a:buNone/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5514"/>
            <a:ext cx="7765322" cy="642796"/>
          </a:xfrm>
        </p:spPr>
        <p:txBody>
          <a:bodyPr>
            <a:normAutofit fontScale="90000"/>
          </a:bodyPr>
          <a:lstStyle/>
          <a:p>
            <a:r>
              <a:rPr dirty="0"/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459" y="1430448"/>
            <a:ext cx="8365401" cy="5187635"/>
          </a:xfrm>
        </p:spPr>
        <p:txBody>
          <a:bodyPr/>
          <a:lstStyle/>
          <a:p>
            <a:pPr marL="36900" indent="0">
              <a:buNone/>
            </a:pPr>
            <a:r>
              <a:rPr lang="en-US" b="1" dirty="0"/>
              <a:t>Existing Limitations</a:t>
            </a:r>
          </a:p>
          <a:p>
            <a:r>
              <a:rPr lang="en-US" dirty="0"/>
              <a:t>✓ Text-only fake news detection</a:t>
            </a:r>
          </a:p>
          <a:p>
            <a:r>
              <a:rPr lang="en-US" dirty="0"/>
              <a:t>✓ Lack of Bangla multimodal datasets</a:t>
            </a:r>
          </a:p>
          <a:p>
            <a:r>
              <a:rPr lang="en-US" dirty="0"/>
              <a:t>✓ No real-time verification</a:t>
            </a:r>
          </a:p>
          <a:p>
            <a:r>
              <a:rPr lang="en-US" dirty="0"/>
              <a:t>✓ No explainable reasoning</a:t>
            </a:r>
          </a:p>
          <a:p>
            <a:r>
              <a:rPr lang="en-US" dirty="0"/>
              <a:t>✓ Limited AR integration</a:t>
            </a:r>
          </a:p>
          <a:p>
            <a:r>
              <a:rPr lang="en-US" dirty="0"/>
              <a:t>✓ Weak image-text consistency analysis</a:t>
            </a:r>
          </a:p>
          <a:p>
            <a:pPr marL="36900" indent="0">
              <a:buNone/>
            </a:pPr>
            <a:r>
              <a:rPr lang="en-US" b="1" dirty="0"/>
              <a:t>Research Gap</a:t>
            </a:r>
          </a:p>
          <a:p>
            <a:r>
              <a:rPr lang="en-US" dirty="0"/>
              <a:t>There is currently no Bangla-focused system combining:</a:t>
            </a:r>
          </a:p>
          <a:p>
            <a:r>
              <a:rPr lang="en-US" b="1" dirty="0"/>
              <a:t>Vision Language Models + Retrieval + AR + Explainable AI</a:t>
            </a:r>
            <a:endParaRPr lang="en-US" dirty="0"/>
          </a:p>
          <a:p>
            <a:pPr marL="36900" indent="0">
              <a:buNone/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34566"/>
            <a:ext cx="7765322" cy="905347"/>
          </a:xfrm>
        </p:spPr>
        <p:txBody>
          <a:bodyPr/>
          <a:lstStyle/>
          <a:p>
            <a:r>
              <a:rPr dirty="0"/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048" y="1520982"/>
            <a:ext cx="8157172" cy="5106155"/>
          </a:xfrm>
        </p:spPr>
        <p:txBody>
          <a:bodyPr/>
          <a:lstStyle/>
          <a:p>
            <a:pPr marL="36900" indent="0">
              <a:buNone/>
            </a:pPr>
            <a:r>
              <a:rPr lang="en-US" b="1" dirty="0" err="1"/>
              <a:t>TruthLens</a:t>
            </a:r>
            <a:r>
              <a:rPr lang="en-US" b="1" dirty="0"/>
              <a:t> Framework</a:t>
            </a:r>
          </a:p>
          <a:p>
            <a:pPr marL="36900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TruthLens</a:t>
            </a:r>
            <a:r>
              <a:rPr lang="en-US" dirty="0" smtClean="0"/>
              <a:t> </a:t>
            </a:r>
            <a:r>
              <a:rPr lang="en-US" dirty="0"/>
              <a:t>integrates:</a:t>
            </a:r>
          </a:p>
          <a:p>
            <a:r>
              <a:rPr lang="en-US" dirty="0"/>
              <a:t>Optical Character Recognition (OCR) </a:t>
            </a:r>
          </a:p>
          <a:p>
            <a:r>
              <a:rPr lang="en-US" dirty="0"/>
              <a:t>Vision Language Models (VLM) </a:t>
            </a:r>
          </a:p>
          <a:p>
            <a:r>
              <a:rPr lang="en-US" dirty="0"/>
              <a:t>Retrieval-Augmented Generation (RAG) </a:t>
            </a:r>
          </a:p>
          <a:p>
            <a:r>
              <a:rPr lang="en-US" dirty="0"/>
              <a:t>Vision Language Agent (VLA) </a:t>
            </a:r>
          </a:p>
          <a:p>
            <a:r>
              <a:rPr lang="en-US" dirty="0"/>
              <a:t>Fake News Classifier </a:t>
            </a:r>
          </a:p>
          <a:p>
            <a:r>
              <a:rPr lang="en-US" dirty="0"/>
              <a:t>Augmented Reality Interface </a:t>
            </a:r>
          </a:p>
          <a:p>
            <a:pPr marL="36900" indent="0">
              <a:buNone/>
            </a:pPr>
            <a:r>
              <a:rPr lang="en-US" b="1" dirty="0"/>
              <a:t>Goal</a:t>
            </a:r>
          </a:p>
          <a:p>
            <a:r>
              <a:rPr lang="en-US" dirty="0"/>
              <a:t>Provide real-time verification of Bangla news using smartphone cameras.</a:t>
            </a:r>
          </a:p>
          <a:p>
            <a:pPr marL="36900" indent="0">
              <a:buNone/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16460"/>
            <a:ext cx="7765322" cy="914400"/>
          </a:xfrm>
        </p:spPr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459" y="1580050"/>
            <a:ext cx="8247707" cy="5010873"/>
          </a:xfrm>
        </p:spPr>
        <p:txBody>
          <a:bodyPr>
            <a:normAutofit fontScale="55000" lnSpcReduction="20000"/>
          </a:bodyPr>
          <a:lstStyle/>
          <a:p>
            <a:pPr marL="36900" indent="0">
              <a:buNone/>
              <a:defRPr sz="2200"/>
            </a:pPr>
            <a:r>
              <a:rPr lang="en-US" dirty="0"/>
              <a:t>Smartphone Camera</a:t>
            </a:r>
          </a:p>
          <a:p>
            <a:pPr marL="36900" indent="0">
              <a:buNone/>
              <a:defRPr sz="2200"/>
            </a:pPr>
            <a:r>
              <a:rPr lang="en-US" dirty="0"/>
              <a:t>        ↓</a:t>
            </a:r>
          </a:p>
          <a:p>
            <a:pPr marL="36900" indent="0">
              <a:buNone/>
              <a:defRPr sz="2200"/>
            </a:pPr>
            <a:r>
              <a:rPr lang="en-US" dirty="0"/>
              <a:t> Image Acquisition</a:t>
            </a:r>
          </a:p>
          <a:p>
            <a:pPr marL="36900" indent="0">
              <a:buNone/>
              <a:defRPr sz="2200"/>
            </a:pPr>
            <a:r>
              <a:rPr lang="en-US" dirty="0"/>
              <a:t>        ↓</a:t>
            </a:r>
          </a:p>
          <a:p>
            <a:pPr marL="36900" indent="0">
              <a:buNone/>
              <a:defRPr sz="2200"/>
            </a:pPr>
            <a:r>
              <a:rPr lang="en-US" dirty="0"/>
              <a:t>      OCR</a:t>
            </a:r>
          </a:p>
          <a:p>
            <a:pPr marL="36900" indent="0">
              <a:buNone/>
              <a:defRPr sz="2200"/>
            </a:pPr>
            <a:r>
              <a:rPr lang="en-US" dirty="0"/>
              <a:t>        ↓</a:t>
            </a:r>
          </a:p>
          <a:p>
            <a:pPr marL="36900" indent="0">
              <a:buNone/>
              <a:defRPr sz="2200"/>
            </a:pPr>
            <a:r>
              <a:rPr lang="en-US" dirty="0"/>
              <a:t> Text Extraction</a:t>
            </a:r>
          </a:p>
          <a:p>
            <a:pPr marL="36900" indent="0">
              <a:buNone/>
              <a:defRPr sz="2200"/>
            </a:pPr>
            <a:r>
              <a:rPr lang="en-US" dirty="0"/>
              <a:t>        ↓</a:t>
            </a:r>
          </a:p>
          <a:p>
            <a:pPr marL="36900" indent="0">
              <a:buNone/>
              <a:defRPr sz="2200"/>
            </a:pPr>
            <a:r>
              <a:rPr lang="en-US" dirty="0"/>
              <a:t> Vision Language Model</a:t>
            </a:r>
          </a:p>
          <a:p>
            <a:pPr marL="36900" indent="0">
              <a:buNone/>
              <a:defRPr sz="2200"/>
            </a:pPr>
            <a:r>
              <a:rPr lang="en-US" dirty="0"/>
              <a:t>        ↓</a:t>
            </a:r>
          </a:p>
          <a:p>
            <a:pPr marL="36900" indent="0">
              <a:buNone/>
              <a:defRPr sz="2200"/>
            </a:pPr>
            <a:r>
              <a:rPr lang="en-US" dirty="0"/>
              <a:t>  RAG Verification</a:t>
            </a:r>
          </a:p>
          <a:p>
            <a:pPr marL="36900" indent="0">
              <a:buNone/>
              <a:defRPr sz="2200"/>
            </a:pPr>
            <a:r>
              <a:rPr lang="en-US" dirty="0"/>
              <a:t>        ↓</a:t>
            </a:r>
          </a:p>
          <a:p>
            <a:pPr marL="36900" indent="0">
              <a:buNone/>
              <a:defRPr sz="2200"/>
            </a:pPr>
            <a:r>
              <a:rPr lang="en-US" dirty="0"/>
              <a:t> Vision Language Agent</a:t>
            </a:r>
          </a:p>
          <a:p>
            <a:pPr marL="36900" indent="0">
              <a:buNone/>
              <a:defRPr sz="2200"/>
            </a:pPr>
            <a:r>
              <a:rPr lang="en-US" dirty="0"/>
              <a:t>        ↓</a:t>
            </a:r>
          </a:p>
          <a:p>
            <a:pPr marL="36900" indent="0">
              <a:buNone/>
              <a:defRPr sz="2200"/>
            </a:pPr>
            <a:r>
              <a:rPr lang="en-US" dirty="0"/>
              <a:t> Fake News Classifier</a:t>
            </a:r>
          </a:p>
          <a:p>
            <a:pPr marL="36900" indent="0">
              <a:buNone/>
              <a:defRPr sz="2200"/>
            </a:pPr>
            <a:r>
              <a:rPr lang="en-US" dirty="0"/>
              <a:t>        ↓</a:t>
            </a:r>
          </a:p>
          <a:p>
            <a:pPr marL="36900" indent="0">
              <a:buNone/>
              <a:defRPr sz="2200"/>
            </a:pPr>
            <a:r>
              <a:rPr lang="en-US" dirty="0"/>
              <a:t> AR Visualization</a:t>
            </a:r>
          </a:p>
          <a:p>
            <a:pPr marL="36900" indent="0">
              <a:buNone/>
              <a:defRPr sz="2200"/>
            </a:pPr>
            <a:r>
              <a:rPr lang="en-US" dirty="0"/>
              <a:t>        ↓</a:t>
            </a:r>
          </a:p>
          <a:p>
            <a:pPr marL="36900" indent="0">
              <a:buNone/>
              <a:defRPr sz="2200"/>
            </a:pPr>
            <a:r>
              <a:rPr lang="en-US" dirty="0"/>
              <a:t>      User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OCR </a:t>
            </a:r>
            <a:r>
              <a:rPr dirty="0" smtClean="0"/>
              <a:t>Module</a:t>
            </a:r>
            <a:r>
              <a:rPr lang="en-US" dirty="0"/>
              <a:t> </a:t>
            </a:r>
            <a:r>
              <a:rPr lang="en-US" dirty="0" smtClean="0"/>
              <a:t>&amp; Text Extraction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780" y="1580050"/>
            <a:ext cx="8229600" cy="4983712"/>
          </a:xfrm>
        </p:spPr>
        <p:txBody>
          <a:bodyPr>
            <a:normAutofit fontScale="92500" lnSpcReduction="10000"/>
          </a:bodyPr>
          <a:lstStyle/>
          <a:p>
            <a:pPr marL="36900" indent="0">
              <a:buNone/>
            </a:pPr>
            <a:r>
              <a:rPr lang="en-US" b="1" dirty="0"/>
              <a:t>Input</a:t>
            </a:r>
          </a:p>
          <a:p>
            <a:r>
              <a:rPr lang="en-US" dirty="0"/>
              <a:t>Newspaper </a:t>
            </a:r>
          </a:p>
          <a:p>
            <a:r>
              <a:rPr lang="en-US" dirty="0"/>
              <a:t>Facebook Post </a:t>
            </a:r>
          </a:p>
          <a:p>
            <a:r>
              <a:rPr lang="en-US" dirty="0"/>
              <a:t>TV News </a:t>
            </a:r>
          </a:p>
          <a:p>
            <a:r>
              <a:rPr lang="en-US" dirty="0"/>
              <a:t>Online Article </a:t>
            </a:r>
          </a:p>
          <a:p>
            <a:pPr marL="36900" indent="0">
              <a:buNone/>
            </a:pPr>
            <a:r>
              <a:rPr lang="en-US" b="1" dirty="0"/>
              <a:t>OCR Functions</a:t>
            </a:r>
          </a:p>
          <a:p>
            <a:r>
              <a:rPr lang="en-US" dirty="0"/>
              <a:t>Bangla text recognition </a:t>
            </a:r>
          </a:p>
          <a:p>
            <a:r>
              <a:rPr lang="en-US" dirty="0"/>
              <a:t>Noise removal </a:t>
            </a:r>
          </a:p>
          <a:p>
            <a:r>
              <a:rPr lang="en-US" dirty="0"/>
              <a:t>Text cleaning </a:t>
            </a:r>
          </a:p>
          <a:p>
            <a:r>
              <a:rPr lang="en-US" dirty="0"/>
              <a:t>Headline extraction </a:t>
            </a:r>
          </a:p>
          <a:p>
            <a:pPr marL="36900" indent="0">
              <a:buNone/>
            </a:pPr>
            <a:r>
              <a:rPr lang="en-US" b="1" dirty="0"/>
              <a:t>Output</a:t>
            </a:r>
          </a:p>
          <a:p>
            <a:r>
              <a:rPr lang="en-US" dirty="0"/>
              <a:t>Clean Bangla text for further analysis.</a:t>
            </a:r>
          </a:p>
          <a:p>
            <a:pPr marL="36900" indent="0">
              <a:buNone/>
              <a:defRPr sz="2200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Language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6995" y="1580050"/>
            <a:ext cx="8184332" cy="4992766"/>
          </a:xfrm>
        </p:spPr>
        <p:txBody>
          <a:bodyPr>
            <a:normAutofit lnSpcReduction="10000"/>
          </a:bodyPr>
          <a:lstStyle/>
          <a:p>
            <a:pPr marL="36900" indent="0">
              <a:buNone/>
            </a:pPr>
            <a:r>
              <a:rPr lang="en-US" b="1" dirty="0"/>
              <a:t>Vision Language Model Tasks</a:t>
            </a:r>
          </a:p>
          <a:p>
            <a:r>
              <a:rPr lang="en-US" dirty="0"/>
              <a:t>Image Captioning </a:t>
            </a:r>
          </a:p>
          <a:p>
            <a:r>
              <a:rPr lang="en-US" dirty="0"/>
              <a:t>Object Detection </a:t>
            </a:r>
          </a:p>
          <a:p>
            <a:r>
              <a:rPr lang="en-US" dirty="0"/>
              <a:t>Scene Understanding </a:t>
            </a:r>
          </a:p>
          <a:p>
            <a:r>
              <a:rPr lang="en-US" dirty="0"/>
              <a:t>Visual Context Analysis </a:t>
            </a:r>
          </a:p>
          <a:p>
            <a:pPr marL="36900" indent="0">
              <a:buNone/>
            </a:pPr>
            <a:r>
              <a:rPr lang="en-US" b="1" dirty="0">
                <a:latin typeface="Arial Black" panose="020B0A04020102020204" pitchFamily="34" charset="0"/>
              </a:rPr>
              <a:t>Example</a:t>
            </a:r>
          </a:p>
          <a:p>
            <a:pPr marL="36900" indent="0">
              <a:buNone/>
            </a:pPr>
            <a:r>
              <a:rPr lang="en-US" dirty="0"/>
              <a:t>Headline:</a:t>
            </a:r>
          </a:p>
          <a:p>
            <a:r>
              <a:rPr lang="en-US" dirty="0"/>
              <a:t>"Flood Relief Distributed Successfully"</a:t>
            </a:r>
          </a:p>
          <a:p>
            <a:pPr marL="36900" indent="0">
              <a:buNone/>
            </a:pPr>
            <a:r>
              <a:rPr lang="en-US" dirty="0"/>
              <a:t>Image:</a:t>
            </a:r>
          </a:p>
          <a:p>
            <a:r>
              <a:rPr lang="en-US" dirty="0"/>
              <a:t>Political Rally</a:t>
            </a:r>
          </a:p>
          <a:p>
            <a:pPr marL="36900" indent="0">
              <a:buNone/>
            </a:pPr>
            <a:r>
              <a:rPr lang="en-US" dirty="0"/>
              <a:t>Result:</a:t>
            </a:r>
          </a:p>
          <a:p>
            <a:r>
              <a:rPr lang="en-US" dirty="0"/>
              <a:t>Image-Text Mismatch Detected</a:t>
            </a:r>
          </a:p>
          <a:p>
            <a:pPr marL="36900" indent="0">
              <a:buNone/>
              <a:defRPr sz="2200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50"/>
            <a:ext cx="7765322" cy="4795099"/>
          </a:xfrm>
        </p:spPr>
        <p:txBody>
          <a:bodyPr/>
          <a:lstStyle/>
          <a:p>
            <a:pPr marL="36900" indent="0">
              <a:buNone/>
            </a:pPr>
            <a:r>
              <a:rPr lang="en-US" b="1" dirty="0"/>
              <a:t>Trusted Sources</a:t>
            </a:r>
          </a:p>
          <a:p>
            <a:r>
              <a:rPr lang="en-US" dirty="0"/>
              <a:t>Government Portals </a:t>
            </a:r>
          </a:p>
          <a:p>
            <a:r>
              <a:rPr lang="en-US" dirty="0"/>
              <a:t>Fact-check Websites </a:t>
            </a:r>
          </a:p>
          <a:p>
            <a:r>
              <a:rPr lang="en-US" dirty="0"/>
              <a:t>Reliable News Agencies </a:t>
            </a:r>
          </a:p>
          <a:p>
            <a:r>
              <a:rPr lang="en-US" dirty="0"/>
              <a:t>Verified Databases </a:t>
            </a:r>
          </a:p>
          <a:p>
            <a:pPr marL="36900" indent="0">
              <a:buNone/>
            </a:pPr>
            <a:r>
              <a:rPr lang="en-US" b="1" dirty="0"/>
              <a:t>Process</a:t>
            </a:r>
          </a:p>
          <a:p>
            <a:r>
              <a:rPr lang="en-US" dirty="0"/>
              <a:t>Claim → Embedding → Retrieval → Evidence Collection</a:t>
            </a:r>
          </a:p>
          <a:p>
            <a:pPr marL="36900" indent="0">
              <a:buNone/>
            </a:pPr>
            <a:r>
              <a:rPr lang="en-US" b="1" dirty="0"/>
              <a:t>Benefit</a:t>
            </a:r>
          </a:p>
          <a:p>
            <a:r>
              <a:rPr lang="en-US" dirty="0"/>
              <a:t>Evidence-based fact verification.</a:t>
            </a:r>
          </a:p>
          <a:p>
            <a:pPr marL="36900" indent="0">
              <a:buNone/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048" y="1732450"/>
            <a:ext cx="8157172" cy="4858473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b="1" dirty="0"/>
              <a:t>AR Overlay Features</a:t>
            </a:r>
          </a:p>
          <a:p>
            <a:r>
              <a:rPr lang="en-US" dirty="0"/>
              <a:t>Credibility Score </a:t>
            </a:r>
          </a:p>
          <a:p>
            <a:r>
              <a:rPr lang="en-US" dirty="0"/>
              <a:t>Confidence Meter </a:t>
            </a:r>
          </a:p>
          <a:p>
            <a:r>
              <a:rPr lang="en-US" dirty="0"/>
              <a:t>Evidence Summary </a:t>
            </a:r>
          </a:p>
          <a:p>
            <a:r>
              <a:rPr lang="en-US" dirty="0"/>
              <a:t>Warning Indicator </a:t>
            </a:r>
          </a:p>
          <a:p>
            <a:r>
              <a:rPr lang="en-US" dirty="0"/>
              <a:t>Trusted Sources </a:t>
            </a:r>
          </a:p>
          <a:p>
            <a:pPr marL="3690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⚠ FAKE NEWS</a:t>
            </a:r>
          </a:p>
          <a:p>
            <a:r>
              <a:rPr lang="en-US" dirty="0"/>
              <a:t>Confidence: 92%</a:t>
            </a:r>
          </a:p>
          <a:p>
            <a:pPr marL="36900" indent="0">
              <a:buNone/>
            </a:pPr>
            <a:r>
              <a:rPr lang="en-US" dirty="0"/>
              <a:t>Reason:</a:t>
            </a:r>
            <a:br>
              <a:rPr lang="en-US" dirty="0"/>
            </a:br>
            <a:r>
              <a:rPr lang="en-US" dirty="0" smtClean="0"/>
              <a:t> Image </a:t>
            </a:r>
            <a:r>
              <a:rPr lang="en-US" dirty="0"/>
              <a:t>reused from old event.</a:t>
            </a:r>
          </a:p>
          <a:p>
            <a:pPr marL="36900" indent="0">
              <a:buNone/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Novel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580050"/>
            <a:ext cx="7765322" cy="4703055"/>
          </a:xfrm>
        </p:spPr>
        <p:txBody>
          <a:bodyPr/>
          <a:lstStyle/>
          <a:p>
            <a:pPr marL="36900" indent="0">
              <a:buNone/>
            </a:pPr>
            <a:r>
              <a:rPr lang="en-US" b="1" dirty="0"/>
              <a:t>Contributions</a:t>
            </a:r>
          </a:p>
          <a:p>
            <a:r>
              <a:rPr lang="en-US" dirty="0"/>
              <a:t>✓ Bangla Multimodal Fake News Detection</a:t>
            </a:r>
          </a:p>
          <a:p>
            <a:r>
              <a:rPr lang="en-US" dirty="0"/>
              <a:t>✓ Vision Language Agent-based Reasoning</a:t>
            </a:r>
          </a:p>
          <a:p>
            <a:r>
              <a:rPr lang="en-US" dirty="0"/>
              <a:t>✓ Image-Text Consistency Verification</a:t>
            </a:r>
          </a:p>
          <a:p>
            <a:r>
              <a:rPr lang="en-US" dirty="0"/>
              <a:t>✓ Retrieval-Augmented Fact Checking</a:t>
            </a:r>
          </a:p>
          <a:p>
            <a:r>
              <a:rPr lang="en-US" dirty="0"/>
              <a:t>✓ Explainable AI Output</a:t>
            </a:r>
          </a:p>
          <a:p>
            <a:r>
              <a:rPr lang="en-US" dirty="0"/>
              <a:t>✓ Real-Time AR Visualization</a:t>
            </a:r>
          </a:p>
          <a:p>
            <a:r>
              <a:rPr lang="en-US" dirty="0"/>
              <a:t>✓ Mobile Deployment</a:t>
            </a:r>
          </a:p>
          <a:p>
            <a:pPr marL="36900" indent="0">
              <a:buNone/>
              <a:defRPr sz="2200"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780" y="1580050"/>
            <a:ext cx="7979888" cy="4983712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b="1" dirty="0"/>
              <a:t>Expected Outcomes</a:t>
            </a:r>
          </a:p>
          <a:p>
            <a:r>
              <a:rPr lang="en-US" dirty="0"/>
              <a:t>Improved fake news detection accuracy </a:t>
            </a:r>
          </a:p>
          <a:p>
            <a:r>
              <a:rPr lang="en-US" dirty="0"/>
              <a:t>Better Bangla misinformation analysis </a:t>
            </a:r>
          </a:p>
          <a:p>
            <a:r>
              <a:rPr lang="en-US" dirty="0"/>
              <a:t>Explainable verification results </a:t>
            </a:r>
          </a:p>
          <a:p>
            <a:r>
              <a:rPr lang="en-US" dirty="0"/>
              <a:t>Enhanced user trust </a:t>
            </a:r>
          </a:p>
          <a:p>
            <a:pPr marL="36900" indent="0">
              <a:buNone/>
            </a:pPr>
            <a:r>
              <a:rPr lang="en-US" b="1" dirty="0"/>
              <a:t>Future Work</a:t>
            </a:r>
          </a:p>
          <a:p>
            <a:r>
              <a:rPr lang="en-US" dirty="0" err="1"/>
              <a:t>Deepfake</a:t>
            </a:r>
            <a:r>
              <a:rPr lang="en-US" dirty="0"/>
              <a:t> video detection </a:t>
            </a:r>
          </a:p>
          <a:p>
            <a:r>
              <a:rPr lang="en-US" dirty="0"/>
              <a:t>Multilingual support </a:t>
            </a:r>
          </a:p>
          <a:p>
            <a:r>
              <a:rPr lang="en-US" dirty="0"/>
              <a:t>Large-scale deployment </a:t>
            </a:r>
          </a:p>
          <a:p>
            <a:r>
              <a:rPr lang="en-US" dirty="0"/>
              <a:t>Wearable AR glasses integration</a:t>
            </a:r>
          </a:p>
          <a:p>
            <a:pPr marL="36900" indent="0">
              <a:buNone/>
              <a:defRPr sz="2200"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33</TotalTime>
  <Words>424</Words>
  <Application>Microsoft Office PowerPoint</Application>
  <PresentationFormat>On-screen Show (4:3)</PresentationFormat>
  <Paragraphs>126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Black</vt:lpstr>
      <vt:lpstr>Calisto MT</vt:lpstr>
      <vt:lpstr>Trebuchet MS</vt:lpstr>
      <vt:lpstr>Wingdings 2</vt:lpstr>
      <vt:lpstr>Slate</vt:lpstr>
      <vt:lpstr>TruthLens: VLA Powered AR Fake News Detection</vt:lpstr>
      <vt:lpstr>Problem Statement</vt:lpstr>
      <vt:lpstr>Research Gap</vt:lpstr>
      <vt:lpstr>Proposed Solution</vt:lpstr>
      <vt:lpstr>System Architecture</vt:lpstr>
      <vt:lpstr>OCR Module &amp; Text Extraction</vt:lpstr>
      <vt:lpstr>Vision Language Understanding</vt:lpstr>
      <vt:lpstr>RAG Verification</vt:lpstr>
      <vt:lpstr>AR Visualization</vt:lpstr>
      <vt:lpstr>Novel Contributions</vt:lpstr>
      <vt:lpstr>Expected Outcome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TruthLens: VLA Powered AR Fake News Detection</dc:title>
  <dc:subject/>
  <dc:creator/>
  <cp:keywords/>
  <dc:description>generated using python-pptx</dc:description>
  <cp:lastModifiedBy>Microsoft account</cp:lastModifiedBy>
  <cp:revision>6</cp:revision>
  <dcterms:created xsi:type="dcterms:W3CDTF">2013-01-27T09:14:16Z</dcterms:created>
  <dcterms:modified xsi:type="dcterms:W3CDTF">2026-07-14T11:31:16Z</dcterms:modified>
  <cp:category/>
</cp:coreProperties>
</file>