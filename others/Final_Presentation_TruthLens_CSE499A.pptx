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000" b="1">
                <a:solidFill>
                  <a:srgbClr val="12233C"/>
                </a:solidFill>
                <a:latin typeface="Calibri"/>
              </a:rPr>
              <a:t>Test accuracy on the 3,409-sample split</a:t>
            </a:r>
          </a:p>
        </c:rich>
      </c:tx>
      <c:layout/>
      <c:overlay val="0"/>
    </c:title>
    <c:autoTitleDeleted val="0"/>
    <c:plotArea>
      <c:barChart>
        <c:barDir val="bar"/>
        <c:grouping val="clustered"/>
        <c:ser>
          <c:idx val="0"/>
          <c:order val="0"/>
          <c:tx>
            <c:strRef>
              <c:f>Sheet1!$B$1</c:f>
              <c:strCache>
                <c:ptCount val="1"/>
                <c:pt idx="0">
                  <c:v>Test accuracy</c:v>
                </c:pt>
              </c:strCache>
            </c:strRef>
          </c:tx>
          <c:dPt>
            <c:idx val="0"/>
            <c:spPr>
              <a:solidFill>
                <a:srgbClr val="5B6B7C"/>
              </a:solidFill>
            </c:spPr>
          </c:dPt>
          <c:dPt>
            <c:idx val="1"/>
            <c:spPr>
              <a:solidFill>
                <a:srgbClr val="1E3A5F"/>
              </a:solidFill>
            </c:spPr>
          </c:dPt>
          <c:dPt>
            <c:idx val="2"/>
            <c:spPr>
              <a:solidFill>
                <a:srgbClr val="1E3A5F"/>
              </a:solidFill>
            </c:spPr>
          </c:dPt>
          <c:dPt>
            <c:idx val="3"/>
            <c:spPr>
              <a:solidFill>
                <a:srgbClr val="1E3A5F"/>
              </a:solidFill>
            </c:spPr>
          </c:dPt>
          <c:dPt>
            <c:idx val="4"/>
            <c:spPr>
              <a:solidFill>
                <a:srgbClr val="C1521D"/>
              </a:solidFill>
            </c:spPr>
          </c:dPt>
          <c:dPt>
            <c:idx val="5"/>
            <c:spPr>
              <a:solidFill>
                <a:srgbClr val="0E7C7B"/>
              </a:solidFill>
            </c:spPr>
          </c:dPt>
          <c:dPt>
            <c:idx val="6"/>
            <c:spPr>
              <a:solidFill>
                <a:srgbClr val="1E3A5F"/>
              </a:solidFill>
            </c:spPr>
          </c:dPt>
          <c:dPt>
            <c:idx val="7"/>
            <c:spPr>
              <a:solidFill>
                <a:srgbClr val="1E3A5F"/>
              </a:solidFill>
            </c:spPr>
          </c:dPt>
          <c:dPt>
            <c:idx val="8"/>
            <c:spPr>
              <a:solidFill>
                <a:srgbClr val="0E7C7B"/>
              </a:solidFill>
            </c:spPr>
          </c:dPt>
          <c:cat>
            <c:strRef>
              <c:f>Sheet1!$A$2:$A$10</c:f>
              <c:strCache>
                <c:ptCount val="9"/>
                <c:pt idx="0">
                  <c:v>Majority floor</c:v>
                </c:pt>
                <c:pt idx="1">
                  <c:v>ViT-B/16</c:v>
                </c:pt>
                <c:pt idx="2">
                  <c:v>TF-IDF + LR</c:v>
                </c:pt>
                <c:pt idx="3">
                  <c:v>ResNet-50</c:v>
                </c:pt>
                <c:pt idx="4">
                  <c:v>Late fusion</c:v>
                </c:pt>
                <c:pt idx="5">
                  <c:v>EfficientNet-B0</c:v>
                </c:pt>
                <c:pt idx="6">
                  <c:v>XLM-RoBERTa</c:v>
                </c:pt>
                <c:pt idx="7">
                  <c:v>mBERT</c:v>
                </c:pt>
                <c:pt idx="8">
                  <c:v>BERT-base</c:v>
                </c:pt>
              </c:strCache>
            </c:strRef>
          </c:cat>
          <c:val>
            <c:numRef>
              <c:f>Sheet1!$B$2:$B$10</c:f>
              <c:numCache>
                <c:formatCode>General</c:formatCode>
                <c:ptCount val="9"/>
                <c:pt idx="0">
                  <c:v>0.6104</c:v>
                </c:pt>
                <c:pt idx="1">
                  <c:v>0.758</c:v>
                </c:pt>
                <c:pt idx="2">
                  <c:v>0.7715</c:v>
                </c:pt>
                <c:pt idx="3">
                  <c:v>0.787</c:v>
                </c:pt>
                <c:pt idx="4">
                  <c:v>0.7891</c:v>
                </c:pt>
                <c:pt idx="5">
                  <c:v>0.8208</c:v>
                </c:pt>
                <c:pt idx="6">
                  <c:v>0.8483</c:v>
                </c:pt>
                <c:pt idx="7">
                  <c:v>0.8542</c:v>
                </c:pt>
                <c:pt idx="8">
                  <c:v>0.8566</c:v>
                </c:pt>
              </c:numCache>
            </c:numRef>
          </c:val>
        </c:ser>
        <c:dLbls>
          <c:numFmt formatCode="0.0000" sourceLinked="0"/>
          <c:txPr>
            <a:bodyPr/>
            <a:lstStyle/>
            <a:p>
              <a:pPr>
                <a:defRPr sz="750">
                  <a:solidFill>
                    <a:srgbClr val="1A2330"/>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txPr>
          <a:bodyPr/>
          <a:lstStyle/>
          <a:p>
            <a:pPr>
              <a:defRPr sz="800">
                <a:solidFill>
                  <a:srgbClr val="1A2330"/>
                </a:solidFill>
                <a:latin typeface="Calibri"/>
              </a:defRPr>
            </a:pPr>
          </a:p>
        </c:txPr>
        <c:crossAx val="-2113994440"/>
        <c:crosses val="autoZero"/>
        <c:auto val="1"/>
        <c:lblAlgn val="ctr"/>
        <c:lblOffset val="100"/>
        <c:noMultiLvlLbl val="0"/>
      </c:catAx>
      <c:valAx>
        <c:axId val="-2113994440"/>
        <c:scaling>
          <c:max val="0.9"/>
          <c:min val="0.55"/>
        </c:scaling>
        <c:delete val="0"/>
        <c:axPos val="b"/>
        <c:majorGridlines>
          <c:spPr>
            <a:ln w="6350">
              <a:solidFill>
                <a:srgbClr val="DCE3EB"/>
              </a:solidFill>
            </a:ln>
          </c:spPr>
        </c:majorGridlines>
        <c:majorTickMark val="out"/>
        <c:minorTickMark val="none"/>
        <c:tickLblPos val="nextTo"/>
        <c:txPr>
          <a:bodyPr/>
          <a:lstStyle/>
          <a:p>
            <a:pPr>
              <a:defRPr sz="800">
                <a:solidFill>
                  <a:srgbClr val="5B6B7C"/>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Group presenting TruthLens AR, a multimodal fake-news detection system supervised by Dr. Mohammad Shifat-E-Rabbi. Our 499A deliverable has two halves: a controlled seven-model benchmark on the Fakeddit corpus, and a full reproducibility audit of our own measurement chain. We will be explicit throughout about what we proved and what we did not.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Misinformation is no longer purely textual: a claim travels as a headline bound to an image, and Vosoughi's Science study shows false stories spread farther and faster because humans share them. Bangla has over two hundred million speakers, but the only substantial resource, BanFakeNews, is text-only, and no public Bangla dataset pairs a claim with its image and a veracity label. That absence is what defines our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statement has two clauses, and the second is the unusual one: we set out not only to build a multimodal detector but to verify that every published number is traceable to the cell that produced it. Four gaps come from the literature; the fifth, G5, is methodological, and we demonstrate it on our own system rather than on someone else's.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of our six objectives are complete; we mark O3 and O6 honestly in amber. O3 is implemented but not validly measured because of defect D1, which we will show you on slide 10, and O6 has not been started at all. The out-of-scope box on the left is deliberate: we would rather state the boundary than let the panel infer a claim we have not earned.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is deliberately conservative. None of the published rows is a controlled comparison against ours, because corpus size, label granularity and split protocol all differ, so we claim neither parity nor superiority. What we do claim is the three differentiators along the bottom, of which the audit trail is the one we would ask you to weigh most.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functional requirements describe the deployed path, and all eight are implemented. On the right we grade ourselves against seven non-functional requirements and mark three of them amber. NFR5 in particular is a real defect: our loaders silently fall back to un-finetuned weights, which is the same failure mode that produced defect D1 in the evaluation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OBE rubric asks us to show realistic constraints, so we have used our own audit findings as the evidence rather than generic statements. Economically the whole system runs on free-tier hardware; the sustainability constraint pushed us toward EfficientNet-B0; and under safety and ethics we list our two live defects openly, because a detector trained on distantly supervised labels must never be presented as factual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deliberately simple: each branch runs to a complete class distribution and the two meet only at the fusion module, which has no learnable parameters at all. That design choice is why our training diagram has two loops and not three. The two amber boxes at the bottom are the defects reachable from this exact path, and both have named one-line fixes.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methodological point of the whole study is on the top left: corpus, split, sequence length, batch size and optimiser schedule are identical across all four text models, so any difference in the results table is attributable to the encoder and its tokenizer, not to data handling. Note also that our positive class is REAL, which means every precision and recall figure we report describes real-news retrieval, and we say so wherever such a number appears.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BERT-base is the strongest text model at 0.8566 and EfficientNet-B0 the strongest image model at 0.8208, both far above the 0.6104 majority floor, and notably parameter count does not predict accuracy. The row we want you to look at is the amber one: our reported fusion figure of 0.7891 is not a multimodal measurement, because the fusion cell never loaded the trained text checkpoint and simply inherited the image branch's decisions. We are reporting that rather than substituting a more flattering number, and the fix is one line and about ten minutes of T4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is deliberately front-loaded with correction rather than with new features: WP1 closes the six corrective experiments, five of which cost hours rather than days, and only then does WP2 tune fusion properly. WP4 is the long pole and the real contribution, because building a paired Bangla text-image corpus is slower and less glamorous than another fusion variant but worth considerably more to the field.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worked as one team on the 499A artefacts, so this table records primary focus rather than an artificial partition of the code. For 499B the ownership is sharper, because the four workstreams are genuinely separable: language encoder, vision and fetch instrumentation, fusion, and corpus construction. All four converge on the three group deliverables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we deliver a controlled seven-model benchmark, a working deployment with preprocessing parity, and an audit that we would ask you to remember above the accuracy numbers. Our headline multimodal figure came from an unloaded checkpoint, and that is precisely the kind of defect that survives review because the resulting number looks reasonable. A study that can locate its own errors gives you some basis for trusting the errors it did not look for.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We have prepared for the six questions listed here, and the repository is public if the panel would like to inspect any cell directly. We would particularly welcome guidance on the Bangla annotation protocol, since that is the piece of 499B where external advice would help us most.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33C"/>
          </a:solidFill>
          <a:ln>
            <a:noFill/>
          </a:ln>
          <a:effectLst/>
        </p:spPr>
        <p:txBody>
          <a:bodyPr rtlCol="0" anchor="ctr" wrap="square"/>
          <a:lstStyle/>
          <a:p>
            <a:pPr algn="ctr"/>
          </a:p>
        </p:txBody>
      </p:sp>
      <p:sp>
        <p:nvSpPr>
          <p:cNvPr id="3" name="Rectangle 2"/>
          <p:cNvSpPr/>
          <p:nvPr/>
        </p:nvSpPr>
        <p:spPr>
          <a:xfrm>
            <a:off x="0" y="0"/>
            <a:ext cx="384048" cy="6858000"/>
          </a:xfrm>
          <a:prstGeom prst="rect">
            <a:avLst/>
          </a:prstGeom>
          <a:solidFill>
            <a:srgbClr val="1E3A5F"/>
          </a:solidFill>
          <a:ln>
            <a:noFill/>
          </a:ln>
          <a:effectLst/>
        </p:spPr>
        <p:txBody>
          <a:bodyPr rtlCol="0" anchor="ctr" wrap="square"/>
          <a:lstStyle/>
          <a:p>
            <a:pPr algn="ctr"/>
          </a:p>
        </p:txBody>
      </p:sp>
      <p:sp>
        <p:nvSpPr>
          <p:cNvPr id="4" name="Rounded Rectangle 3"/>
          <p:cNvSpPr/>
          <p:nvPr/>
        </p:nvSpPr>
        <p:spPr>
          <a:xfrm>
            <a:off x="1051560" y="749808"/>
            <a:ext cx="3063240" cy="283464"/>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CSE 499A  |  SENIOR DESIGN CAPSTONE I</a:t>
            </a:r>
          </a:p>
        </p:txBody>
      </p:sp>
      <p:sp>
        <p:nvSpPr>
          <p:cNvPr id="5" name="TextBox 4"/>
          <p:cNvSpPr txBox="1"/>
          <p:nvPr/>
        </p:nvSpPr>
        <p:spPr>
          <a:xfrm>
            <a:off x="1024128" y="1243584"/>
            <a:ext cx="10058400" cy="1828800"/>
          </a:xfrm>
          <a:prstGeom prst="rect">
            <a:avLst/>
          </a:prstGeom>
          <a:noFill/>
        </p:spPr>
        <p:txBody>
          <a:bodyPr wrap="square" anchor="t" lIns="0" rIns="0" tIns="0" bIns="0">
            <a:spAutoFit/>
          </a:bodyPr>
          <a:lstStyle/>
          <a:p>
            <a:pPr algn="l">
              <a:spcAft>
                <a:spcPts val="400"/>
              </a:spcAft>
            </a:pPr>
            <a:r>
              <a:rPr sz="4600" b="1" i="0">
                <a:solidFill>
                  <a:srgbClr val="FFFFFF"/>
                </a:solidFill>
                <a:latin typeface="Cambria"/>
              </a:rPr>
              <a:t>TruthLens AR</a:t>
            </a:r>
          </a:p>
          <a:p>
            <a:pPr algn="l">
              <a:spcAft>
                <a:spcPts val="800"/>
              </a:spcAft>
            </a:pPr>
            <a:r>
              <a:rPr sz="2000" b="0" i="0">
                <a:solidFill>
                  <a:srgbClr val="C9D6E4"/>
                </a:solidFill>
                <a:latin typeface="Cambria"/>
              </a:rPr>
              <a:t>Bangla Multimodal Fake News, Image and Deepfake Detection Using Vision–Language Models</a:t>
            </a:r>
          </a:p>
          <a:p>
            <a:pPr algn="l">
              <a:spcAft>
                <a:spcPts val="0"/>
              </a:spcAft>
            </a:pPr>
            <a:r>
              <a:rPr sz="1200" b="0" i="1">
                <a:solidFill>
                  <a:srgbClr val="8FA6BC"/>
                </a:solidFill>
                <a:latin typeface="Calibri"/>
              </a:rPr>
              <a:t>Transformer text encoders, CNN / transformer vision encoders and weighted late fusion — an empirical study on Fakeddit with a reproducibility audit</a:t>
            </a:r>
          </a:p>
        </p:txBody>
      </p:sp>
      <p:sp>
        <p:nvSpPr>
          <p:cNvPr id="6" name="TextBox 5"/>
          <p:cNvSpPr txBox="1"/>
          <p:nvPr/>
        </p:nvSpPr>
        <p:spPr>
          <a:xfrm>
            <a:off x="1024128" y="3419856"/>
            <a:ext cx="2697480" cy="548640"/>
          </a:xfrm>
          <a:prstGeom prst="rect">
            <a:avLst/>
          </a:prstGeom>
          <a:noFill/>
        </p:spPr>
        <p:txBody>
          <a:bodyPr wrap="square" anchor="t" lIns="0" rIns="0" tIns="0" bIns="0">
            <a:spAutoFit/>
          </a:bodyPr>
          <a:lstStyle/>
          <a:p>
            <a:pPr algn="l">
              <a:spcAft>
                <a:spcPts val="100"/>
              </a:spcAft>
            </a:pPr>
            <a:r>
              <a:rPr sz="1250" b="1" i="0">
                <a:solidFill>
                  <a:srgbClr val="FFFFFF"/>
                </a:solidFill>
                <a:latin typeface="Calibri"/>
              </a:rPr>
              <a:t>Anas Ahmed</a:t>
            </a:r>
          </a:p>
          <a:p>
            <a:pPr algn="l">
              <a:spcAft>
                <a:spcPts val="0"/>
              </a:spcAft>
            </a:pPr>
            <a:r>
              <a:rPr sz="1050" b="0" i="0">
                <a:solidFill>
                  <a:srgbClr val="8FA6BC"/>
                </a:solidFill>
                <a:latin typeface="Calibri"/>
              </a:rPr>
              <a:t>ID: 2121264042</a:t>
            </a:r>
          </a:p>
        </p:txBody>
      </p:sp>
      <p:sp>
        <p:nvSpPr>
          <p:cNvPr id="7" name="TextBox 6"/>
          <p:cNvSpPr txBox="1"/>
          <p:nvPr/>
        </p:nvSpPr>
        <p:spPr>
          <a:xfrm>
            <a:off x="3813048" y="3419856"/>
            <a:ext cx="2697480" cy="548640"/>
          </a:xfrm>
          <a:prstGeom prst="rect">
            <a:avLst/>
          </a:prstGeom>
          <a:noFill/>
        </p:spPr>
        <p:txBody>
          <a:bodyPr wrap="square" anchor="t" lIns="0" rIns="0" tIns="0" bIns="0">
            <a:spAutoFit/>
          </a:bodyPr>
          <a:lstStyle/>
          <a:p>
            <a:pPr algn="l">
              <a:spcAft>
                <a:spcPts val="100"/>
              </a:spcAft>
            </a:pPr>
            <a:r>
              <a:rPr sz="1250" b="1" i="0">
                <a:solidFill>
                  <a:srgbClr val="FFFFFF"/>
                </a:solidFill>
                <a:latin typeface="Calibri"/>
              </a:rPr>
              <a:t>Subroto Ghosh</a:t>
            </a:r>
          </a:p>
          <a:p>
            <a:pPr algn="l">
              <a:spcAft>
                <a:spcPts val="0"/>
              </a:spcAft>
            </a:pPr>
            <a:r>
              <a:rPr sz="1050" b="0" i="0">
                <a:solidFill>
                  <a:srgbClr val="8FA6BC"/>
                </a:solidFill>
                <a:latin typeface="Calibri"/>
              </a:rPr>
              <a:t>ID: 2212150642</a:t>
            </a:r>
          </a:p>
        </p:txBody>
      </p:sp>
      <p:sp>
        <p:nvSpPr>
          <p:cNvPr id="8" name="TextBox 7"/>
          <p:cNvSpPr txBox="1"/>
          <p:nvPr/>
        </p:nvSpPr>
        <p:spPr>
          <a:xfrm>
            <a:off x="1024128" y="4023360"/>
            <a:ext cx="2697480" cy="548640"/>
          </a:xfrm>
          <a:prstGeom prst="rect">
            <a:avLst/>
          </a:prstGeom>
          <a:noFill/>
        </p:spPr>
        <p:txBody>
          <a:bodyPr wrap="square" anchor="t" lIns="0" rIns="0" tIns="0" bIns="0">
            <a:spAutoFit/>
          </a:bodyPr>
          <a:lstStyle/>
          <a:p>
            <a:pPr algn="l">
              <a:spcAft>
                <a:spcPts val="100"/>
              </a:spcAft>
            </a:pPr>
            <a:r>
              <a:rPr sz="1250" b="1" i="0">
                <a:solidFill>
                  <a:srgbClr val="FFFFFF"/>
                </a:solidFill>
                <a:latin typeface="Calibri"/>
              </a:rPr>
              <a:t>Joy Saha</a:t>
            </a:r>
          </a:p>
          <a:p>
            <a:pPr algn="l">
              <a:spcAft>
                <a:spcPts val="0"/>
              </a:spcAft>
            </a:pPr>
            <a:r>
              <a:rPr sz="1050" b="0" i="0">
                <a:solidFill>
                  <a:srgbClr val="8FA6BC"/>
                </a:solidFill>
                <a:latin typeface="Calibri"/>
              </a:rPr>
              <a:t>ID: 2312466042</a:t>
            </a:r>
          </a:p>
        </p:txBody>
      </p:sp>
      <p:sp>
        <p:nvSpPr>
          <p:cNvPr id="9" name="TextBox 8"/>
          <p:cNvSpPr txBox="1"/>
          <p:nvPr/>
        </p:nvSpPr>
        <p:spPr>
          <a:xfrm>
            <a:off x="3813048" y="4023360"/>
            <a:ext cx="2697480" cy="548640"/>
          </a:xfrm>
          <a:prstGeom prst="rect">
            <a:avLst/>
          </a:prstGeom>
          <a:noFill/>
        </p:spPr>
        <p:txBody>
          <a:bodyPr wrap="square" anchor="t" lIns="0" rIns="0" tIns="0" bIns="0">
            <a:spAutoFit/>
          </a:bodyPr>
          <a:lstStyle/>
          <a:p>
            <a:pPr algn="l">
              <a:spcAft>
                <a:spcPts val="100"/>
              </a:spcAft>
            </a:pPr>
            <a:r>
              <a:rPr sz="1250" b="1" i="0">
                <a:solidFill>
                  <a:srgbClr val="FFFFFF"/>
                </a:solidFill>
                <a:latin typeface="Calibri"/>
              </a:rPr>
              <a:t>Md. Abu Sufian Protik</a:t>
            </a:r>
          </a:p>
          <a:p>
            <a:pPr algn="l">
              <a:spcAft>
                <a:spcPts val="0"/>
              </a:spcAft>
            </a:pPr>
            <a:r>
              <a:rPr sz="1050" b="0" i="0">
                <a:solidFill>
                  <a:srgbClr val="8FA6BC"/>
                </a:solidFill>
                <a:latin typeface="Calibri"/>
              </a:rPr>
              <a:t>ID: 2312234042</a:t>
            </a:r>
          </a:p>
        </p:txBody>
      </p:sp>
      <p:sp>
        <p:nvSpPr>
          <p:cNvPr id="10" name="Rectangle 9"/>
          <p:cNvSpPr/>
          <p:nvPr/>
        </p:nvSpPr>
        <p:spPr>
          <a:xfrm>
            <a:off x="6903720" y="3346704"/>
            <a:ext cx="4224528" cy="1298448"/>
          </a:xfrm>
          <a:prstGeom prst="rect">
            <a:avLst/>
          </a:prstGeom>
          <a:solidFill>
            <a:srgbClr val="1A3050"/>
          </a:solidFill>
          <a:ln w="9525">
            <a:solidFill>
              <a:srgbClr val="2C4A6C"/>
            </a:solidFill>
          </a:ln>
          <a:effectLst/>
        </p:spPr>
        <p:txBody>
          <a:bodyPr rtlCol="0" anchor="ctr" wrap="square"/>
          <a:lstStyle/>
          <a:p>
            <a:pPr algn="ctr"/>
          </a:p>
        </p:txBody>
      </p:sp>
      <p:sp>
        <p:nvSpPr>
          <p:cNvPr id="11" name="TextBox 10"/>
          <p:cNvSpPr txBox="1"/>
          <p:nvPr/>
        </p:nvSpPr>
        <p:spPr>
          <a:xfrm>
            <a:off x="7095744" y="3493008"/>
            <a:ext cx="3877056" cy="1024128"/>
          </a:xfrm>
          <a:prstGeom prst="rect">
            <a:avLst/>
          </a:prstGeom>
          <a:noFill/>
        </p:spPr>
        <p:txBody>
          <a:bodyPr wrap="square" anchor="t" lIns="0" rIns="0" tIns="0" bIns="0">
            <a:spAutoFit/>
          </a:bodyPr>
          <a:lstStyle/>
          <a:p>
            <a:pPr algn="l">
              <a:spcAft>
                <a:spcPts val="300"/>
              </a:spcAft>
            </a:pPr>
            <a:r>
              <a:rPr sz="950" b="1" i="0">
                <a:solidFill>
                  <a:srgbClr val="5FBFB8"/>
                </a:solidFill>
                <a:latin typeface="Calibri"/>
              </a:rPr>
              <a:t>Faculty Advisor</a:t>
            </a:r>
          </a:p>
          <a:p>
            <a:pPr algn="l">
              <a:spcAft>
                <a:spcPts val="100"/>
              </a:spcAft>
            </a:pPr>
            <a:r>
              <a:rPr sz="1250" b="1" i="0">
                <a:solidFill>
                  <a:srgbClr val="FFFFFF"/>
                </a:solidFill>
                <a:latin typeface="Calibri"/>
              </a:rPr>
              <a:t>Dr. Mohammad Shifat-E-Rabbi (MSRB)</a:t>
            </a:r>
          </a:p>
          <a:p>
            <a:pPr algn="l">
              <a:spcAft>
                <a:spcPts val="0"/>
              </a:spcAft>
            </a:pPr>
            <a:r>
              <a:rPr sz="950" b="0" i="0">
                <a:solidFill>
                  <a:srgbClr val="8FA6BC"/>
                </a:solidFill>
                <a:latin typeface="Calibri"/>
              </a:rPr>
              <a:t>Assistant Professor, Department of Computer Science and Engineering</a:t>
            </a:r>
          </a:p>
        </p:txBody>
      </p:sp>
      <p:sp>
        <p:nvSpPr>
          <p:cNvPr id="12" name="TextBox 11"/>
          <p:cNvSpPr txBox="1"/>
          <p:nvPr/>
        </p:nvSpPr>
        <p:spPr>
          <a:xfrm>
            <a:off x="1024128" y="4956048"/>
            <a:ext cx="10058400" cy="1005840"/>
          </a:xfrm>
          <a:prstGeom prst="rect">
            <a:avLst/>
          </a:prstGeom>
          <a:noFill/>
        </p:spPr>
        <p:txBody>
          <a:bodyPr wrap="square" anchor="t" lIns="0" rIns="0" tIns="0" bIns="0">
            <a:spAutoFit/>
          </a:bodyPr>
          <a:lstStyle/>
          <a:p>
            <a:pPr algn="l">
              <a:spcAft>
                <a:spcPts val="200"/>
              </a:spcAft>
            </a:pPr>
            <a:r>
              <a:rPr sz="1300" b="1" i="0">
                <a:solidFill>
                  <a:srgbClr val="FFFFFF"/>
                </a:solidFill>
                <a:latin typeface="Cambria"/>
              </a:rPr>
              <a:t>Department of Electrical and Computer Engineering</a:t>
            </a:r>
          </a:p>
          <a:p>
            <a:pPr algn="l">
              <a:spcAft>
                <a:spcPts val="600"/>
              </a:spcAft>
            </a:pPr>
            <a:r>
              <a:rPr sz="1150" b="0" i="0">
                <a:solidFill>
                  <a:srgbClr val="C9D6E4"/>
                </a:solidFill>
                <a:latin typeface="Calibri"/>
              </a:rPr>
              <a:t>North South University, Bashundhara, Dhaka 1229, Bangladesh</a:t>
            </a:r>
          </a:p>
          <a:p>
            <a:pPr algn="l">
              <a:spcAft>
                <a:spcPts val="0"/>
              </a:spcAft>
            </a:pPr>
            <a:r>
              <a:rPr sz="1000" b="0" i="0">
                <a:solidFill>
                  <a:srgbClr val="8FA6BC"/>
                </a:solidFill>
                <a:latin typeface="Calibri"/>
              </a:rPr>
              <a:t>Repository: github.com/joy-saha-ayan/CSE499-Project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02  MOTIVATION</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Background and Problem Motivation</a:t>
            </a:r>
          </a:p>
        </p:txBody>
      </p:sp>
      <p:sp>
        <p:nvSpPr>
          <p:cNvPr id="4" name="TextBox 3"/>
          <p:cNvSpPr txBox="1"/>
          <p:nvPr/>
        </p:nvSpPr>
        <p:spPr>
          <a:xfrm>
            <a:off x="548640" y="1188720"/>
            <a:ext cx="11057839" cy="274320"/>
          </a:xfrm>
          <a:prstGeom prst="rect">
            <a:avLst/>
          </a:prstGeom>
          <a:noFill/>
        </p:spPr>
        <p:txBody>
          <a:bodyPr wrap="square" anchor="t" lIns="0" rIns="0" tIns="0" bIns="0">
            <a:spAutoFit/>
          </a:bodyPr>
          <a:lstStyle/>
          <a:p>
            <a:pPr algn="l">
              <a:spcAft>
                <a:spcPts val="0"/>
              </a:spcAft>
            </a:pPr>
            <a:r>
              <a:rPr sz="1150" b="0" i="1">
                <a:solidFill>
                  <a:srgbClr val="5B6B7C"/>
                </a:solidFill>
                <a:latin typeface="Calibri"/>
              </a:rPr>
              <a:t>Misinformation now travels as a text–image package — and the Bangla-speaking web has almost no defence against it</a:t>
            </a:r>
          </a:p>
        </p:txBody>
      </p:sp>
      <p:sp>
        <p:nvSpPr>
          <p:cNvPr id="5" name="Rectangle 4"/>
          <p:cNvSpPr/>
          <p:nvPr/>
        </p:nvSpPr>
        <p:spPr>
          <a:xfrm>
            <a:off x="566928" y="1664208"/>
            <a:ext cx="3520440" cy="1170432"/>
          </a:xfrm>
          <a:prstGeom prst="rect">
            <a:avLst/>
          </a:prstGeom>
          <a:solidFill>
            <a:srgbClr val="F4F7FA"/>
          </a:solidFill>
          <a:ln w="9525">
            <a:solidFill>
              <a:srgbClr val="D6DEE8"/>
            </a:solidFill>
          </a:ln>
          <a:effectLst/>
        </p:spPr>
        <p:txBody>
          <a:bodyPr rtlCol="0" anchor="ctr" wrap="square"/>
          <a:lstStyle/>
          <a:p>
            <a:pPr algn="ctr"/>
          </a:p>
        </p:txBody>
      </p:sp>
      <p:sp>
        <p:nvSpPr>
          <p:cNvPr id="6" name="TextBox 5"/>
          <p:cNvSpPr txBox="1"/>
          <p:nvPr/>
        </p:nvSpPr>
        <p:spPr>
          <a:xfrm>
            <a:off x="713232" y="1792224"/>
            <a:ext cx="3227832" cy="914400"/>
          </a:xfrm>
          <a:prstGeom prst="rect">
            <a:avLst/>
          </a:prstGeom>
          <a:noFill/>
        </p:spPr>
        <p:txBody>
          <a:bodyPr wrap="square" anchor="t" lIns="0" rIns="0" tIns="0" bIns="0">
            <a:spAutoFit/>
          </a:bodyPr>
          <a:lstStyle/>
          <a:p>
            <a:pPr algn="l">
              <a:spcAft>
                <a:spcPts val="200"/>
              </a:spcAft>
            </a:pPr>
            <a:r>
              <a:rPr sz="3000" b="1" i="0">
                <a:solidFill>
                  <a:srgbClr val="12233C"/>
                </a:solidFill>
                <a:latin typeface="Cambria"/>
              </a:rPr>
              <a:t>200 M+</a:t>
            </a:r>
          </a:p>
          <a:p>
            <a:pPr algn="l">
              <a:spcAft>
                <a:spcPts val="0"/>
              </a:spcAft>
            </a:pPr>
            <a:r>
              <a:rPr sz="950" b="0" i="0">
                <a:solidFill>
                  <a:srgbClr val="5B6B7C"/>
                </a:solidFill>
                <a:latin typeface="Calibri"/>
              </a:rPr>
              <a:t>Bangla speakers, yet negligible coverage
in the multimodal misinformation literature</a:t>
            </a:r>
          </a:p>
        </p:txBody>
      </p:sp>
      <p:sp>
        <p:nvSpPr>
          <p:cNvPr id="7" name="Rectangle 6"/>
          <p:cNvSpPr/>
          <p:nvPr/>
        </p:nvSpPr>
        <p:spPr>
          <a:xfrm>
            <a:off x="4315968" y="1664208"/>
            <a:ext cx="3520440" cy="1170432"/>
          </a:xfrm>
          <a:prstGeom prst="rect">
            <a:avLst/>
          </a:prstGeom>
          <a:solidFill>
            <a:srgbClr val="F4F7FA"/>
          </a:solidFill>
          <a:ln w="9525">
            <a:solidFill>
              <a:srgbClr val="D6DEE8"/>
            </a:solidFill>
          </a:ln>
          <a:effectLst/>
        </p:spPr>
        <p:txBody>
          <a:bodyPr rtlCol="0" anchor="ctr" wrap="square"/>
          <a:lstStyle/>
          <a:p>
            <a:pPr algn="ctr"/>
          </a:p>
        </p:txBody>
      </p:sp>
      <p:sp>
        <p:nvSpPr>
          <p:cNvPr id="8" name="TextBox 7"/>
          <p:cNvSpPr txBox="1"/>
          <p:nvPr/>
        </p:nvSpPr>
        <p:spPr>
          <a:xfrm>
            <a:off x="4462272" y="1792224"/>
            <a:ext cx="3227832" cy="914400"/>
          </a:xfrm>
          <a:prstGeom prst="rect">
            <a:avLst/>
          </a:prstGeom>
          <a:noFill/>
        </p:spPr>
        <p:txBody>
          <a:bodyPr wrap="square" anchor="t" lIns="0" rIns="0" tIns="0" bIns="0">
            <a:spAutoFit/>
          </a:bodyPr>
          <a:lstStyle/>
          <a:p>
            <a:pPr algn="l">
              <a:spcAft>
                <a:spcPts val="200"/>
              </a:spcAft>
            </a:pPr>
            <a:r>
              <a:rPr sz="3000" b="1" i="0">
                <a:solidFill>
                  <a:srgbClr val="12233C"/>
                </a:solidFill>
                <a:latin typeface="Cambria"/>
              </a:rPr>
              <a:t>~50,000</a:t>
            </a:r>
          </a:p>
          <a:p>
            <a:pPr algn="l">
              <a:spcAft>
                <a:spcPts val="0"/>
              </a:spcAft>
            </a:pPr>
            <a:r>
              <a:rPr sz="950" b="0" i="0">
                <a:solidFill>
                  <a:srgbClr val="5B6B7C"/>
                </a:solidFill>
                <a:latin typeface="Calibri"/>
              </a:rPr>
              <a:t>Annotated articles in BanFakeNews [20]
— the principal Bangla resource, text-only</a:t>
            </a:r>
          </a:p>
        </p:txBody>
      </p:sp>
      <p:sp>
        <p:nvSpPr>
          <p:cNvPr id="9" name="Rectangle 8"/>
          <p:cNvSpPr/>
          <p:nvPr/>
        </p:nvSpPr>
        <p:spPr>
          <a:xfrm>
            <a:off x="8065007" y="1664208"/>
            <a:ext cx="3520440" cy="1170432"/>
          </a:xfrm>
          <a:prstGeom prst="rect">
            <a:avLst/>
          </a:prstGeom>
          <a:solidFill>
            <a:srgbClr val="F4F7FA"/>
          </a:solidFill>
          <a:ln w="9525">
            <a:solidFill>
              <a:srgbClr val="D6DEE8"/>
            </a:solidFill>
          </a:ln>
          <a:effectLst/>
        </p:spPr>
        <p:txBody>
          <a:bodyPr rtlCol="0" anchor="ctr" wrap="square"/>
          <a:lstStyle/>
          <a:p>
            <a:pPr algn="ctr"/>
          </a:p>
        </p:txBody>
      </p:sp>
      <p:sp>
        <p:nvSpPr>
          <p:cNvPr id="10" name="TextBox 9"/>
          <p:cNvSpPr txBox="1"/>
          <p:nvPr/>
        </p:nvSpPr>
        <p:spPr>
          <a:xfrm>
            <a:off x="8211311" y="1792224"/>
            <a:ext cx="3227832" cy="914400"/>
          </a:xfrm>
          <a:prstGeom prst="rect">
            <a:avLst/>
          </a:prstGeom>
          <a:noFill/>
        </p:spPr>
        <p:txBody>
          <a:bodyPr wrap="square" anchor="t" lIns="0" rIns="0" tIns="0" bIns="0">
            <a:spAutoFit/>
          </a:bodyPr>
          <a:lstStyle/>
          <a:p>
            <a:pPr algn="l">
              <a:spcAft>
                <a:spcPts val="200"/>
              </a:spcAft>
            </a:pPr>
            <a:r>
              <a:rPr sz="3000" b="1" i="0">
                <a:solidFill>
                  <a:srgbClr val="C1521D"/>
                </a:solidFill>
                <a:latin typeface="Cambria"/>
              </a:rPr>
              <a:t>0</a:t>
            </a:r>
          </a:p>
          <a:p>
            <a:pPr algn="l">
              <a:spcAft>
                <a:spcPts val="0"/>
              </a:spcAft>
            </a:pPr>
            <a:r>
              <a:rPr sz="950" b="0" i="0">
                <a:solidFill>
                  <a:srgbClr val="5B6B7C"/>
                </a:solidFill>
                <a:latin typeface="Calibri"/>
              </a:rPr>
              <a:t>Public Bangla corpora known to us that pair
news text + image + a veracity label</a:t>
            </a:r>
          </a:p>
        </p:txBody>
      </p:sp>
      <p:sp>
        <p:nvSpPr>
          <p:cNvPr id="11" name="Rectangle 10"/>
          <p:cNvSpPr/>
          <p:nvPr/>
        </p:nvSpPr>
        <p:spPr>
          <a:xfrm>
            <a:off x="566928" y="3035808"/>
            <a:ext cx="5358384" cy="1920240"/>
          </a:xfrm>
          <a:prstGeom prst="rect">
            <a:avLst/>
          </a:prstGeom>
          <a:solidFill>
            <a:srgbClr val="F4F7FA"/>
          </a:solidFill>
          <a:ln w="9525">
            <a:solidFill>
              <a:srgbClr val="D6DEE8"/>
            </a:solidFill>
          </a:ln>
          <a:effectLst/>
        </p:spPr>
        <p:txBody>
          <a:bodyPr rtlCol="0" anchor="ctr" wrap="square"/>
          <a:lstStyle/>
          <a:p>
            <a:pPr algn="ctr"/>
          </a:p>
        </p:txBody>
      </p:sp>
      <p:sp>
        <p:nvSpPr>
          <p:cNvPr id="12" name="TextBox 11"/>
          <p:cNvSpPr txBox="1"/>
          <p:nvPr/>
        </p:nvSpPr>
        <p:spPr>
          <a:xfrm>
            <a:off x="749808" y="3163824"/>
            <a:ext cx="4992624"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Why text-only detection is not enough</a:t>
            </a:r>
          </a:p>
        </p:txBody>
      </p:sp>
      <p:sp>
        <p:nvSpPr>
          <p:cNvPr id="13" name="TextBox 12"/>
          <p:cNvSpPr txBox="1"/>
          <p:nvPr/>
        </p:nvSpPr>
        <p:spPr>
          <a:xfrm>
            <a:off x="749808" y="3511296"/>
            <a:ext cx="4992624" cy="1316736"/>
          </a:xfrm>
          <a:prstGeom prst="rect">
            <a:avLst/>
          </a:prstGeom>
          <a:noFill/>
        </p:spPr>
        <p:txBody>
          <a:bodyPr wrap="square" anchor="t" lIns="0" rIns="0" tIns="0" bIns="0">
            <a:spAutoFit/>
          </a:bodyPr>
          <a:lstStyle/>
          <a:p>
            <a:pPr algn="l" marL="146304" indent="-146304">
              <a:spcAft>
                <a:spcPts val="340"/>
              </a:spcAft>
              <a:buClr>
                <a:srgbClr val="0E7C7B"/>
              </a:buClr>
              <a:buFont typeface="Arial"/>
              <a:buChar char="•"/>
            </a:pPr>
            <a:r>
              <a:rPr sz="1050" b="0" i="0">
                <a:solidFill>
                  <a:srgbClr val="1A2330"/>
                </a:solidFill>
                <a:latin typeface="Calibri"/>
              </a:rPr>
              <a:t>A misleading claim now travels as a short emotive headline bound to an image that is manipulated, recycled or dishonestly captioned</a:t>
            </a:r>
          </a:p>
          <a:p>
            <a:pPr algn="l" marL="146304" indent="-146304">
              <a:spcAft>
                <a:spcPts val="340"/>
              </a:spcAft>
              <a:buClr>
                <a:srgbClr val="0E7C7B"/>
              </a:buClr>
              <a:buFont typeface="Arial"/>
              <a:buChar char="•"/>
            </a:pPr>
            <a:r>
              <a:rPr sz="1050" b="0" i="0">
                <a:solidFill>
                  <a:srgbClr val="1A2330"/>
                </a:solidFill>
                <a:latin typeface="Calibri"/>
              </a:rPr>
              <a:t>Vosoughi et al., Science 2018 [1]: false stories diffuse farther, faster and more broadly than true ones — driven by human sharing, not bots</a:t>
            </a:r>
          </a:p>
          <a:p>
            <a:pPr algn="l" marL="146304" indent="-146304">
              <a:spcAft>
                <a:spcPts val="340"/>
              </a:spcAft>
              <a:buClr>
                <a:srgbClr val="0E7C7B"/>
              </a:buClr>
              <a:buFont typeface="Arial"/>
              <a:buChar char="•"/>
            </a:pPr>
            <a:r>
              <a:rPr sz="1050" b="0" i="0">
                <a:solidFill>
                  <a:srgbClr val="1A2330"/>
                </a:solidFill>
                <a:latin typeface="Calibri"/>
              </a:rPr>
              <a:t>A detector that reads only the text discards the evidence human fact-checkers routinely use</a:t>
            </a:r>
          </a:p>
        </p:txBody>
      </p:sp>
      <p:sp>
        <p:nvSpPr>
          <p:cNvPr id="14" name="Rectangle 13"/>
          <p:cNvSpPr/>
          <p:nvPr/>
        </p:nvSpPr>
        <p:spPr>
          <a:xfrm>
            <a:off x="6236208" y="3035808"/>
            <a:ext cx="5367528" cy="1920240"/>
          </a:xfrm>
          <a:prstGeom prst="rect">
            <a:avLst/>
          </a:prstGeom>
          <a:solidFill>
            <a:srgbClr val="F4F7FA"/>
          </a:solidFill>
          <a:ln w="9525">
            <a:solidFill>
              <a:srgbClr val="D6DEE8"/>
            </a:solidFill>
          </a:ln>
          <a:effectLst/>
        </p:spPr>
        <p:txBody>
          <a:bodyPr rtlCol="0" anchor="ctr" wrap="square"/>
          <a:lstStyle/>
          <a:p>
            <a:pPr algn="ctr"/>
          </a:p>
        </p:txBody>
      </p:sp>
      <p:sp>
        <p:nvSpPr>
          <p:cNvPr id="15" name="TextBox 14"/>
          <p:cNvSpPr txBox="1"/>
          <p:nvPr/>
        </p:nvSpPr>
        <p:spPr>
          <a:xfrm>
            <a:off x="6419088" y="3163824"/>
            <a:ext cx="5001768"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The Bangladesh context</a:t>
            </a:r>
          </a:p>
        </p:txBody>
      </p:sp>
      <p:sp>
        <p:nvSpPr>
          <p:cNvPr id="16" name="TextBox 15"/>
          <p:cNvSpPr txBox="1"/>
          <p:nvPr/>
        </p:nvSpPr>
        <p:spPr>
          <a:xfrm>
            <a:off x="6419088" y="3511296"/>
            <a:ext cx="5001768" cy="1316736"/>
          </a:xfrm>
          <a:prstGeom prst="rect">
            <a:avLst/>
          </a:prstGeom>
          <a:noFill/>
        </p:spPr>
        <p:txBody>
          <a:bodyPr wrap="square" anchor="t" lIns="0" rIns="0" tIns="0" bIns="0">
            <a:spAutoFit/>
          </a:bodyPr>
          <a:lstStyle/>
          <a:p>
            <a:pPr algn="l" marL="146304" indent="-146304">
              <a:spcAft>
                <a:spcPts val="340"/>
              </a:spcAft>
              <a:buClr>
                <a:srgbClr val="C1521D"/>
              </a:buClr>
              <a:buFont typeface="Arial"/>
              <a:buChar char="•"/>
            </a:pPr>
            <a:r>
              <a:rPr sz="1050" b="0" i="0">
                <a:solidFill>
                  <a:srgbClr val="1A2330"/>
                </a:solidFill>
                <a:latin typeface="Calibri"/>
              </a:rPr>
              <a:t>Rumour circulates on Facebook and YouTube as a screenshot plus a caption, not as a wire-service article</a:t>
            </a:r>
          </a:p>
          <a:p>
            <a:pPr algn="l" marL="146304" indent="-146304">
              <a:spcAft>
                <a:spcPts val="340"/>
              </a:spcAft>
              <a:buClr>
                <a:srgbClr val="C1521D"/>
              </a:buClr>
              <a:buFont typeface="Arial"/>
              <a:buChar char="•"/>
            </a:pPr>
            <a:r>
              <a:rPr sz="1050" b="0" i="0">
                <a:solidFill>
                  <a:srgbClr val="1A2330"/>
                </a:solidFill>
                <a:latin typeface="Calibri"/>
              </a:rPr>
              <a:t>A great deal of Bangla misinformation is text rendered into an image, so a purely visual encoder cannot read it and a text pipeline never sees it</a:t>
            </a:r>
          </a:p>
          <a:p>
            <a:pPr algn="l" marL="146304" indent="-146304">
              <a:spcAft>
                <a:spcPts val="340"/>
              </a:spcAft>
              <a:buClr>
                <a:srgbClr val="C1521D"/>
              </a:buClr>
              <a:buFont typeface="Arial"/>
              <a:buChar char="•"/>
            </a:pPr>
            <a:r>
              <a:rPr sz="1050" b="0" i="0">
                <a:solidFill>
                  <a:srgbClr val="1A2330"/>
                </a:solidFill>
                <a:latin typeface="Calibri"/>
              </a:rPr>
              <a:t>Consequence: an English multimodal system must be built and verified first, then transferred — which is exactly the 499A / 499B division</a:t>
            </a:r>
          </a:p>
        </p:txBody>
      </p:sp>
      <p:sp>
        <p:nvSpPr>
          <p:cNvPr id="17" name="TextBox 16"/>
          <p:cNvSpPr txBox="1"/>
          <p:nvPr/>
        </p:nvSpPr>
        <p:spPr>
          <a:xfrm>
            <a:off x="566928" y="5138928"/>
            <a:ext cx="11057839" cy="822960"/>
          </a:xfrm>
          <a:prstGeom prst="rect">
            <a:avLst/>
          </a:prstGeom>
          <a:noFill/>
        </p:spPr>
        <p:txBody>
          <a:bodyPr wrap="square" anchor="t" lIns="0" rIns="0" tIns="0" bIns="0">
            <a:spAutoFit/>
          </a:bodyPr>
          <a:lstStyle/>
          <a:p>
            <a:pPr algn="l">
              <a:spcAft>
                <a:spcPts val="300"/>
              </a:spcAft>
            </a:pPr>
            <a:r>
              <a:rPr sz="1100" b="1" i="0">
                <a:solidFill>
                  <a:srgbClr val="12233C"/>
                </a:solidFill>
                <a:latin typeface="Cambria"/>
              </a:rPr>
              <a:t>Working premise for this capstone</a:t>
            </a:r>
          </a:p>
          <a:p>
            <a:pPr algn="l">
              <a:spcAft>
                <a:spcPts val="0"/>
              </a:spcAft>
            </a:pPr>
            <a:r>
              <a:rPr sz="1150" b="0" i="0">
                <a:solidFill>
                  <a:srgbClr val="1A2330"/>
                </a:solidFill>
                <a:latin typeface="Calibri"/>
              </a:rPr>
              <a:t>Build the English multimodal pipeline end to end, measure it honestly, and identify precisely what blocks the Bangla extension. Our audit shows the block is corpus construction, not model architecture.</a:t>
            </a:r>
          </a:p>
        </p:txBody>
      </p:sp>
      <p:sp>
        <p:nvSpPr>
          <p:cNvPr id="18" name="TextBox 17"/>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19" name="TextBox 18"/>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03  PROBLEM</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Problem Statement and Literature Gaps</a:t>
            </a:r>
          </a:p>
        </p:txBody>
      </p:sp>
      <p:sp>
        <p:nvSpPr>
          <p:cNvPr id="4" name="Rectangle 3"/>
          <p:cNvSpPr/>
          <p:nvPr/>
        </p:nvSpPr>
        <p:spPr>
          <a:xfrm>
            <a:off x="566928" y="1316736"/>
            <a:ext cx="11057839" cy="859536"/>
          </a:xfrm>
          <a:prstGeom prst="rect">
            <a:avLst/>
          </a:prstGeom>
          <a:solidFill>
            <a:srgbClr val="12233C"/>
          </a:solidFill>
          <a:ln>
            <a:noFill/>
          </a:ln>
          <a:effectLst/>
        </p:spPr>
        <p:txBody>
          <a:bodyPr rtlCol="0" anchor="ctr" wrap="square"/>
          <a:lstStyle/>
          <a:p>
            <a:pPr algn="ctr"/>
          </a:p>
        </p:txBody>
      </p:sp>
      <p:sp>
        <p:nvSpPr>
          <p:cNvPr id="5" name="TextBox 4"/>
          <p:cNvSpPr txBox="1"/>
          <p:nvPr/>
        </p:nvSpPr>
        <p:spPr>
          <a:xfrm>
            <a:off x="786384" y="1444752"/>
            <a:ext cx="10618927" cy="640080"/>
          </a:xfrm>
          <a:prstGeom prst="rect">
            <a:avLst/>
          </a:prstGeom>
          <a:noFill/>
        </p:spPr>
        <p:txBody>
          <a:bodyPr wrap="square" anchor="t" lIns="0" rIns="0" tIns="0" bIns="0">
            <a:spAutoFit/>
          </a:bodyPr>
          <a:lstStyle/>
          <a:p>
            <a:pPr algn="l">
              <a:spcAft>
                <a:spcPts val="300"/>
              </a:spcAft>
            </a:pPr>
            <a:r>
              <a:rPr sz="900" b="1" i="0">
                <a:solidFill>
                  <a:srgbClr val="5FBFB8"/>
                </a:solidFill>
                <a:latin typeface="Calibri"/>
              </a:rPr>
              <a:t>PROBLEM STATEMENT</a:t>
            </a:r>
          </a:p>
          <a:p>
            <a:pPr algn="l">
              <a:spcAft>
                <a:spcPts val="0"/>
              </a:spcAft>
            </a:pPr>
            <a:r>
              <a:rPr sz="1300" b="0" i="0">
                <a:solidFill>
                  <a:srgbClr val="FFFFFF"/>
                </a:solidFill>
                <a:latin typeface="Calibri"/>
              </a:rPr>
              <a:t>Design, implement and — critically — verify a multimodal (text + image) fake-news detection pipeline whose every reported number is traceable to the code cell that produced it, as the measured English foundation for a future Bangla system.</a:t>
            </a:r>
          </a:p>
        </p:txBody>
      </p:sp>
      <p:sp>
        <p:nvSpPr>
          <p:cNvPr id="6" name="Rectangle 5"/>
          <p:cNvSpPr/>
          <p:nvPr/>
        </p:nvSpPr>
        <p:spPr>
          <a:xfrm>
            <a:off x="566928" y="2395728"/>
            <a:ext cx="5367528" cy="987552"/>
          </a:xfrm>
          <a:prstGeom prst="rect">
            <a:avLst/>
          </a:prstGeom>
          <a:solidFill>
            <a:srgbClr val="F4F7FA"/>
          </a:solidFill>
          <a:ln w="9525">
            <a:solidFill>
              <a:srgbClr val="D6DEE8"/>
            </a:solidFill>
          </a:ln>
          <a:effectLst/>
        </p:spPr>
        <p:txBody>
          <a:bodyPr rtlCol="0" anchor="ctr" wrap="square"/>
          <a:lstStyle/>
          <a:p>
            <a:pPr algn="ctr"/>
          </a:p>
        </p:txBody>
      </p:sp>
      <p:sp>
        <p:nvSpPr>
          <p:cNvPr id="7" name="Rounded Rectangle 6"/>
          <p:cNvSpPr/>
          <p:nvPr/>
        </p:nvSpPr>
        <p:spPr>
          <a:xfrm>
            <a:off x="731520" y="2542032"/>
            <a:ext cx="438912" cy="237744"/>
          </a:xfrm>
          <a:prstGeom prst="roundRect">
            <a:avLst>
              <a:gd name="adj" fmla="val 45000"/>
            </a:avLst>
          </a:prstGeom>
          <a:solidFill>
            <a:srgbClr val="0E7C7B"/>
          </a:solidFill>
          <a:ln>
            <a:noFill/>
          </a:ln>
          <a:effectLst/>
        </p:spPr>
        <p:txBody>
          <a:bodyPr rtlCol="0" anchor="ctr" wrap="none" lIns="54864" rIns="54864" tIns="0" bIns="0"/>
          <a:lstStyle/>
          <a:p>
            <a:pPr algn="ctr"/>
            <a:r>
              <a:rPr sz="950" b="1">
                <a:solidFill>
                  <a:srgbClr val="FFFFFF"/>
                </a:solidFill>
                <a:latin typeface="Calibri"/>
              </a:rPr>
              <a:t>G1</a:t>
            </a:r>
          </a:p>
        </p:txBody>
      </p:sp>
      <p:sp>
        <p:nvSpPr>
          <p:cNvPr id="8" name="TextBox 7"/>
          <p:cNvSpPr txBox="1"/>
          <p:nvPr/>
        </p:nvSpPr>
        <p:spPr>
          <a:xfrm>
            <a:off x="1261872" y="2514600"/>
            <a:ext cx="4526280" cy="822960"/>
          </a:xfrm>
          <a:prstGeom prst="rect">
            <a:avLst/>
          </a:prstGeom>
          <a:noFill/>
        </p:spPr>
        <p:txBody>
          <a:bodyPr wrap="square" anchor="t" lIns="0" rIns="0" tIns="0" bIns="0">
            <a:spAutoFit/>
          </a:bodyPr>
          <a:lstStyle/>
          <a:p>
            <a:pPr algn="l">
              <a:spcAft>
                <a:spcPts val="200"/>
              </a:spcAft>
            </a:pPr>
            <a:r>
              <a:rPr sz="1150" b="1" i="0">
                <a:solidFill>
                  <a:srgbClr val="12233C"/>
                </a:solidFill>
                <a:latin typeface="Calibri"/>
              </a:rPr>
              <a:t>Generalisation is weak</a:t>
            </a:r>
          </a:p>
          <a:p>
            <a:pPr algn="l">
              <a:spcAft>
                <a:spcPts val="0"/>
              </a:spcAft>
            </a:pPr>
            <a:r>
              <a:rPr sz="980" b="0" i="0">
                <a:solidFill>
                  <a:srgbClr val="1A2330"/>
                </a:solidFill>
                <a:latin typeface="Calibri"/>
              </a:rPr>
              <a:t>Detectors memorise events, platforms and time periods. EANN's event-adversarial design [13] exists precisely because of this failure.</a:t>
            </a:r>
          </a:p>
        </p:txBody>
      </p:sp>
      <p:sp>
        <p:nvSpPr>
          <p:cNvPr id="9" name="Rectangle 8"/>
          <p:cNvSpPr/>
          <p:nvPr/>
        </p:nvSpPr>
        <p:spPr>
          <a:xfrm>
            <a:off x="6236208" y="2395728"/>
            <a:ext cx="5367528" cy="987552"/>
          </a:xfrm>
          <a:prstGeom prst="rect">
            <a:avLst/>
          </a:prstGeom>
          <a:solidFill>
            <a:srgbClr val="F4F7FA"/>
          </a:solidFill>
          <a:ln w="9525">
            <a:solidFill>
              <a:srgbClr val="D6DEE8"/>
            </a:solidFill>
          </a:ln>
          <a:effectLst/>
        </p:spPr>
        <p:txBody>
          <a:bodyPr rtlCol="0" anchor="ctr" wrap="square"/>
          <a:lstStyle/>
          <a:p>
            <a:pPr algn="ctr"/>
          </a:p>
        </p:txBody>
      </p:sp>
      <p:sp>
        <p:nvSpPr>
          <p:cNvPr id="10" name="Rounded Rectangle 9"/>
          <p:cNvSpPr/>
          <p:nvPr/>
        </p:nvSpPr>
        <p:spPr>
          <a:xfrm>
            <a:off x="6400800" y="2542032"/>
            <a:ext cx="438912" cy="237744"/>
          </a:xfrm>
          <a:prstGeom prst="roundRect">
            <a:avLst>
              <a:gd name="adj" fmla="val 45000"/>
            </a:avLst>
          </a:prstGeom>
          <a:solidFill>
            <a:srgbClr val="0E7C7B"/>
          </a:solidFill>
          <a:ln>
            <a:noFill/>
          </a:ln>
          <a:effectLst/>
        </p:spPr>
        <p:txBody>
          <a:bodyPr rtlCol="0" anchor="ctr" wrap="none" lIns="54864" rIns="54864" tIns="0" bIns="0"/>
          <a:lstStyle/>
          <a:p>
            <a:pPr algn="ctr"/>
            <a:r>
              <a:rPr sz="950" b="1">
                <a:solidFill>
                  <a:srgbClr val="FFFFFF"/>
                </a:solidFill>
                <a:latin typeface="Calibri"/>
              </a:rPr>
              <a:t>G2</a:t>
            </a:r>
          </a:p>
        </p:txBody>
      </p:sp>
      <p:sp>
        <p:nvSpPr>
          <p:cNvPr id="11" name="TextBox 10"/>
          <p:cNvSpPr txBox="1"/>
          <p:nvPr/>
        </p:nvSpPr>
        <p:spPr>
          <a:xfrm>
            <a:off x="6931152" y="2514600"/>
            <a:ext cx="4526280" cy="822960"/>
          </a:xfrm>
          <a:prstGeom prst="rect">
            <a:avLst/>
          </a:prstGeom>
          <a:noFill/>
        </p:spPr>
        <p:txBody>
          <a:bodyPr wrap="square" anchor="t" lIns="0" rIns="0" tIns="0" bIns="0">
            <a:spAutoFit/>
          </a:bodyPr>
          <a:lstStyle/>
          <a:p>
            <a:pPr algn="l">
              <a:spcAft>
                <a:spcPts val="200"/>
              </a:spcAft>
            </a:pPr>
            <a:r>
              <a:rPr sz="1150" b="1" i="0">
                <a:solidFill>
                  <a:srgbClr val="12233C"/>
                </a:solidFill>
                <a:latin typeface="Calibri"/>
              </a:rPr>
              <a:t>Distant supervision rewards register, not veracity</a:t>
            </a:r>
          </a:p>
          <a:p>
            <a:pPr algn="l">
              <a:spcAft>
                <a:spcPts val="0"/>
              </a:spcAft>
            </a:pPr>
            <a:r>
              <a:rPr sz="980" b="0" i="0">
                <a:solidFill>
                  <a:srgbClr val="1A2330"/>
                </a:solidFill>
                <a:latin typeface="Calibri"/>
              </a:rPr>
              <a:t>Fakeddit labels come from subreddits [3]. A model can score highly by recognising a community's style — shortcut learning [28], unimodal bias [32].</a:t>
            </a:r>
          </a:p>
        </p:txBody>
      </p:sp>
      <p:sp>
        <p:nvSpPr>
          <p:cNvPr id="12" name="Rectangle 11"/>
          <p:cNvSpPr/>
          <p:nvPr/>
        </p:nvSpPr>
        <p:spPr>
          <a:xfrm>
            <a:off x="566928" y="3511296"/>
            <a:ext cx="5367528" cy="987552"/>
          </a:xfrm>
          <a:prstGeom prst="rect">
            <a:avLst/>
          </a:prstGeom>
          <a:solidFill>
            <a:srgbClr val="F4F7FA"/>
          </a:solidFill>
          <a:ln w="9525">
            <a:solidFill>
              <a:srgbClr val="D6DEE8"/>
            </a:solidFill>
          </a:ln>
          <a:effectLst/>
        </p:spPr>
        <p:txBody>
          <a:bodyPr rtlCol="0" anchor="ctr" wrap="square"/>
          <a:lstStyle/>
          <a:p>
            <a:pPr algn="ctr"/>
          </a:p>
        </p:txBody>
      </p:sp>
      <p:sp>
        <p:nvSpPr>
          <p:cNvPr id="13" name="Rounded Rectangle 12"/>
          <p:cNvSpPr/>
          <p:nvPr/>
        </p:nvSpPr>
        <p:spPr>
          <a:xfrm>
            <a:off x="731520" y="3657600"/>
            <a:ext cx="438912" cy="237744"/>
          </a:xfrm>
          <a:prstGeom prst="roundRect">
            <a:avLst>
              <a:gd name="adj" fmla="val 45000"/>
            </a:avLst>
          </a:prstGeom>
          <a:solidFill>
            <a:srgbClr val="0E7C7B"/>
          </a:solidFill>
          <a:ln>
            <a:noFill/>
          </a:ln>
          <a:effectLst/>
        </p:spPr>
        <p:txBody>
          <a:bodyPr rtlCol="0" anchor="ctr" wrap="none" lIns="54864" rIns="54864" tIns="0" bIns="0"/>
          <a:lstStyle/>
          <a:p>
            <a:pPr algn="ctr"/>
            <a:r>
              <a:rPr sz="950" b="1">
                <a:solidFill>
                  <a:srgbClr val="FFFFFF"/>
                </a:solidFill>
                <a:latin typeface="Calibri"/>
              </a:rPr>
              <a:t>G3</a:t>
            </a:r>
          </a:p>
        </p:txBody>
      </p:sp>
      <p:sp>
        <p:nvSpPr>
          <p:cNvPr id="14" name="TextBox 13"/>
          <p:cNvSpPr txBox="1"/>
          <p:nvPr/>
        </p:nvSpPr>
        <p:spPr>
          <a:xfrm>
            <a:off x="1261872" y="3630168"/>
            <a:ext cx="4526280" cy="822960"/>
          </a:xfrm>
          <a:prstGeom prst="rect">
            <a:avLst/>
          </a:prstGeom>
          <a:noFill/>
        </p:spPr>
        <p:txBody>
          <a:bodyPr wrap="square" anchor="t" lIns="0" rIns="0" tIns="0" bIns="0">
            <a:spAutoFit/>
          </a:bodyPr>
          <a:lstStyle/>
          <a:p>
            <a:pPr algn="l">
              <a:spcAft>
                <a:spcPts val="200"/>
              </a:spcAft>
            </a:pPr>
            <a:r>
              <a:rPr sz="1150" b="1" i="0">
                <a:solidFill>
                  <a:srgbClr val="12233C"/>
                </a:solidFill>
                <a:latin typeface="Calibri"/>
              </a:rPr>
              <a:t>Multimodal gains are rarely ablated</a:t>
            </a:r>
          </a:p>
          <a:p>
            <a:pPr algn="l">
              <a:spcAft>
                <a:spcPts val="0"/>
              </a:spcAft>
            </a:pPr>
            <a:r>
              <a:rPr sz="980" b="0" i="0">
                <a:solidFill>
                  <a:srgbClr val="1A2330"/>
                </a:solidFill>
                <a:latin typeface="Calibri"/>
              </a:rPr>
              <a:t>Reported gains are often small relative to the strongest unimodal branch, and per-modality ablations are seldom published.</a:t>
            </a:r>
          </a:p>
        </p:txBody>
      </p:sp>
      <p:sp>
        <p:nvSpPr>
          <p:cNvPr id="15" name="Rectangle 14"/>
          <p:cNvSpPr/>
          <p:nvPr/>
        </p:nvSpPr>
        <p:spPr>
          <a:xfrm>
            <a:off x="6236208" y="3511296"/>
            <a:ext cx="5367528" cy="987552"/>
          </a:xfrm>
          <a:prstGeom prst="rect">
            <a:avLst/>
          </a:prstGeom>
          <a:solidFill>
            <a:srgbClr val="F4F7FA"/>
          </a:solidFill>
          <a:ln w="9525">
            <a:solidFill>
              <a:srgbClr val="D6DEE8"/>
            </a:solidFill>
          </a:ln>
          <a:effectLst/>
        </p:spPr>
        <p:txBody>
          <a:bodyPr rtlCol="0" anchor="ctr" wrap="square"/>
          <a:lstStyle/>
          <a:p>
            <a:pPr algn="ctr"/>
          </a:p>
        </p:txBody>
      </p:sp>
      <p:sp>
        <p:nvSpPr>
          <p:cNvPr id="16" name="Rounded Rectangle 15"/>
          <p:cNvSpPr/>
          <p:nvPr/>
        </p:nvSpPr>
        <p:spPr>
          <a:xfrm>
            <a:off x="6400800" y="3657600"/>
            <a:ext cx="438912" cy="237744"/>
          </a:xfrm>
          <a:prstGeom prst="roundRect">
            <a:avLst>
              <a:gd name="adj" fmla="val 45000"/>
            </a:avLst>
          </a:prstGeom>
          <a:solidFill>
            <a:srgbClr val="0E7C7B"/>
          </a:solidFill>
          <a:ln>
            <a:noFill/>
          </a:ln>
          <a:effectLst/>
        </p:spPr>
        <p:txBody>
          <a:bodyPr rtlCol="0" anchor="ctr" wrap="none" lIns="54864" rIns="54864" tIns="0" bIns="0"/>
          <a:lstStyle/>
          <a:p>
            <a:pPr algn="ctr"/>
            <a:r>
              <a:rPr sz="950" b="1">
                <a:solidFill>
                  <a:srgbClr val="FFFFFF"/>
                </a:solidFill>
                <a:latin typeface="Calibri"/>
              </a:rPr>
              <a:t>G4</a:t>
            </a:r>
          </a:p>
        </p:txBody>
      </p:sp>
      <p:sp>
        <p:nvSpPr>
          <p:cNvPr id="17" name="TextBox 16"/>
          <p:cNvSpPr txBox="1"/>
          <p:nvPr/>
        </p:nvSpPr>
        <p:spPr>
          <a:xfrm>
            <a:off x="6931152" y="3630168"/>
            <a:ext cx="4526280" cy="822960"/>
          </a:xfrm>
          <a:prstGeom prst="rect">
            <a:avLst/>
          </a:prstGeom>
          <a:noFill/>
        </p:spPr>
        <p:txBody>
          <a:bodyPr wrap="square" anchor="t" lIns="0" rIns="0" tIns="0" bIns="0">
            <a:spAutoFit/>
          </a:bodyPr>
          <a:lstStyle/>
          <a:p>
            <a:pPr algn="l">
              <a:spcAft>
                <a:spcPts val="200"/>
              </a:spcAft>
            </a:pPr>
            <a:r>
              <a:rPr sz="1150" b="1" i="0">
                <a:solidFill>
                  <a:srgbClr val="12233C"/>
                </a:solidFill>
                <a:latin typeface="Calibri"/>
              </a:rPr>
              <a:t>Low-resource languages are absent</a:t>
            </a:r>
          </a:p>
          <a:p>
            <a:pPr algn="l">
              <a:spcAft>
                <a:spcPts val="0"/>
              </a:spcAft>
            </a:pPr>
            <a:r>
              <a:rPr sz="980" b="0" i="0">
                <a:solidFill>
                  <a:srgbClr val="1A2330"/>
                </a:solidFill>
                <a:latin typeface="Calibri"/>
              </a:rPr>
              <a:t>Bangla is essentially missing from the multimodal misinformation literature; BanFakeNews [20] is text-only.</a:t>
            </a:r>
          </a:p>
        </p:txBody>
      </p:sp>
      <p:sp>
        <p:nvSpPr>
          <p:cNvPr id="18" name="Rectangle 17"/>
          <p:cNvSpPr/>
          <p:nvPr/>
        </p:nvSpPr>
        <p:spPr>
          <a:xfrm>
            <a:off x="566928" y="4626864"/>
            <a:ext cx="11057839" cy="987552"/>
          </a:xfrm>
          <a:prstGeom prst="rect">
            <a:avLst/>
          </a:prstGeom>
          <a:solidFill>
            <a:srgbClr val="FBEEE7"/>
          </a:solidFill>
          <a:ln w="9525">
            <a:solidFill>
              <a:srgbClr val="E8C4B2"/>
            </a:solidFill>
          </a:ln>
          <a:effectLst/>
        </p:spPr>
        <p:txBody>
          <a:bodyPr rtlCol="0" anchor="ctr" wrap="square"/>
          <a:lstStyle/>
          <a:p>
            <a:pPr algn="ctr"/>
          </a:p>
        </p:txBody>
      </p:sp>
      <p:sp>
        <p:nvSpPr>
          <p:cNvPr id="19" name="Rounded Rectangle 18"/>
          <p:cNvSpPr/>
          <p:nvPr/>
        </p:nvSpPr>
        <p:spPr>
          <a:xfrm>
            <a:off x="731520" y="4773168"/>
            <a:ext cx="438912" cy="237744"/>
          </a:xfrm>
          <a:prstGeom prst="roundRect">
            <a:avLst>
              <a:gd name="adj" fmla="val 45000"/>
            </a:avLst>
          </a:prstGeom>
          <a:solidFill>
            <a:srgbClr val="C1521D"/>
          </a:solidFill>
          <a:ln>
            <a:noFill/>
          </a:ln>
          <a:effectLst/>
        </p:spPr>
        <p:txBody>
          <a:bodyPr rtlCol="0" anchor="ctr" wrap="none" lIns="54864" rIns="54864" tIns="0" bIns="0"/>
          <a:lstStyle/>
          <a:p>
            <a:pPr algn="ctr"/>
            <a:r>
              <a:rPr sz="950" b="1">
                <a:solidFill>
                  <a:srgbClr val="FFFFFF"/>
                </a:solidFill>
                <a:latin typeface="Calibri"/>
              </a:rPr>
              <a:t>G5</a:t>
            </a:r>
          </a:p>
        </p:txBody>
      </p:sp>
      <p:sp>
        <p:nvSpPr>
          <p:cNvPr id="20" name="TextBox 19"/>
          <p:cNvSpPr txBox="1"/>
          <p:nvPr/>
        </p:nvSpPr>
        <p:spPr>
          <a:xfrm>
            <a:off x="1261872" y="4745736"/>
            <a:ext cx="10143439" cy="822960"/>
          </a:xfrm>
          <a:prstGeom prst="rect">
            <a:avLst/>
          </a:prstGeom>
          <a:noFill/>
        </p:spPr>
        <p:txBody>
          <a:bodyPr wrap="square" anchor="t" lIns="0" rIns="0" tIns="0" bIns="0">
            <a:spAutoFit/>
          </a:bodyPr>
          <a:lstStyle/>
          <a:p>
            <a:pPr algn="l">
              <a:spcAft>
                <a:spcPts val="200"/>
              </a:spcAft>
            </a:pPr>
            <a:r>
              <a:rPr sz="1150" b="1" i="0">
                <a:solidFill>
                  <a:srgbClr val="C1521D"/>
                </a:solidFill>
                <a:latin typeface="Calibri"/>
              </a:rPr>
              <a:t>Numbers are rarely cross-checked against source   —   the methodological gap this project attacks directly</a:t>
            </a:r>
          </a:p>
          <a:p>
            <a:pPr algn="l">
              <a:spcAft>
                <a:spcPts val="0"/>
              </a:spcAft>
            </a:pPr>
            <a:r>
              <a:rPr sz="980" b="0" i="0">
                <a:solidFill>
                  <a:srgbClr val="1A2330"/>
                </a:solidFill>
                <a:latin typeface="Calibri"/>
              </a:rPr>
              <a:t>A plausible multimodal figure can be produced by an unloaded checkpoint. We demonstrate this defect on our own system (Slide 10).</a:t>
            </a:r>
          </a:p>
        </p:txBody>
      </p:sp>
      <p:sp>
        <p:nvSpPr>
          <p:cNvPr id="21" name="TextBox 20"/>
          <p:cNvSpPr txBox="1"/>
          <p:nvPr/>
        </p:nvSpPr>
        <p:spPr>
          <a:xfrm>
            <a:off x="566928" y="5760720"/>
            <a:ext cx="11057839" cy="457200"/>
          </a:xfrm>
          <a:prstGeom prst="rect">
            <a:avLst/>
          </a:prstGeom>
          <a:noFill/>
        </p:spPr>
        <p:txBody>
          <a:bodyPr wrap="square" anchor="t" lIns="0" rIns="0" tIns="0" bIns="0">
            <a:spAutoFit/>
          </a:bodyPr>
          <a:lstStyle/>
          <a:p>
            <a:pPr algn="l">
              <a:spcAft>
                <a:spcPts val="0"/>
              </a:spcAft>
            </a:pPr>
            <a:r>
              <a:rPr sz="1050" b="0" i="1">
                <a:solidFill>
                  <a:srgbClr val="5B6B7C"/>
                </a:solidFill>
                <a:latin typeface="Calibri"/>
              </a:rPr>
              <a:t>Research question: on a distantly supervised multimodal benchmark, does late fusion of an independently trained text branch and image branch measurably improve on the stronger single modality — and can that claim be verified from the artefacts alone?</a:t>
            </a:r>
          </a:p>
        </p:txBody>
      </p:sp>
      <p:sp>
        <p:nvSpPr>
          <p:cNvPr id="22" name="TextBox 21"/>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23" name="TextBox 22"/>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04  OBJECTIVES</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Objectives and Scope Boundaries: 499A versus 499B</a:t>
            </a:r>
          </a:p>
        </p:txBody>
      </p:sp>
      <p:graphicFrame>
        <p:nvGraphicFramePr>
          <p:cNvPr id="4" name="Table 3"/>
          <p:cNvGraphicFramePr>
            <a:graphicFrameLocks noGrp="1"/>
          </p:cNvGraphicFramePr>
          <p:nvPr/>
        </p:nvGraphicFramePr>
        <p:xfrm>
          <a:off x="566928" y="1389888"/>
          <a:ext cx="11091672" cy="3072384"/>
        </p:xfrm>
        <a:graphic>
          <a:graphicData uri="http://schemas.openxmlformats.org/drawingml/2006/table">
            <a:tbl>
              <a:tblPr/>
              <a:tblGrid>
                <a:gridCol w="475488"/>
                <a:gridCol w="3246120"/>
                <a:gridCol w="3566160"/>
                <a:gridCol w="3803904"/>
              </a:tblGrid>
              <a:tr h="329184">
                <a:tc>
                  <a:txBody>
                    <a:bodyPr wrap="square"/>
                    <a:lstStyle/>
                    <a:p>
                      <a:pPr algn="ctr"/>
                      <a:r>
                        <a:rPr sz="1000" b="1" i="0">
                          <a:solidFill>
                            <a:srgbClr val="FFFFFF"/>
                          </a:solidFill>
                          <a:latin typeface="Calibri"/>
                        </a:rPr>
                        <a:t>#</a:t>
                      </a:r>
                    </a:p>
                  </a:txBody>
                  <a:tcPr marL="64008" marR="64008" marT="27432" marB="27432" anchor="ctr">
                    <a:solidFill>
                      <a:srgbClr val="12233C"/>
                    </a:solidFill>
                  </a:tcPr>
                </a:tc>
                <a:tc>
                  <a:txBody>
                    <a:bodyPr wrap="square"/>
                    <a:lstStyle/>
                    <a:p>
                      <a:pPr algn="l"/>
                      <a:r>
                        <a:rPr sz="1000" b="1" i="0">
                          <a:solidFill>
                            <a:srgbClr val="FFFFFF"/>
                          </a:solidFill>
                          <a:latin typeface="Calibri"/>
                        </a:rPr>
                        <a:t>Objective</a:t>
                      </a:r>
                    </a:p>
                  </a:txBody>
                  <a:tcPr marL="64008" marR="64008" marT="27432" marB="27432" anchor="ctr">
                    <a:solidFill>
                      <a:srgbClr val="12233C"/>
                    </a:solidFill>
                  </a:tcPr>
                </a:tc>
                <a:tc>
                  <a:txBody>
                    <a:bodyPr wrap="square"/>
                    <a:lstStyle/>
                    <a:p>
                      <a:pPr algn="l"/>
                      <a:r>
                        <a:rPr sz="1000" b="1" i="0">
                          <a:solidFill>
                            <a:srgbClr val="FFFFFF"/>
                          </a:solidFill>
                          <a:latin typeface="Calibri"/>
                        </a:rPr>
                        <a:t>CSE 499A — status</a:t>
                      </a:r>
                    </a:p>
                  </a:txBody>
                  <a:tcPr marL="64008" marR="64008" marT="27432" marB="27432" anchor="ctr">
                    <a:solidFill>
                      <a:srgbClr val="12233C"/>
                    </a:solidFill>
                  </a:tcPr>
                </a:tc>
                <a:tc>
                  <a:txBody>
                    <a:bodyPr wrap="square"/>
                    <a:lstStyle/>
                    <a:p>
                      <a:pPr algn="l"/>
                      <a:r>
                        <a:rPr sz="1000" b="1" i="0">
                          <a:solidFill>
                            <a:srgbClr val="FFFFFF"/>
                          </a:solidFill>
                          <a:latin typeface="Calibri"/>
                        </a:rPr>
                        <a:t>CSE 499B — target</a:t>
                      </a:r>
                    </a:p>
                  </a:txBody>
                  <a:tcPr marL="64008" marR="64008" marT="27432" marB="27432" anchor="ctr">
                    <a:solidFill>
                      <a:srgbClr val="12233C"/>
                    </a:solidFill>
                  </a:tcPr>
                </a:tc>
              </a:tr>
              <a:tr h="457200">
                <a:tc>
                  <a:txBody>
                    <a:bodyPr wrap="square"/>
                    <a:lstStyle/>
                    <a:p>
                      <a:pPr algn="ctr"/>
                      <a:r>
                        <a:rPr sz="1000" b="0" i="0">
                          <a:solidFill>
                            <a:srgbClr val="1A2330"/>
                          </a:solidFill>
                          <a:latin typeface="Calibri"/>
                        </a:rPr>
                        <a:t>O1</a:t>
                      </a:r>
                    </a:p>
                  </a:txBody>
                  <a:tcPr marL="64008" marR="64008" marT="27432" marB="27432" anchor="ctr">
                    <a:solidFill>
                      <a:srgbClr val="F4F7FA"/>
                    </a:solidFill>
                  </a:tcPr>
                </a:tc>
                <a:tc>
                  <a:txBody>
                    <a:bodyPr wrap="square"/>
                    <a:lstStyle/>
                    <a:p>
                      <a:pPr algn="l"/>
                      <a:r>
                        <a:rPr sz="1000" b="0" i="0">
                          <a:solidFill>
                            <a:srgbClr val="1A2330"/>
                          </a:solidFill>
                          <a:latin typeface="Calibri"/>
                        </a:rPr>
                        <a:t>Build and benchmark a unimodal text branch</a:t>
                      </a:r>
                    </a:p>
                  </a:txBody>
                  <a:tcPr marL="64008" marR="64008" marT="27432" marB="27432" anchor="ctr">
                    <a:solidFill>
                      <a:srgbClr val="F4F7FA"/>
                    </a:solidFill>
                  </a:tcPr>
                </a:tc>
                <a:tc>
                  <a:txBody>
                    <a:bodyPr wrap="square"/>
                    <a:lstStyle/>
                    <a:p>
                      <a:pPr algn="l"/>
                      <a:r>
                        <a:rPr sz="1000" b="0" i="0">
                          <a:solidFill>
                            <a:srgbClr val="1A2330"/>
                          </a:solidFill>
                          <a:latin typeface="Calibri"/>
                        </a:rPr>
                        <a:t>COMPLETE — 4 models trained and measured</a:t>
                      </a:r>
                    </a:p>
                  </a:txBody>
                  <a:tcPr marL="64008" marR="64008" marT="27432" marB="27432" anchor="ctr">
                    <a:solidFill>
                      <a:srgbClr val="F4F7FA"/>
                    </a:solidFill>
                  </a:tcPr>
                </a:tc>
                <a:tc>
                  <a:txBody>
                    <a:bodyPr wrap="square"/>
                    <a:lstStyle/>
                    <a:p>
                      <a:pPr algn="l"/>
                      <a:r>
                        <a:rPr sz="1000" b="0" i="0">
                          <a:solidFill>
                            <a:srgbClr val="1A2330"/>
                          </a:solidFill>
                          <a:latin typeface="Calibri"/>
                        </a:rPr>
                        <a:t>Bangla encoders: BanglaBERT, XLM-R fine-tune</a:t>
                      </a:r>
                    </a:p>
                  </a:txBody>
                  <a:tcPr marL="64008" marR="64008" marT="27432" marB="27432" anchor="ctr">
                    <a:solidFill>
                      <a:srgbClr val="F4F7FA"/>
                    </a:solidFill>
                  </a:tcPr>
                </a:tc>
              </a:tr>
              <a:tr h="457200">
                <a:tc>
                  <a:txBody>
                    <a:bodyPr wrap="square"/>
                    <a:lstStyle/>
                    <a:p>
                      <a:pPr algn="ctr"/>
                      <a:r>
                        <a:rPr sz="1000" b="0" i="0">
                          <a:solidFill>
                            <a:srgbClr val="1A2330"/>
                          </a:solidFill>
                          <a:latin typeface="Calibri"/>
                        </a:rPr>
                        <a:t>O2</a:t>
                      </a:r>
                    </a:p>
                  </a:txBody>
                  <a:tcPr marL="64008" marR="64008" marT="27432" marB="27432" anchor="ctr">
                    <a:solidFill>
                      <a:srgbClr val="FFFFFF"/>
                    </a:solidFill>
                  </a:tcPr>
                </a:tc>
                <a:tc>
                  <a:txBody>
                    <a:bodyPr wrap="square"/>
                    <a:lstStyle/>
                    <a:p>
                      <a:pPr algn="l"/>
                      <a:r>
                        <a:rPr sz="1000" b="0" i="0">
                          <a:solidFill>
                            <a:srgbClr val="1A2330"/>
                          </a:solidFill>
                          <a:latin typeface="Calibri"/>
                        </a:rPr>
                        <a:t>Build and benchmark a unimodal visual branch</a:t>
                      </a:r>
                    </a:p>
                  </a:txBody>
                  <a:tcPr marL="64008" marR="64008" marT="27432" marB="27432" anchor="ctr">
                    <a:solidFill>
                      <a:srgbClr val="FFFFFF"/>
                    </a:solidFill>
                  </a:tcPr>
                </a:tc>
                <a:tc>
                  <a:txBody>
                    <a:bodyPr wrap="square"/>
                    <a:lstStyle/>
                    <a:p>
                      <a:pPr algn="l"/>
                      <a:r>
                        <a:rPr sz="1000" b="0" i="0">
                          <a:solidFill>
                            <a:srgbClr val="1A2330"/>
                          </a:solidFill>
                          <a:latin typeface="Calibri"/>
                        </a:rPr>
                        <a:t>COMPLETE — 3 models trained and measured</a:t>
                      </a:r>
                    </a:p>
                  </a:txBody>
                  <a:tcPr marL="64008" marR="64008" marT="27432" marB="27432" anchor="ctr">
                    <a:solidFill>
                      <a:srgbClr val="FFFFFF"/>
                    </a:solidFill>
                  </a:tcPr>
                </a:tc>
                <a:tc>
                  <a:txBody>
                    <a:bodyPr wrap="square"/>
                    <a:lstStyle/>
                    <a:p>
                      <a:pPr algn="l"/>
                      <a:r>
                        <a:rPr sz="1000" b="0" i="0">
                          <a:solidFill>
                            <a:srgbClr val="1A2330"/>
                          </a:solidFill>
                          <a:latin typeface="Calibri"/>
                        </a:rPr>
                        <a:t>Add manipulation / deepfake branch; cache images</a:t>
                      </a:r>
                    </a:p>
                  </a:txBody>
                  <a:tcPr marL="64008" marR="64008" marT="27432" marB="27432" anchor="ctr">
                    <a:solidFill>
                      <a:srgbClr val="FFFFFF"/>
                    </a:solidFill>
                  </a:tcPr>
                </a:tc>
              </a:tr>
              <a:tr h="457200">
                <a:tc>
                  <a:txBody>
                    <a:bodyPr wrap="square"/>
                    <a:lstStyle/>
                    <a:p>
                      <a:pPr algn="ctr"/>
                      <a:r>
                        <a:rPr sz="1000" b="0" i="0">
                          <a:solidFill>
                            <a:srgbClr val="C1521D"/>
                          </a:solidFill>
                          <a:latin typeface="Calibri"/>
                        </a:rPr>
                        <a:t>O3</a:t>
                      </a:r>
                    </a:p>
                  </a:txBody>
                  <a:tcPr marL="64008" marR="64008" marT="27432" marB="27432" anchor="ctr">
                    <a:solidFill>
                      <a:srgbClr val="FBEEE7"/>
                    </a:solidFill>
                  </a:tcPr>
                </a:tc>
                <a:tc>
                  <a:txBody>
                    <a:bodyPr wrap="square"/>
                    <a:lstStyle/>
                    <a:p>
                      <a:pPr algn="l"/>
                      <a:r>
                        <a:rPr sz="1000" b="0" i="0">
                          <a:solidFill>
                            <a:srgbClr val="C1521D"/>
                          </a:solidFill>
                          <a:latin typeface="Calibri"/>
                        </a:rPr>
                        <a:t>Implement multimodal fusion</a:t>
                      </a:r>
                    </a:p>
                  </a:txBody>
                  <a:tcPr marL="64008" marR="64008" marT="27432" marB="27432" anchor="ctr">
                    <a:solidFill>
                      <a:srgbClr val="FBEEE7"/>
                    </a:solidFill>
                  </a:tcPr>
                </a:tc>
                <a:tc>
                  <a:txBody>
                    <a:bodyPr wrap="square"/>
                    <a:lstStyle/>
                    <a:p>
                      <a:pPr algn="l"/>
                      <a:r>
                        <a:rPr sz="1000" b="0" i="0">
                          <a:solidFill>
                            <a:srgbClr val="C1521D"/>
                          </a:solidFill>
                          <a:latin typeface="Calibri"/>
                        </a:rPr>
                        <a:t>IMPLEMENTED but NOT VALIDLY MEASURED (D1)</a:t>
                      </a:r>
                    </a:p>
                  </a:txBody>
                  <a:tcPr marL="64008" marR="64008" marT="27432" marB="27432" anchor="ctr">
                    <a:solidFill>
                      <a:srgbClr val="FBEEE7"/>
                    </a:solidFill>
                  </a:tcPr>
                </a:tc>
                <a:tc>
                  <a:txBody>
                    <a:bodyPr wrap="square"/>
                    <a:lstStyle/>
                    <a:p>
                      <a:pPr algn="l"/>
                      <a:r>
                        <a:rPr sz="1000" b="0" i="0">
                          <a:solidFill>
                            <a:srgbClr val="C1521D"/>
                          </a:solidFill>
                          <a:latin typeface="Calibri"/>
                        </a:rPr>
                        <a:t>Corrected rerun, α sweep, learned co-attention</a:t>
                      </a:r>
                    </a:p>
                  </a:txBody>
                  <a:tcPr marL="64008" marR="64008" marT="27432" marB="27432" anchor="ctr">
                    <a:solidFill>
                      <a:srgbClr val="FBEEE7"/>
                    </a:solidFill>
                  </a:tcPr>
                </a:tc>
              </a:tr>
              <a:tr h="457200">
                <a:tc>
                  <a:txBody>
                    <a:bodyPr wrap="square"/>
                    <a:lstStyle/>
                    <a:p>
                      <a:pPr algn="ctr"/>
                      <a:r>
                        <a:rPr sz="1000" b="0" i="0">
                          <a:solidFill>
                            <a:srgbClr val="1A2330"/>
                          </a:solidFill>
                          <a:latin typeface="Calibri"/>
                        </a:rPr>
                        <a:t>O4</a:t>
                      </a:r>
                    </a:p>
                  </a:txBody>
                  <a:tcPr marL="64008" marR="64008" marT="27432" marB="27432" anchor="ctr">
                    <a:solidFill>
                      <a:srgbClr val="FFFFFF"/>
                    </a:solidFill>
                  </a:tcPr>
                </a:tc>
                <a:tc>
                  <a:txBody>
                    <a:bodyPr wrap="square"/>
                    <a:lstStyle/>
                    <a:p>
                      <a:pPr algn="l"/>
                      <a:r>
                        <a:rPr sz="1000" b="0" i="0">
                          <a:solidFill>
                            <a:srgbClr val="1A2330"/>
                          </a:solidFill>
                          <a:latin typeface="Calibri"/>
                        </a:rPr>
                        <a:t>Deploy an end-to-end usable system</a:t>
                      </a:r>
                    </a:p>
                  </a:txBody>
                  <a:tcPr marL="64008" marR="64008" marT="27432" marB="27432" anchor="ctr">
                    <a:solidFill>
                      <a:srgbClr val="FFFFFF"/>
                    </a:solidFill>
                  </a:tcPr>
                </a:tc>
                <a:tc>
                  <a:txBody>
                    <a:bodyPr wrap="square"/>
                    <a:lstStyle/>
                    <a:p>
                      <a:pPr algn="l"/>
                      <a:r>
                        <a:rPr sz="1000" b="0" i="0">
                          <a:solidFill>
                            <a:srgbClr val="1A2330"/>
                          </a:solidFill>
                          <a:latin typeface="Calibri"/>
                        </a:rPr>
                        <a:t>COMPLETE — 459-line Streamlit application</a:t>
                      </a:r>
                    </a:p>
                  </a:txBody>
                  <a:tcPr marL="64008" marR="64008" marT="27432" marB="27432" anchor="ctr">
                    <a:solidFill>
                      <a:srgbClr val="FFFFFF"/>
                    </a:solidFill>
                  </a:tcPr>
                </a:tc>
                <a:tc>
                  <a:txBody>
                    <a:bodyPr wrap="square"/>
                    <a:lstStyle/>
                    <a:p>
                      <a:pPr algn="l"/>
                      <a:r>
                        <a:rPr sz="1000" b="0" i="0">
                          <a:solidFill>
                            <a:srgbClr val="1A2330"/>
                          </a:solidFill>
                          <a:latin typeface="Calibri"/>
                        </a:rPr>
                        <a:t>Fix label map, fail-loud loaders, public deploy</a:t>
                      </a:r>
                    </a:p>
                  </a:txBody>
                  <a:tcPr marL="64008" marR="64008" marT="27432" marB="27432" anchor="ctr">
                    <a:solidFill>
                      <a:srgbClr val="FFFFFF"/>
                    </a:solidFill>
                  </a:tcPr>
                </a:tc>
              </a:tr>
              <a:tr h="457200">
                <a:tc>
                  <a:txBody>
                    <a:bodyPr wrap="square"/>
                    <a:lstStyle/>
                    <a:p>
                      <a:pPr algn="ctr"/>
                      <a:r>
                        <a:rPr sz="1000" b="0" i="0">
                          <a:solidFill>
                            <a:srgbClr val="1A2330"/>
                          </a:solidFill>
                          <a:latin typeface="Calibri"/>
                        </a:rPr>
                        <a:t>O5</a:t>
                      </a:r>
                    </a:p>
                  </a:txBody>
                  <a:tcPr marL="64008" marR="64008" marT="27432" marB="27432" anchor="ctr">
                    <a:solidFill>
                      <a:srgbClr val="F4F7FA"/>
                    </a:solidFill>
                  </a:tcPr>
                </a:tc>
                <a:tc>
                  <a:txBody>
                    <a:bodyPr wrap="square"/>
                    <a:lstStyle/>
                    <a:p>
                      <a:pPr algn="l"/>
                      <a:r>
                        <a:rPr sz="1000" b="0" i="0">
                          <a:solidFill>
                            <a:srgbClr val="1A2330"/>
                          </a:solidFill>
                          <a:latin typeface="Calibri"/>
                        </a:rPr>
                        <a:t>Verify every reported figure against source</a:t>
                      </a:r>
                    </a:p>
                  </a:txBody>
                  <a:tcPr marL="64008" marR="64008" marT="27432" marB="27432" anchor="ctr">
                    <a:solidFill>
                      <a:srgbClr val="F4F7FA"/>
                    </a:solidFill>
                  </a:tcPr>
                </a:tc>
                <a:tc>
                  <a:txBody>
                    <a:bodyPr wrap="square"/>
                    <a:lstStyle/>
                    <a:p>
                      <a:pPr algn="l"/>
                      <a:r>
                        <a:rPr sz="1000" b="0" i="0">
                          <a:solidFill>
                            <a:srgbClr val="1A2330"/>
                          </a:solidFill>
                          <a:latin typeface="Calibri"/>
                        </a:rPr>
                        <a:t>COMPLETE — 8 defects enumerated (D1–D8)</a:t>
                      </a:r>
                    </a:p>
                  </a:txBody>
                  <a:tcPr marL="64008" marR="64008" marT="27432" marB="27432" anchor="ctr">
                    <a:solidFill>
                      <a:srgbClr val="F4F7FA"/>
                    </a:solidFill>
                  </a:tcPr>
                </a:tc>
                <a:tc>
                  <a:txBody>
                    <a:bodyPr wrap="square"/>
                    <a:lstStyle/>
                    <a:p>
                      <a:pPr algn="l"/>
                      <a:r>
                        <a:rPr sz="1000" b="0" i="0">
                          <a:solidFill>
                            <a:srgbClr val="1A2330"/>
                          </a:solidFill>
                          <a:latin typeface="Calibri"/>
                        </a:rPr>
                        <a:t>Regression tests; metrics emitted to results.json</a:t>
                      </a:r>
                    </a:p>
                  </a:txBody>
                  <a:tcPr marL="64008" marR="64008" marT="27432" marB="27432" anchor="ctr">
                    <a:solidFill>
                      <a:srgbClr val="F4F7FA"/>
                    </a:solidFill>
                  </a:tcPr>
                </a:tc>
              </a:tr>
              <a:tr h="457200">
                <a:tc>
                  <a:txBody>
                    <a:bodyPr wrap="square"/>
                    <a:lstStyle/>
                    <a:p>
                      <a:pPr algn="ctr"/>
                      <a:r>
                        <a:rPr sz="1000" b="0" i="0">
                          <a:solidFill>
                            <a:srgbClr val="C1521D"/>
                          </a:solidFill>
                          <a:latin typeface="Calibri"/>
                        </a:rPr>
                        <a:t>O6</a:t>
                      </a:r>
                    </a:p>
                  </a:txBody>
                  <a:tcPr marL="64008" marR="64008" marT="27432" marB="27432" anchor="ctr">
                    <a:solidFill>
                      <a:srgbClr val="FBEEE7"/>
                    </a:solidFill>
                  </a:tcPr>
                </a:tc>
                <a:tc>
                  <a:txBody>
                    <a:bodyPr wrap="square"/>
                    <a:lstStyle/>
                    <a:p>
                      <a:pPr algn="l"/>
                      <a:r>
                        <a:rPr sz="1000" b="0" i="0">
                          <a:solidFill>
                            <a:srgbClr val="C1521D"/>
                          </a:solidFill>
                          <a:latin typeface="Calibri"/>
                        </a:rPr>
                        <a:t>Extend to Bangla multimodal detection</a:t>
                      </a:r>
                    </a:p>
                  </a:txBody>
                  <a:tcPr marL="64008" marR="64008" marT="27432" marB="27432" anchor="ctr">
                    <a:solidFill>
                      <a:srgbClr val="FBEEE7"/>
                    </a:solidFill>
                  </a:tcPr>
                </a:tc>
                <a:tc>
                  <a:txBody>
                    <a:bodyPr wrap="square"/>
                    <a:lstStyle/>
                    <a:p>
                      <a:pPr algn="l"/>
                      <a:r>
                        <a:rPr sz="1000" b="0" i="0">
                          <a:solidFill>
                            <a:srgbClr val="C1521D"/>
                          </a:solidFill>
                          <a:latin typeface="Calibri"/>
                        </a:rPr>
                        <a:t>NOT STARTED — no Bangla experiment was run</a:t>
                      </a:r>
                    </a:p>
                  </a:txBody>
                  <a:tcPr marL="64008" marR="64008" marT="27432" marB="27432" anchor="ctr">
                    <a:solidFill>
                      <a:srgbClr val="FBEEE7"/>
                    </a:solidFill>
                  </a:tcPr>
                </a:tc>
                <a:tc>
                  <a:txBody>
                    <a:bodyPr wrap="square"/>
                    <a:lstStyle/>
                    <a:p>
                      <a:pPr algn="l"/>
                      <a:r>
                        <a:rPr sz="1000" b="0" i="0">
                          <a:solidFill>
                            <a:srgbClr val="C1521D"/>
                          </a:solidFill>
                          <a:latin typeface="Calibri"/>
                        </a:rPr>
                        <a:t>Construct a paired Bangla corpus, then model it</a:t>
                      </a:r>
                    </a:p>
                  </a:txBody>
                  <a:tcPr marL="64008" marR="64008" marT="27432" marB="27432" anchor="ctr">
                    <a:solidFill>
                      <a:srgbClr val="FBEEE7"/>
                    </a:solidFill>
                  </a:tcPr>
                </a:tc>
              </a:tr>
            </a:tbl>
          </a:graphicData>
        </a:graphic>
      </p:graphicFrame>
      <p:sp>
        <p:nvSpPr>
          <p:cNvPr id="5" name="Rectangle 4"/>
          <p:cNvSpPr/>
          <p:nvPr/>
        </p:nvSpPr>
        <p:spPr>
          <a:xfrm>
            <a:off x="566928" y="4809744"/>
            <a:ext cx="5358384" cy="1389888"/>
          </a:xfrm>
          <a:prstGeom prst="rect">
            <a:avLst/>
          </a:prstGeom>
          <a:solidFill>
            <a:srgbClr val="F4F7FA"/>
          </a:solidFill>
          <a:ln w="9525">
            <a:solidFill>
              <a:srgbClr val="D6DEE8"/>
            </a:solidFill>
          </a:ln>
          <a:effectLst/>
        </p:spPr>
        <p:txBody>
          <a:bodyPr rtlCol="0" anchor="ctr" wrap="square"/>
          <a:lstStyle/>
          <a:p>
            <a:pPr algn="ctr"/>
          </a:p>
        </p:txBody>
      </p:sp>
      <p:sp>
        <p:nvSpPr>
          <p:cNvPr id="6" name="TextBox 5"/>
          <p:cNvSpPr txBox="1"/>
          <p:nvPr/>
        </p:nvSpPr>
        <p:spPr>
          <a:xfrm>
            <a:off x="749808" y="4937759"/>
            <a:ext cx="4992624"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Explicitly OUT of scope for 499A</a:t>
            </a:r>
          </a:p>
        </p:txBody>
      </p:sp>
      <p:sp>
        <p:nvSpPr>
          <p:cNvPr id="7" name="TextBox 6"/>
          <p:cNvSpPr txBox="1"/>
          <p:nvPr/>
        </p:nvSpPr>
        <p:spPr>
          <a:xfrm>
            <a:off x="749808" y="5285231"/>
            <a:ext cx="4992624" cy="786384"/>
          </a:xfrm>
          <a:prstGeom prst="rect">
            <a:avLst/>
          </a:prstGeom>
          <a:noFill/>
        </p:spPr>
        <p:txBody>
          <a:bodyPr wrap="square" anchor="t" lIns="0" rIns="0" tIns="0" bIns="0">
            <a:spAutoFit/>
          </a:bodyPr>
          <a:lstStyle/>
          <a:p>
            <a:pPr algn="l" marL="146304" indent="-146304">
              <a:spcAft>
                <a:spcPts val="250"/>
              </a:spcAft>
              <a:buClr>
                <a:srgbClr val="C1521D"/>
              </a:buClr>
              <a:buFont typeface="Arial"/>
              <a:buChar char="•"/>
            </a:pPr>
            <a:r>
              <a:rPr sz="1000" b="0" i="0">
                <a:solidFill>
                  <a:srgbClr val="1A2330"/>
                </a:solidFill>
                <a:latin typeface="Calibri"/>
              </a:rPr>
              <a:t>No Bangla data was collected, trained on or evaluated</a:t>
            </a:r>
          </a:p>
          <a:p>
            <a:pPr algn="l" marL="146304" indent="-146304">
              <a:spcAft>
                <a:spcPts val="250"/>
              </a:spcAft>
              <a:buClr>
                <a:srgbClr val="C1521D"/>
              </a:buClr>
              <a:buFont typeface="Arial"/>
              <a:buChar char="•"/>
            </a:pPr>
            <a:r>
              <a:rPr sz="1000" b="0" i="0">
                <a:solidFill>
                  <a:srgbClr val="1A2330"/>
                </a:solidFill>
                <a:latin typeface="Calibri"/>
              </a:rPr>
              <a:t>No early-fusion model was implemented, and none is claimed</a:t>
            </a:r>
          </a:p>
          <a:p>
            <a:pPr algn="l" marL="146304" indent="-146304">
              <a:spcAft>
                <a:spcPts val="250"/>
              </a:spcAft>
              <a:buClr>
                <a:srgbClr val="C1521D"/>
              </a:buClr>
              <a:buFont typeface="Arial"/>
              <a:buChar char="•"/>
            </a:pPr>
            <a:r>
              <a:rPr sz="1000" b="0" i="0">
                <a:solidFill>
                  <a:srgbClr val="1A2330"/>
                </a:solidFill>
                <a:latin typeface="Calibri"/>
              </a:rPr>
              <a:t>No statistical significance test (McNemar / bootstrap) was run</a:t>
            </a:r>
          </a:p>
        </p:txBody>
      </p:sp>
      <p:sp>
        <p:nvSpPr>
          <p:cNvPr id="8" name="Rectangle 7"/>
          <p:cNvSpPr/>
          <p:nvPr/>
        </p:nvSpPr>
        <p:spPr>
          <a:xfrm>
            <a:off x="6236208" y="4809744"/>
            <a:ext cx="5367528" cy="1389888"/>
          </a:xfrm>
          <a:prstGeom prst="rect">
            <a:avLst/>
          </a:prstGeom>
          <a:solidFill>
            <a:srgbClr val="F4F7FA"/>
          </a:solidFill>
          <a:ln w="9525">
            <a:solidFill>
              <a:srgbClr val="D6DEE8"/>
            </a:solidFill>
          </a:ln>
          <a:effectLst/>
        </p:spPr>
        <p:txBody>
          <a:bodyPr rtlCol="0" anchor="ctr" wrap="square"/>
          <a:lstStyle/>
          <a:p>
            <a:pPr algn="ctr"/>
          </a:p>
        </p:txBody>
      </p:sp>
      <p:sp>
        <p:nvSpPr>
          <p:cNvPr id="9" name="TextBox 8"/>
          <p:cNvSpPr txBox="1"/>
          <p:nvPr/>
        </p:nvSpPr>
        <p:spPr>
          <a:xfrm>
            <a:off x="6419088" y="4937759"/>
            <a:ext cx="5001768"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Deliberate design decisions to defend</a:t>
            </a:r>
          </a:p>
        </p:txBody>
      </p:sp>
      <p:sp>
        <p:nvSpPr>
          <p:cNvPr id="10" name="TextBox 9"/>
          <p:cNvSpPr txBox="1"/>
          <p:nvPr/>
        </p:nvSpPr>
        <p:spPr>
          <a:xfrm>
            <a:off x="6419088" y="5285231"/>
            <a:ext cx="5001768" cy="786384"/>
          </a:xfrm>
          <a:prstGeom prst="rect">
            <a:avLst/>
          </a:prstGeom>
          <a:noFill/>
        </p:spPr>
        <p:txBody>
          <a:bodyPr wrap="square" anchor="t" lIns="0" rIns="0" tIns="0" bIns="0">
            <a:spAutoFit/>
          </a:bodyPr>
          <a:lstStyle/>
          <a:p>
            <a:pPr algn="l" marL="146304" indent="-146304">
              <a:spcAft>
                <a:spcPts val="250"/>
              </a:spcAft>
              <a:buClr>
                <a:srgbClr val="0E7C7B"/>
              </a:buClr>
              <a:buFont typeface="Arial"/>
              <a:buChar char="•"/>
            </a:pPr>
            <a:r>
              <a:rPr sz="1000" b="0" i="0">
                <a:solidFill>
                  <a:srgbClr val="1A2330"/>
                </a:solidFill>
                <a:latin typeface="Calibri"/>
              </a:rPr>
              <a:t>XLM-RoBERTa deployed although BERT-base scored 0.83 pp higher — traded for multilingual capability aligned with the Bangla roadmap</a:t>
            </a:r>
          </a:p>
          <a:p>
            <a:pPr algn="l" marL="146304" indent="-146304">
              <a:spcAft>
                <a:spcPts val="250"/>
              </a:spcAft>
              <a:buClr>
                <a:srgbClr val="0E7C7B"/>
              </a:buClr>
              <a:buFont typeface="Arial"/>
              <a:buChar char="•"/>
            </a:pPr>
            <a:r>
              <a:rPr sz="1000" b="0" i="0">
                <a:solidFill>
                  <a:srgbClr val="1A2330"/>
                </a:solidFill>
                <a:latin typeface="Calibri"/>
              </a:rPr>
              <a:t>English-only, Reddit-only: nothing here establishes transfer to Bangla or to professionally published news</a:t>
            </a:r>
          </a:p>
        </p:txBody>
      </p:sp>
      <p:sp>
        <p:nvSpPr>
          <p:cNvPr id="11" name="TextBox 10"/>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12" name="TextBox 11"/>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05  BENCHMARK</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Literature Benchmark and Comparative Matrix</a:t>
            </a:r>
          </a:p>
        </p:txBody>
      </p:sp>
      <p:sp>
        <p:nvSpPr>
          <p:cNvPr id="4" name="TextBox 3"/>
          <p:cNvSpPr txBox="1"/>
          <p:nvPr/>
        </p:nvSpPr>
        <p:spPr>
          <a:xfrm>
            <a:off x="548640" y="1188720"/>
            <a:ext cx="11057839" cy="274320"/>
          </a:xfrm>
          <a:prstGeom prst="rect">
            <a:avLst/>
          </a:prstGeom>
          <a:noFill/>
        </p:spPr>
        <p:txBody>
          <a:bodyPr wrap="square" anchor="t" lIns="0" rIns="0" tIns="0" bIns="0">
            <a:spAutoFit/>
          </a:bodyPr>
          <a:lstStyle/>
          <a:p>
            <a:pPr algn="l">
              <a:spcAft>
                <a:spcPts val="0"/>
              </a:spcAft>
            </a:pPr>
            <a:r>
              <a:rPr sz="1150" b="0" i="1">
                <a:solidFill>
                  <a:srgbClr val="5B6B7C"/>
                </a:solidFill>
                <a:latin typeface="Calibri"/>
              </a:rPr>
              <a:t>Published figures are quoted for orientation only — corpus size, label granularity and split protocol all differ</a:t>
            </a:r>
          </a:p>
        </p:txBody>
      </p:sp>
      <p:graphicFrame>
        <p:nvGraphicFramePr>
          <p:cNvPr id="5" name="Table 4"/>
          <p:cNvGraphicFramePr>
            <a:graphicFrameLocks noGrp="1"/>
          </p:cNvGraphicFramePr>
          <p:nvPr/>
        </p:nvGraphicFramePr>
        <p:xfrm>
          <a:off x="566928" y="1700784"/>
          <a:ext cx="11091672" cy="3250692"/>
        </p:xfrm>
        <a:graphic>
          <a:graphicData uri="http://schemas.openxmlformats.org/drawingml/2006/table">
            <a:tbl>
              <a:tblPr/>
              <a:tblGrid>
                <a:gridCol w="3063240"/>
                <a:gridCol w="2331720"/>
                <a:gridCol w="2377440"/>
                <a:gridCol w="1143000"/>
                <a:gridCol w="2176272"/>
              </a:tblGrid>
              <a:tr h="329184">
                <a:tc>
                  <a:txBody>
                    <a:bodyPr wrap="square"/>
                    <a:lstStyle/>
                    <a:p>
                      <a:pPr algn="l"/>
                      <a:r>
                        <a:rPr sz="960" b="1" i="0">
                          <a:solidFill>
                            <a:srgbClr val="FFFFFF"/>
                          </a:solidFill>
                          <a:latin typeface="Calibri"/>
                        </a:rPr>
                        <a:t>Work</a:t>
                      </a:r>
                    </a:p>
                  </a:txBody>
                  <a:tcPr marL="64008" marR="64008" marT="27432" marB="27432" anchor="ctr">
                    <a:solidFill>
                      <a:srgbClr val="12233C"/>
                    </a:solidFill>
                  </a:tcPr>
                </a:tc>
                <a:tc>
                  <a:txBody>
                    <a:bodyPr wrap="square"/>
                    <a:lstStyle/>
                    <a:p>
                      <a:pPr algn="l"/>
                      <a:r>
                        <a:rPr sz="960" b="1" i="0">
                          <a:solidFill>
                            <a:srgbClr val="FFFFFF"/>
                          </a:solidFill>
                          <a:latin typeface="Calibri"/>
                        </a:rPr>
                        <a:t>Corpus / task</a:t>
                      </a:r>
                    </a:p>
                  </a:txBody>
                  <a:tcPr marL="64008" marR="64008" marT="27432" marB="27432" anchor="ctr">
                    <a:solidFill>
                      <a:srgbClr val="12233C"/>
                    </a:solidFill>
                  </a:tcPr>
                </a:tc>
                <a:tc>
                  <a:txBody>
                    <a:bodyPr wrap="square"/>
                    <a:lstStyle/>
                    <a:p>
                      <a:pPr algn="l"/>
                      <a:r>
                        <a:rPr sz="960" b="1" i="0">
                          <a:solidFill>
                            <a:srgbClr val="FFFFFF"/>
                          </a:solidFill>
                          <a:latin typeface="Calibri"/>
                        </a:rPr>
                        <a:t>Modality</a:t>
                      </a:r>
                    </a:p>
                  </a:txBody>
                  <a:tcPr marL="64008" marR="64008" marT="27432" marB="27432" anchor="ctr">
                    <a:solidFill>
                      <a:srgbClr val="12233C"/>
                    </a:solidFill>
                  </a:tcPr>
                </a:tc>
                <a:tc>
                  <a:txBody>
                    <a:bodyPr wrap="square"/>
                    <a:lstStyle/>
                    <a:p>
                      <a:pPr algn="ctr"/>
                      <a:r>
                        <a:rPr sz="960" b="1" i="0">
                          <a:solidFill>
                            <a:srgbClr val="FFFFFF"/>
                          </a:solidFill>
                          <a:latin typeface="Calibri"/>
                        </a:rPr>
                        <a:t>Reported</a:t>
                      </a:r>
                    </a:p>
                  </a:txBody>
                  <a:tcPr marL="64008" marR="64008" marT="27432" marB="27432" anchor="ctr">
                    <a:solidFill>
                      <a:srgbClr val="12233C"/>
                    </a:solidFill>
                  </a:tcPr>
                </a:tc>
                <a:tc>
                  <a:txBody>
                    <a:bodyPr wrap="square"/>
                    <a:lstStyle/>
                    <a:p>
                      <a:pPr algn="l"/>
                      <a:r>
                        <a:rPr sz="960" b="1" i="0">
                          <a:solidFill>
                            <a:srgbClr val="FFFFFF"/>
                          </a:solidFill>
                          <a:latin typeface="Calibri"/>
                        </a:rPr>
                        <a:t>Directly comparable?</a:t>
                      </a:r>
                    </a:p>
                  </a:txBody>
                  <a:tcPr marL="64008" marR="64008" marT="27432" marB="27432" anchor="ctr">
                    <a:solidFill>
                      <a:srgbClr val="12233C"/>
                    </a:solidFill>
                  </a:tcPr>
                </a:tc>
              </a:tr>
              <a:tr h="324612">
                <a:tc>
                  <a:txBody>
                    <a:bodyPr wrap="square"/>
                    <a:lstStyle/>
                    <a:p>
                      <a:pPr algn="l"/>
                      <a:r>
                        <a:rPr sz="960" b="0" i="0">
                          <a:solidFill>
                            <a:srgbClr val="1A2330"/>
                          </a:solidFill>
                          <a:latin typeface="Calibri"/>
                        </a:rPr>
                        <a:t>Nakamura et al., LREC 2020 [3]</a:t>
                      </a:r>
                    </a:p>
                  </a:txBody>
                  <a:tcPr marL="64008" marR="64008" marT="27432" marB="27432" anchor="ctr">
                    <a:solidFill>
                      <a:srgbClr val="F4F7FA"/>
                    </a:solidFill>
                  </a:tcPr>
                </a:tc>
                <a:tc>
                  <a:txBody>
                    <a:bodyPr wrap="square"/>
                    <a:lstStyle/>
                    <a:p>
                      <a:pPr algn="l"/>
                      <a:r>
                        <a:rPr sz="960" b="0" i="0">
                          <a:solidFill>
                            <a:srgbClr val="1A2330"/>
                          </a:solidFill>
                          <a:latin typeface="Calibri"/>
                        </a:rPr>
                        <a:t>Fakeddit, full 1 M, 2-way</a:t>
                      </a:r>
                    </a:p>
                  </a:txBody>
                  <a:tcPr marL="64008" marR="64008" marT="27432" marB="27432" anchor="ctr">
                    <a:solidFill>
                      <a:srgbClr val="F4F7FA"/>
                    </a:solidFill>
                  </a:tcPr>
                </a:tc>
                <a:tc>
                  <a:txBody>
                    <a:bodyPr wrap="square"/>
                    <a:lstStyle/>
                    <a:p>
                      <a:pPr algn="l"/>
                      <a:r>
                        <a:rPr sz="960" b="0" i="0">
                          <a:solidFill>
                            <a:srgbClr val="1A2330"/>
                          </a:solidFill>
                          <a:latin typeface="Calibri"/>
                        </a:rPr>
                        <a:t>Text + image</a:t>
                      </a:r>
                    </a:p>
                  </a:txBody>
                  <a:tcPr marL="64008" marR="64008" marT="27432" marB="27432" anchor="ctr">
                    <a:solidFill>
                      <a:srgbClr val="F4F7FA"/>
                    </a:solidFill>
                  </a:tcPr>
                </a:tc>
                <a:tc>
                  <a:txBody>
                    <a:bodyPr wrap="square"/>
                    <a:lstStyle/>
                    <a:p>
                      <a:pPr algn="ctr"/>
                      <a:r>
                        <a:rPr sz="960" b="0" i="0">
                          <a:solidFill>
                            <a:srgbClr val="1A2330"/>
                          </a:solidFill>
                          <a:latin typeface="Calibri"/>
                        </a:rPr>
                        <a:t>≈ 0.89</a:t>
                      </a:r>
                    </a:p>
                  </a:txBody>
                  <a:tcPr marL="64008" marR="64008" marT="27432" marB="27432" anchor="ctr">
                    <a:solidFill>
                      <a:srgbClr val="F4F7FA"/>
                    </a:solidFill>
                  </a:tcPr>
                </a:tc>
                <a:tc>
                  <a:txBody>
                    <a:bodyPr wrap="square"/>
                    <a:lstStyle/>
                    <a:p>
                      <a:pPr algn="l"/>
                      <a:r>
                        <a:rPr sz="960" b="0" i="0">
                          <a:solidFill>
                            <a:srgbClr val="1A2330"/>
                          </a:solidFill>
                          <a:latin typeface="Calibri"/>
                        </a:rPr>
                        <a:t>No — full corpus, 58x our subset</a:t>
                      </a:r>
                    </a:p>
                  </a:txBody>
                  <a:tcPr marL="64008" marR="64008" marT="27432" marB="27432" anchor="ctr">
                    <a:solidFill>
                      <a:srgbClr val="F4F7FA"/>
                    </a:solidFill>
                  </a:tcPr>
                </a:tc>
              </a:tr>
              <a:tr h="324612">
                <a:tc>
                  <a:txBody>
                    <a:bodyPr wrap="square"/>
                    <a:lstStyle/>
                    <a:p>
                      <a:pPr algn="l"/>
                      <a:r>
                        <a:rPr sz="960" b="0" i="0">
                          <a:solidFill>
                            <a:srgbClr val="1A2330"/>
                          </a:solidFill>
                          <a:latin typeface="Calibri"/>
                        </a:rPr>
                        <a:t>Alonso-Bartolomé &amp; Segura-Bedmar [34]</a:t>
                      </a:r>
                    </a:p>
                  </a:txBody>
                  <a:tcPr marL="64008" marR="64008" marT="27432" marB="27432" anchor="ctr">
                    <a:solidFill>
                      <a:srgbClr val="FFFFFF"/>
                    </a:solidFill>
                  </a:tcPr>
                </a:tc>
                <a:tc>
                  <a:txBody>
                    <a:bodyPr wrap="square"/>
                    <a:lstStyle/>
                    <a:p>
                      <a:pPr algn="l"/>
                      <a:r>
                        <a:rPr sz="960" b="0" i="0">
                          <a:solidFill>
                            <a:srgbClr val="1A2330"/>
                          </a:solidFill>
                          <a:latin typeface="Calibri"/>
                        </a:rPr>
                        <a:t>Fakeddit, 6-way</a:t>
                      </a:r>
                    </a:p>
                  </a:txBody>
                  <a:tcPr marL="64008" marR="64008" marT="27432" marB="27432" anchor="ctr">
                    <a:solidFill>
                      <a:srgbClr val="FFFFFF"/>
                    </a:solidFill>
                  </a:tcPr>
                </a:tc>
                <a:tc>
                  <a:txBody>
                    <a:bodyPr wrap="square"/>
                    <a:lstStyle/>
                    <a:p>
                      <a:pPr algn="l"/>
                      <a:r>
                        <a:rPr sz="960" b="0" i="0">
                          <a:solidFill>
                            <a:srgbClr val="1A2330"/>
                          </a:solidFill>
                          <a:latin typeface="Calibri"/>
                        </a:rPr>
                        <a:t>Text + image CNN</a:t>
                      </a:r>
                    </a:p>
                  </a:txBody>
                  <a:tcPr marL="64008" marR="64008" marT="27432" marB="27432" anchor="ctr">
                    <a:solidFill>
                      <a:srgbClr val="FFFFFF"/>
                    </a:solidFill>
                  </a:tcPr>
                </a:tc>
                <a:tc>
                  <a:txBody>
                    <a:bodyPr wrap="square"/>
                    <a:lstStyle/>
                    <a:p>
                      <a:pPr algn="ctr"/>
                      <a:r>
                        <a:rPr sz="960" b="0" i="0">
                          <a:solidFill>
                            <a:srgbClr val="1A2330"/>
                          </a:solidFill>
                          <a:latin typeface="Calibri"/>
                        </a:rPr>
                        <a:t>≈ 0.87</a:t>
                      </a:r>
                    </a:p>
                  </a:txBody>
                  <a:tcPr marL="64008" marR="64008" marT="27432" marB="27432" anchor="ctr">
                    <a:solidFill>
                      <a:srgbClr val="FFFFFF"/>
                    </a:solidFill>
                  </a:tcPr>
                </a:tc>
                <a:tc>
                  <a:txBody>
                    <a:bodyPr wrap="square"/>
                    <a:lstStyle/>
                    <a:p>
                      <a:pPr algn="l"/>
                      <a:r>
                        <a:rPr sz="960" b="0" i="0">
                          <a:solidFill>
                            <a:srgbClr val="1A2330"/>
                          </a:solidFill>
                          <a:latin typeface="Calibri"/>
                        </a:rPr>
                        <a:t>No — different task granularity</a:t>
                      </a:r>
                    </a:p>
                  </a:txBody>
                  <a:tcPr marL="64008" marR="64008" marT="27432" marB="27432" anchor="ctr">
                    <a:solidFill>
                      <a:srgbClr val="FFFFFF"/>
                    </a:solidFill>
                  </a:tcPr>
                </a:tc>
              </a:tr>
              <a:tr h="324612">
                <a:tc>
                  <a:txBody>
                    <a:bodyPr wrap="square"/>
                    <a:lstStyle/>
                    <a:p>
                      <a:pPr algn="l"/>
                      <a:r>
                        <a:rPr sz="960" b="0" i="0">
                          <a:solidFill>
                            <a:srgbClr val="1A2330"/>
                          </a:solidFill>
                          <a:latin typeface="Calibri"/>
                        </a:rPr>
                        <a:t>Alonso-Bartolomé &amp; Segura-Bedmar [34]</a:t>
                      </a:r>
                    </a:p>
                  </a:txBody>
                  <a:tcPr marL="64008" marR="64008" marT="27432" marB="27432" anchor="ctr">
                    <a:solidFill>
                      <a:srgbClr val="F4F7FA"/>
                    </a:solidFill>
                  </a:tcPr>
                </a:tc>
                <a:tc>
                  <a:txBody>
                    <a:bodyPr wrap="square"/>
                    <a:lstStyle/>
                    <a:p>
                      <a:pPr algn="l"/>
                      <a:r>
                        <a:rPr sz="960" b="0" i="0">
                          <a:solidFill>
                            <a:srgbClr val="1A2330"/>
                          </a:solidFill>
                          <a:latin typeface="Calibri"/>
                        </a:rPr>
                        <a:t>Fakeddit, 6-way</a:t>
                      </a:r>
                    </a:p>
                  </a:txBody>
                  <a:tcPr marL="64008" marR="64008" marT="27432" marB="27432" anchor="ctr">
                    <a:solidFill>
                      <a:srgbClr val="F4F7FA"/>
                    </a:solidFill>
                  </a:tcPr>
                </a:tc>
                <a:tc>
                  <a:txBody>
                    <a:bodyPr wrap="square"/>
                    <a:lstStyle/>
                    <a:p>
                      <a:pPr algn="l"/>
                      <a:r>
                        <a:rPr sz="960" b="0" i="0">
                          <a:solidFill>
                            <a:srgbClr val="1A2330"/>
                          </a:solidFill>
                          <a:latin typeface="Calibri"/>
                        </a:rPr>
                        <a:t>BERT, text only</a:t>
                      </a:r>
                    </a:p>
                  </a:txBody>
                  <a:tcPr marL="64008" marR="64008" marT="27432" marB="27432" anchor="ctr">
                    <a:solidFill>
                      <a:srgbClr val="F4F7FA"/>
                    </a:solidFill>
                  </a:tcPr>
                </a:tc>
                <a:tc>
                  <a:txBody>
                    <a:bodyPr wrap="square"/>
                    <a:lstStyle/>
                    <a:p>
                      <a:pPr algn="ctr"/>
                      <a:r>
                        <a:rPr sz="960" b="0" i="0">
                          <a:solidFill>
                            <a:srgbClr val="1A2330"/>
                          </a:solidFill>
                          <a:latin typeface="Calibri"/>
                        </a:rPr>
                        <a:t>≈ 0.78</a:t>
                      </a:r>
                    </a:p>
                  </a:txBody>
                  <a:tcPr marL="64008" marR="64008" marT="27432" marB="27432" anchor="ctr">
                    <a:solidFill>
                      <a:srgbClr val="F4F7FA"/>
                    </a:solidFill>
                  </a:tcPr>
                </a:tc>
                <a:tc>
                  <a:txBody>
                    <a:bodyPr wrap="square"/>
                    <a:lstStyle/>
                    <a:p>
                      <a:pPr algn="l"/>
                      <a:r>
                        <a:rPr sz="960" b="0" i="0">
                          <a:solidFill>
                            <a:srgbClr val="1A2330"/>
                          </a:solidFill>
                          <a:latin typeface="Calibri"/>
                        </a:rPr>
                        <a:t>No — different task granularity</a:t>
                      </a:r>
                    </a:p>
                  </a:txBody>
                  <a:tcPr marL="64008" marR="64008" marT="27432" marB="27432" anchor="ctr">
                    <a:solidFill>
                      <a:srgbClr val="F4F7FA"/>
                    </a:solidFill>
                  </a:tcPr>
                </a:tc>
              </a:tr>
              <a:tr h="324612">
                <a:tc>
                  <a:txBody>
                    <a:bodyPr wrap="square"/>
                    <a:lstStyle/>
                    <a:p>
                      <a:pPr algn="l"/>
                      <a:r>
                        <a:rPr sz="960" b="0" i="0">
                          <a:solidFill>
                            <a:srgbClr val="1A2330"/>
                          </a:solidFill>
                          <a:latin typeface="Calibri"/>
                        </a:rPr>
                        <a:t>EANN, KDD 2018 [13]</a:t>
                      </a:r>
                    </a:p>
                  </a:txBody>
                  <a:tcPr marL="64008" marR="64008" marT="27432" marB="27432" anchor="ctr">
                    <a:solidFill>
                      <a:srgbClr val="FFFFFF"/>
                    </a:solidFill>
                  </a:tcPr>
                </a:tc>
                <a:tc>
                  <a:txBody>
                    <a:bodyPr wrap="square"/>
                    <a:lstStyle/>
                    <a:p>
                      <a:pPr algn="l"/>
                      <a:r>
                        <a:rPr sz="960" b="0" i="0">
                          <a:solidFill>
                            <a:srgbClr val="1A2330"/>
                          </a:solidFill>
                          <a:latin typeface="Calibri"/>
                        </a:rPr>
                        <a:t>Weibo / Twitter</a:t>
                      </a:r>
                    </a:p>
                  </a:txBody>
                  <a:tcPr marL="64008" marR="64008" marT="27432" marB="27432" anchor="ctr">
                    <a:solidFill>
                      <a:srgbClr val="FFFFFF"/>
                    </a:solidFill>
                  </a:tcPr>
                </a:tc>
                <a:tc>
                  <a:txBody>
                    <a:bodyPr wrap="square"/>
                    <a:lstStyle/>
                    <a:p>
                      <a:pPr algn="l"/>
                      <a:r>
                        <a:rPr sz="960" b="0" i="0">
                          <a:solidFill>
                            <a:srgbClr val="1A2330"/>
                          </a:solidFill>
                          <a:latin typeface="Calibri"/>
                        </a:rPr>
                        <a:t>Text + image + event adversary</a:t>
                      </a:r>
                    </a:p>
                  </a:txBody>
                  <a:tcPr marL="64008" marR="64008" marT="27432" marB="27432" anchor="ctr">
                    <a:solidFill>
                      <a:srgbClr val="FFFFFF"/>
                    </a:solidFill>
                  </a:tcPr>
                </a:tc>
                <a:tc>
                  <a:txBody>
                    <a:bodyPr wrap="square"/>
                    <a:lstStyle/>
                    <a:p>
                      <a:pPr algn="ctr"/>
                      <a:r>
                        <a:rPr sz="960" b="0" i="0">
                          <a:solidFill>
                            <a:srgbClr val="1A2330"/>
                          </a:solidFill>
                          <a:latin typeface="Calibri"/>
                        </a:rPr>
                        <a:t>—</a:t>
                      </a:r>
                    </a:p>
                  </a:txBody>
                  <a:tcPr marL="64008" marR="64008" marT="27432" marB="27432" anchor="ctr">
                    <a:solidFill>
                      <a:srgbClr val="FFFFFF"/>
                    </a:solidFill>
                  </a:tcPr>
                </a:tc>
                <a:tc>
                  <a:txBody>
                    <a:bodyPr wrap="square"/>
                    <a:lstStyle/>
                    <a:p>
                      <a:pPr algn="l"/>
                      <a:r>
                        <a:rPr sz="960" b="0" i="0">
                          <a:solidFill>
                            <a:srgbClr val="1A2330"/>
                          </a:solidFill>
                          <a:latin typeface="Calibri"/>
                        </a:rPr>
                        <a:t>No — different corpus</a:t>
                      </a:r>
                    </a:p>
                  </a:txBody>
                  <a:tcPr marL="64008" marR="64008" marT="27432" marB="27432" anchor="ctr">
                    <a:solidFill>
                      <a:srgbClr val="FFFFFF"/>
                    </a:solidFill>
                  </a:tcPr>
                </a:tc>
              </a:tr>
              <a:tr h="324612">
                <a:tc>
                  <a:txBody>
                    <a:bodyPr wrap="square"/>
                    <a:lstStyle/>
                    <a:p>
                      <a:pPr algn="l"/>
                      <a:r>
                        <a:rPr sz="960" b="0" i="0">
                          <a:solidFill>
                            <a:srgbClr val="1A2330"/>
                          </a:solidFill>
                          <a:latin typeface="Calibri"/>
                        </a:rPr>
                        <a:t>SpotFake, BigMM 2019 [15]</a:t>
                      </a:r>
                    </a:p>
                  </a:txBody>
                  <a:tcPr marL="64008" marR="64008" marT="27432" marB="27432" anchor="ctr">
                    <a:solidFill>
                      <a:srgbClr val="F4F7FA"/>
                    </a:solidFill>
                  </a:tcPr>
                </a:tc>
                <a:tc>
                  <a:txBody>
                    <a:bodyPr wrap="square"/>
                    <a:lstStyle/>
                    <a:p>
                      <a:pPr algn="l"/>
                      <a:r>
                        <a:rPr sz="960" b="0" i="0">
                          <a:solidFill>
                            <a:srgbClr val="1A2330"/>
                          </a:solidFill>
                          <a:latin typeface="Calibri"/>
                        </a:rPr>
                        <a:t>Twitter / Weibo</a:t>
                      </a:r>
                    </a:p>
                  </a:txBody>
                  <a:tcPr marL="64008" marR="64008" marT="27432" marB="27432" anchor="ctr">
                    <a:solidFill>
                      <a:srgbClr val="F4F7FA"/>
                    </a:solidFill>
                  </a:tcPr>
                </a:tc>
                <a:tc>
                  <a:txBody>
                    <a:bodyPr wrap="square"/>
                    <a:lstStyle/>
                    <a:p>
                      <a:pPr algn="l"/>
                      <a:r>
                        <a:rPr sz="960" b="0" i="0">
                          <a:solidFill>
                            <a:srgbClr val="1A2330"/>
                          </a:solidFill>
                          <a:latin typeface="Calibri"/>
                        </a:rPr>
                        <a:t>Frozen BERT + VGG-19</a:t>
                      </a:r>
                    </a:p>
                  </a:txBody>
                  <a:tcPr marL="64008" marR="64008" marT="27432" marB="27432" anchor="ctr">
                    <a:solidFill>
                      <a:srgbClr val="F4F7FA"/>
                    </a:solidFill>
                  </a:tcPr>
                </a:tc>
                <a:tc>
                  <a:txBody>
                    <a:bodyPr wrap="square"/>
                    <a:lstStyle/>
                    <a:p>
                      <a:pPr algn="ctr"/>
                      <a:r>
                        <a:rPr sz="960" b="0" i="0">
                          <a:solidFill>
                            <a:srgbClr val="1A2330"/>
                          </a:solidFill>
                          <a:latin typeface="Calibri"/>
                        </a:rPr>
                        <a:t>—</a:t>
                      </a:r>
                    </a:p>
                  </a:txBody>
                  <a:tcPr marL="64008" marR="64008" marT="27432" marB="27432" anchor="ctr">
                    <a:solidFill>
                      <a:srgbClr val="F4F7FA"/>
                    </a:solidFill>
                  </a:tcPr>
                </a:tc>
                <a:tc>
                  <a:txBody>
                    <a:bodyPr wrap="square"/>
                    <a:lstStyle/>
                    <a:p>
                      <a:pPr algn="l"/>
                      <a:r>
                        <a:rPr sz="960" b="0" i="0">
                          <a:solidFill>
                            <a:srgbClr val="1A2330"/>
                          </a:solidFill>
                          <a:latin typeface="Calibri"/>
                        </a:rPr>
                        <a:t>No — different corpus</a:t>
                      </a:r>
                    </a:p>
                  </a:txBody>
                  <a:tcPr marL="64008" marR="64008" marT="27432" marB="27432" anchor="ctr">
                    <a:solidFill>
                      <a:srgbClr val="F4F7FA"/>
                    </a:solidFill>
                  </a:tcPr>
                </a:tc>
              </a:tr>
              <a:tr h="324612">
                <a:tc>
                  <a:txBody>
                    <a:bodyPr wrap="square"/>
                    <a:lstStyle/>
                    <a:p>
                      <a:pPr algn="l"/>
                      <a:r>
                        <a:rPr sz="960" b="0" i="0">
                          <a:solidFill>
                            <a:srgbClr val="1A2330"/>
                          </a:solidFill>
                          <a:latin typeface="Calibri"/>
                        </a:rPr>
                        <a:t>BanFakeNews, LREC 2020 [20]</a:t>
                      </a:r>
                    </a:p>
                  </a:txBody>
                  <a:tcPr marL="64008" marR="64008" marT="27432" marB="27432" anchor="ctr">
                    <a:solidFill>
                      <a:srgbClr val="FFFFFF"/>
                    </a:solidFill>
                  </a:tcPr>
                </a:tc>
                <a:tc>
                  <a:txBody>
                    <a:bodyPr wrap="square"/>
                    <a:lstStyle/>
                    <a:p>
                      <a:pPr algn="l"/>
                      <a:r>
                        <a:rPr sz="960" b="0" i="0">
                          <a:solidFill>
                            <a:srgbClr val="1A2330"/>
                          </a:solidFill>
                          <a:latin typeface="Calibri"/>
                        </a:rPr>
                        <a:t>50 k Bangla articles</a:t>
                      </a:r>
                    </a:p>
                  </a:txBody>
                  <a:tcPr marL="64008" marR="64008" marT="27432" marB="27432" anchor="ctr">
                    <a:solidFill>
                      <a:srgbClr val="FFFFFF"/>
                    </a:solidFill>
                  </a:tcPr>
                </a:tc>
                <a:tc>
                  <a:txBody>
                    <a:bodyPr wrap="square"/>
                    <a:lstStyle/>
                    <a:p>
                      <a:pPr algn="l"/>
                      <a:r>
                        <a:rPr sz="960" b="0" i="0">
                          <a:solidFill>
                            <a:srgbClr val="1A2330"/>
                          </a:solidFill>
                          <a:latin typeface="Calibri"/>
                        </a:rPr>
                        <a:t>Text only</a:t>
                      </a:r>
                    </a:p>
                  </a:txBody>
                  <a:tcPr marL="64008" marR="64008" marT="27432" marB="27432" anchor="ctr">
                    <a:solidFill>
                      <a:srgbClr val="FFFFFF"/>
                    </a:solidFill>
                  </a:tcPr>
                </a:tc>
                <a:tc>
                  <a:txBody>
                    <a:bodyPr wrap="square"/>
                    <a:lstStyle/>
                    <a:p>
                      <a:pPr algn="ctr"/>
                      <a:r>
                        <a:rPr sz="960" b="0" i="0">
                          <a:solidFill>
                            <a:srgbClr val="1A2330"/>
                          </a:solidFill>
                          <a:latin typeface="Calibri"/>
                        </a:rPr>
                        <a:t>—</a:t>
                      </a:r>
                    </a:p>
                  </a:txBody>
                  <a:tcPr marL="64008" marR="64008" marT="27432" marB="27432" anchor="ctr">
                    <a:solidFill>
                      <a:srgbClr val="FFFFFF"/>
                    </a:solidFill>
                  </a:tcPr>
                </a:tc>
                <a:tc>
                  <a:txBody>
                    <a:bodyPr wrap="square"/>
                    <a:lstStyle/>
                    <a:p>
                      <a:pPr algn="l"/>
                      <a:r>
                        <a:rPr sz="960" b="0" i="0">
                          <a:solidFill>
                            <a:srgbClr val="1A2330"/>
                          </a:solidFill>
                          <a:latin typeface="Calibri"/>
                        </a:rPr>
                        <a:t>No — no image modality exists</a:t>
                      </a:r>
                    </a:p>
                  </a:txBody>
                  <a:tcPr marL="64008" marR="64008" marT="27432" marB="27432" anchor="ctr">
                    <a:solidFill>
                      <a:srgbClr val="FFFFFF"/>
                    </a:solidFill>
                  </a:tcPr>
                </a:tc>
              </a:tr>
              <a:tr h="324612">
                <a:tc>
                  <a:txBody>
                    <a:bodyPr wrap="square"/>
                    <a:lstStyle/>
                    <a:p>
                      <a:pPr algn="l"/>
                      <a:r>
                        <a:rPr sz="960" b="1" i="0">
                          <a:solidFill>
                            <a:srgbClr val="12233C"/>
                          </a:solidFill>
                          <a:latin typeface="Calibri"/>
                        </a:rPr>
                        <a:t>THIS WORK</a:t>
                      </a:r>
                    </a:p>
                  </a:txBody>
                  <a:tcPr marL="64008" marR="64008" marT="27432" marB="27432" anchor="ctr">
                    <a:solidFill>
                      <a:srgbClr val="E3F0EF"/>
                    </a:solidFill>
                  </a:tcPr>
                </a:tc>
                <a:tc>
                  <a:txBody>
                    <a:bodyPr wrap="square"/>
                    <a:lstStyle/>
                    <a:p>
                      <a:pPr algn="l"/>
                      <a:r>
                        <a:rPr sz="960" b="1" i="0">
                          <a:solidFill>
                            <a:srgbClr val="12233C"/>
                          </a:solidFill>
                          <a:latin typeface="Calibri"/>
                        </a:rPr>
                        <a:t>Fakeddit 17,045, 2-way</a:t>
                      </a:r>
                    </a:p>
                  </a:txBody>
                  <a:tcPr marL="64008" marR="64008" marT="27432" marB="27432" anchor="ctr">
                    <a:solidFill>
                      <a:srgbClr val="E3F0EF"/>
                    </a:solidFill>
                  </a:tcPr>
                </a:tc>
                <a:tc>
                  <a:txBody>
                    <a:bodyPr wrap="square"/>
                    <a:lstStyle/>
                    <a:p>
                      <a:pPr algn="l"/>
                      <a:r>
                        <a:rPr sz="960" b="1" i="0">
                          <a:solidFill>
                            <a:srgbClr val="12233C"/>
                          </a:solidFill>
                          <a:latin typeface="Calibri"/>
                        </a:rPr>
                        <a:t>BERT-base, text only</a:t>
                      </a:r>
                    </a:p>
                  </a:txBody>
                  <a:tcPr marL="64008" marR="64008" marT="27432" marB="27432" anchor="ctr">
                    <a:solidFill>
                      <a:srgbClr val="E3F0EF"/>
                    </a:solidFill>
                  </a:tcPr>
                </a:tc>
                <a:tc>
                  <a:txBody>
                    <a:bodyPr wrap="square"/>
                    <a:lstStyle/>
                    <a:p>
                      <a:pPr algn="ctr"/>
                      <a:r>
                        <a:rPr sz="960" b="1" i="0">
                          <a:solidFill>
                            <a:srgbClr val="12233C"/>
                          </a:solidFill>
                          <a:latin typeface="Calibri"/>
                        </a:rPr>
                        <a:t>0.8566</a:t>
                      </a:r>
                    </a:p>
                  </a:txBody>
                  <a:tcPr marL="64008" marR="64008" marT="27432" marB="27432" anchor="ctr">
                    <a:solidFill>
                      <a:srgbClr val="E3F0EF"/>
                    </a:solidFill>
                  </a:tcPr>
                </a:tc>
                <a:tc>
                  <a:txBody>
                    <a:bodyPr wrap="square"/>
                    <a:lstStyle/>
                    <a:p>
                      <a:pPr algn="l"/>
                      <a:r>
                        <a:rPr sz="960" b="1" i="0">
                          <a:solidFill>
                            <a:srgbClr val="12233C"/>
                          </a:solidFill>
                          <a:latin typeface="Calibri"/>
                        </a:rPr>
                        <a:t>Reference row</a:t>
                      </a:r>
                    </a:p>
                  </a:txBody>
                  <a:tcPr marL="64008" marR="64008" marT="27432" marB="27432" anchor="ctr">
                    <a:solidFill>
                      <a:srgbClr val="E3F0EF"/>
                    </a:solidFill>
                  </a:tcPr>
                </a:tc>
              </a:tr>
              <a:tr h="324612">
                <a:tc>
                  <a:txBody>
                    <a:bodyPr wrap="square"/>
                    <a:lstStyle/>
                    <a:p>
                      <a:pPr algn="l"/>
                      <a:r>
                        <a:rPr sz="960" b="1" i="0">
                          <a:solidFill>
                            <a:srgbClr val="12233C"/>
                          </a:solidFill>
                          <a:latin typeface="Calibri"/>
                        </a:rPr>
                        <a:t>THIS WORK</a:t>
                      </a:r>
                    </a:p>
                  </a:txBody>
                  <a:tcPr marL="64008" marR="64008" marT="27432" marB="27432" anchor="ctr">
                    <a:solidFill>
                      <a:srgbClr val="E3F0EF"/>
                    </a:solidFill>
                  </a:tcPr>
                </a:tc>
                <a:tc>
                  <a:txBody>
                    <a:bodyPr wrap="square"/>
                    <a:lstStyle/>
                    <a:p>
                      <a:pPr algn="l"/>
                      <a:r>
                        <a:rPr sz="960" b="1" i="0">
                          <a:solidFill>
                            <a:srgbClr val="12233C"/>
                          </a:solidFill>
                          <a:latin typeface="Calibri"/>
                        </a:rPr>
                        <a:t>Fakeddit 17,045, 2-way</a:t>
                      </a:r>
                    </a:p>
                  </a:txBody>
                  <a:tcPr marL="64008" marR="64008" marT="27432" marB="27432" anchor="ctr">
                    <a:solidFill>
                      <a:srgbClr val="E3F0EF"/>
                    </a:solidFill>
                  </a:tcPr>
                </a:tc>
                <a:tc>
                  <a:txBody>
                    <a:bodyPr wrap="square"/>
                    <a:lstStyle/>
                    <a:p>
                      <a:pPr algn="l"/>
                      <a:r>
                        <a:rPr sz="960" b="1" i="0">
                          <a:solidFill>
                            <a:srgbClr val="12233C"/>
                          </a:solidFill>
                          <a:latin typeface="Calibri"/>
                        </a:rPr>
                        <a:t>EfficientNet-B0, image only</a:t>
                      </a:r>
                    </a:p>
                  </a:txBody>
                  <a:tcPr marL="64008" marR="64008" marT="27432" marB="27432" anchor="ctr">
                    <a:solidFill>
                      <a:srgbClr val="E3F0EF"/>
                    </a:solidFill>
                  </a:tcPr>
                </a:tc>
                <a:tc>
                  <a:txBody>
                    <a:bodyPr wrap="square"/>
                    <a:lstStyle/>
                    <a:p>
                      <a:pPr algn="ctr"/>
                      <a:r>
                        <a:rPr sz="960" b="1" i="0">
                          <a:solidFill>
                            <a:srgbClr val="12233C"/>
                          </a:solidFill>
                          <a:latin typeface="Calibri"/>
                        </a:rPr>
                        <a:t>0.8208</a:t>
                      </a:r>
                    </a:p>
                  </a:txBody>
                  <a:tcPr marL="64008" marR="64008" marT="27432" marB="27432" anchor="ctr">
                    <a:solidFill>
                      <a:srgbClr val="E3F0EF"/>
                    </a:solidFill>
                  </a:tcPr>
                </a:tc>
                <a:tc>
                  <a:txBody>
                    <a:bodyPr wrap="square"/>
                    <a:lstStyle/>
                    <a:p>
                      <a:pPr algn="l"/>
                      <a:r>
                        <a:rPr sz="960" b="1" i="0">
                          <a:solidFill>
                            <a:srgbClr val="12233C"/>
                          </a:solidFill>
                          <a:latin typeface="Calibri"/>
                        </a:rPr>
                        <a:t>Reference row</a:t>
                      </a:r>
                    </a:p>
                  </a:txBody>
                  <a:tcPr marL="64008" marR="64008" marT="27432" marB="27432" anchor="ctr">
                    <a:solidFill>
                      <a:srgbClr val="E3F0EF"/>
                    </a:solidFill>
                  </a:tcPr>
                </a:tc>
              </a:tr>
              <a:tr h="324612">
                <a:tc>
                  <a:txBody>
                    <a:bodyPr wrap="square"/>
                    <a:lstStyle/>
                    <a:p>
                      <a:pPr algn="l"/>
                      <a:r>
                        <a:rPr sz="960" b="1" i="0">
                          <a:solidFill>
                            <a:srgbClr val="C1521D"/>
                          </a:solidFill>
                          <a:latin typeface="Calibri"/>
                        </a:rPr>
                        <a:t>THIS WORK</a:t>
                      </a:r>
                    </a:p>
                  </a:txBody>
                  <a:tcPr marL="64008" marR="64008" marT="27432" marB="27432" anchor="ctr">
                    <a:solidFill>
                      <a:srgbClr val="FBEEE7"/>
                    </a:solidFill>
                  </a:tcPr>
                </a:tc>
                <a:tc>
                  <a:txBody>
                    <a:bodyPr wrap="square"/>
                    <a:lstStyle/>
                    <a:p>
                      <a:pPr algn="l"/>
                      <a:r>
                        <a:rPr sz="960" b="1" i="0">
                          <a:solidFill>
                            <a:srgbClr val="C1521D"/>
                          </a:solidFill>
                          <a:latin typeface="Calibri"/>
                        </a:rPr>
                        <a:t>Fakeddit 17,045, 2-way</a:t>
                      </a:r>
                    </a:p>
                  </a:txBody>
                  <a:tcPr marL="64008" marR="64008" marT="27432" marB="27432" anchor="ctr">
                    <a:solidFill>
                      <a:srgbClr val="FBEEE7"/>
                    </a:solidFill>
                  </a:tcPr>
                </a:tc>
                <a:tc>
                  <a:txBody>
                    <a:bodyPr wrap="square"/>
                    <a:lstStyle/>
                    <a:p>
                      <a:pPr algn="l"/>
                      <a:r>
                        <a:rPr sz="960" b="1" i="0">
                          <a:solidFill>
                            <a:srgbClr val="C1521D"/>
                          </a:solidFill>
                          <a:latin typeface="Calibri"/>
                        </a:rPr>
                        <a:t>Weighted late fusion</a:t>
                      </a:r>
                    </a:p>
                  </a:txBody>
                  <a:tcPr marL="64008" marR="64008" marT="27432" marB="27432" anchor="ctr">
                    <a:solidFill>
                      <a:srgbClr val="FBEEE7"/>
                    </a:solidFill>
                  </a:tcPr>
                </a:tc>
                <a:tc>
                  <a:txBody>
                    <a:bodyPr wrap="square"/>
                    <a:lstStyle/>
                    <a:p>
                      <a:pPr algn="ctr"/>
                      <a:r>
                        <a:rPr sz="960" b="1" i="0">
                          <a:solidFill>
                            <a:srgbClr val="C1521D"/>
                          </a:solidFill>
                          <a:latin typeface="Calibri"/>
                        </a:rPr>
                        <a:t>INVALID</a:t>
                      </a:r>
                    </a:p>
                  </a:txBody>
                  <a:tcPr marL="64008" marR="64008" marT="27432" marB="27432" anchor="ctr">
                    <a:solidFill>
                      <a:srgbClr val="FBEEE7"/>
                    </a:solidFill>
                  </a:tcPr>
                </a:tc>
                <a:tc>
                  <a:txBody>
                    <a:bodyPr wrap="square"/>
                    <a:lstStyle/>
                    <a:p>
                      <a:pPr algn="l"/>
                      <a:r>
                        <a:rPr sz="960" b="1" i="0">
                          <a:solidFill>
                            <a:srgbClr val="C1521D"/>
                          </a:solidFill>
                          <a:latin typeface="Calibri"/>
                        </a:rPr>
                        <a:t>See defect D1, Slide 10</a:t>
                      </a:r>
                    </a:p>
                  </a:txBody>
                  <a:tcPr marL="64008" marR="64008" marT="27432" marB="27432" anchor="ctr">
                    <a:solidFill>
                      <a:srgbClr val="FBEEE7"/>
                    </a:solidFill>
                  </a:tcPr>
                </a:tc>
              </a:tr>
            </a:tbl>
          </a:graphicData>
        </a:graphic>
      </p:graphicFrame>
      <p:sp>
        <p:nvSpPr>
          <p:cNvPr id="6" name="Rectangle 5"/>
          <p:cNvSpPr/>
          <p:nvPr/>
        </p:nvSpPr>
        <p:spPr>
          <a:xfrm>
            <a:off x="566928" y="5138928"/>
            <a:ext cx="3520440" cy="1024128"/>
          </a:xfrm>
          <a:prstGeom prst="rect">
            <a:avLst/>
          </a:prstGeom>
          <a:solidFill>
            <a:srgbClr val="F4F7FA"/>
          </a:solidFill>
          <a:ln w="9525">
            <a:solidFill>
              <a:srgbClr val="D6DEE8"/>
            </a:solidFill>
          </a:ln>
          <a:effectLst/>
        </p:spPr>
        <p:txBody>
          <a:bodyPr rtlCol="0" anchor="ctr" wrap="square"/>
          <a:lstStyle/>
          <a:p>
            <a:pPr algn="ctr"/>
          </a:p>
        </p:txBody>
      </p:sp>
      <p:sp>
        <p:nvSpPr>
          <p:cNvPr id="7" name="TextBox 6"/>
          <p:cNvSpPr txBox="1"/>
          <p:nvPr/>
        </p:nvSpPr>
        <p:spPr>
          <a:xfrm>
            <a:off x="731520" y="5248656"/>
            <a:ext cx="3200400" cy="841248"/>
          </a:xfrm>
          <a:prstGeom prst="rect">
            <a:avLst/>
          </a:prstGeom>
          <a:noFill/>
        </p:spPr>
        <p:txBody>
          <a:bodyPr wrap="square" anchor="t" lIns="0" rIns="0" tIns="0" bIns="0">
            <a:spAutoFit/>
          </a:bodyPr>
          <a:lstStyle/>
          <a:p>
            <a:pPr algn="l">
              <a:spcAft>
                <a:spcPts val="200"/>
              </a:spcAft>
            </a:pPr>
            <a:r>
              <a:rPr sz="1100" b="1" i="0">
                <a:solidFill>
                  <a:srgbClr val="0E7C7B"/>
                </a:solidFill>
                <a:latin typeface="Calibri"/>
              </a:rPr>
              <a:t>Controlled comparison</a:t>
            </a:r>
          </a:p>
          <a:p>
            <a:pPr algn="l">
              <a:spcAft>
                <a:spcPts val="0"/>
              </a:spcAft>
            </a:pPr>
            <a:r>
              <a:rPr sz="930" b="0" i="0">
                <a:solidFill>
                  <a:srgbClr val="1A2330"/>
                </a:solidFill>
                <a:latin typeface="Calibri"/>
              </a:rPr>
              <a:t>Seven models, one corpus, one split, one budget. Most published comparisons vary corpus, split or schedule together with the architecture.</a:t>
            </a:r>
          </a:p>
        </p:txBody>
      </p:sp>
      <p:sp>
        <p:nvSpPr>
          <p:cNvPr id="8" name="Rectangle 7"/>
          <p:cNvSpPr/>
          <p:nvPr/>
        </p:nvSpPr>
        <p:spPr>
          <a:xfrm>
            <a:off x="4315968" y="5138928"/>
            <a:ext cx="3520440" cy="1024128"/>
          </a:xfrm>
          <a:prstGeom prst="rect">
            <a:avLst/>
          </a:prstGeom>
          <a:solidFill>
            <a:srgbClr val="F4F7FA"/>
          </a:solidFill>
          <a:ln w="9525">
            <a:solidFill>
              <a:srgbClr val="D6DEE8"/>
            </a:solidFill>
          </a:ln>
          <a:effectLst/>
        </p:spPr>
        <p:txBody>
          <a:bodyPr rtlCol="0" anchor="ctr" wrap="square"/>
          <a:lstStyle/>
          <a:p>
            <a:pPr algn="ctr"/>
          </a:p>
        </p:txBody>
      </p:sp>
      <p:sp>
        <p:nvSpPr>
          <p:cNvPr id="9" name="TextBox 8"/>
          <p:cNvSpPr txBox="1"/>
          <p:nvPr/>
        </p:nvSpPr>
        <p:spPr>
          <a:xfrm>
            <a:off x="4480559" y="5248656"/>
            <a:ext cx="3200400" cy="841248"/>
          </a:xfrm>
          <a:prstGeom prst="rect">
            <a:avLst/>
          </a:prstGeom>
          <a:noFill/>
        </p:spPr>
        <p:txBody>
          <a:bodyPr wrap="square" anchor="t" lIns="0" rIns="0" tIns="0" bIns="0">
            <a:spAutoFit/>
          </a:bodyPr>
          <a:lstStyle/>
          <a:p>
            <a:pPr algn="l">
              <a:spcAft>
                <a:spcPts val="200"/>
              </a:spcAft>
            </a:pPr>
            <a:r>
              <a:rPr sz="1100" b="1" i="0">
                <a:solidFill>
                  <a:srgbClr val="0E7C7B"/>
                </a:solidFill>
                <a:latin typeface="Calibri"/>
              </a:rPr>
              <a:t>Published audit trail</a:t>
            </a:r>
          </a:p>
          <a:p>
            <a:pPr algn="l">
              <a:spcAft>
                <a:spcPts val="0"/>
              </a:spcAft>
            </a:pPr>
            <a:r>
              <a:rPr sz="930" b="0" i="0">
                <a:solidFill>
                  <a:srgbClr val="1A2330"/>
                </a:solidFill>
                <a:latin typeface="Calibri"/>
              </a:rPr>
              <a:t>Every figure cross-checked against its notebook cell; 8 defects enumerated with evidence, effect and remedy.</a:t>
            </a:r>
          </a:p>
        </p:txBody>
      </p:sp>
      <p:sp>
        <p:nvSpPr>
          <p:cNvPr id="10" name="Rectangle 9"/>
          <p:cNvSpPr/>
          <p:nvPr/>
        </p:nvSpPr>
        <p:spPr>
          <a:xfrm>
            <a:off x="8065007" y="5138928"/>
            <a:ext cx="3520440" cy="1024128"/>
          </a:xfrm>
          <a:prstGeom prst="rect">
            <a:avLst/>
          </a:prstGeom>
          <a:solidFill>
            <a:srgbClr val="F4F7FA"/>
          </a:solidFill>
          <a:ln w="9525">
            <a:solidFill>
              <a:srgbClr val="D6DEE8"/>
            </a:solidFill>
          </a:ln>
          <a:effectLst/>
        </p:spPr>
        <p:txBody>
          <a:bodyPr rtlCol="0" anchor="ctr" wrap="square"/>
          <a:lstStyle/>
          <a:p>
            <a:pPr algn="ctr"/>
          </a:p>
        </p:txBody>
      </p:sp>
      <p:sp>
        <p:nvSpPr>
          <p:cNvPr id="11" name="TextBox 10"/>
          <p:cNvSpPr txBox="1"/>
          <p:nvPr/>
        </p:nvSpPr>
        <p:spPr>
          <a:xfrm>
            <a:off x="8229599" y="5248656"/>
            <a:ext cx="3200400" cy="841248"/>
          </a:xfrm>
          <a:prstGeom prst="rect">
            <a:avLst/>
          </a:prstGeom>
          <a:noFill/>
        </p:spPr>
        <p:txBody>
          <a:bodyPr wrap="square" anchor="t" lIns="0" rIns="0" tIns="0" bIns="0">
            <a:spAutoFit/>
          </a:bodyPr>
          <a:lstStyle/>
          <a:p>
            <a:pPr algn="l">
              <a:spcAft>
                <a:spcPts val="200"/>
              </a:spcAft>
            </a:pPr>
            <a:r>
              <a:rPr sz="1100" b="1" i="0">
                <a:solidFill>
                  <a:srgbClr val="0E7C7B"/>
                </a:solidFill>
                <a:latin typeface="Calibri"/>
              </a:rPr>
              <a:t>Corpus-first Bangla roadmap</a:t>
            </a:r>
          </a:p>
          <a:p>
            <a:pPr algn="l">
              <a:spcAft>
                <a:spcPts val="0"/>
              </a:spcAft>
            </a:pPr>
            <a:r>
              <a:rPr sz="930" b="0" i="0">
                <a:solidFill>
                  <a:srgbClr val="1A2330"/>
                </a:solidFill>
                <a:latin typeface="Calibri"/>
              </a:rPr>
              <a:t>We identify the blocking contribution as dataset construction, not another fusion variant.</a:t>
            </a:r>
          </a:p>
        </p:txBody>
      </p:sp>
      <p:sp>
        <p:nvSpPr>
          <p:cNvPr id="12" name="TextBox 11"/>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13" name="TextBox 12"/>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06  REQUIREMENTS</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Functional and Non-Functional System Requirements</a:t>
            </a:r>
          </a:p>
        </p:txBody>
      </p:sp>
      <p:sp>
        <p:nvSpPr>
          <p:cNvPr id="4" name="Rectangle 3"/>
          <p:cNvSpPr/>
          <p:nvPr/>
        </p:nvSpPr>
        <p:spPr>
          <a:xfrm>
            <a:off x="566928" y="1371600"/>
            <a:ext cx="5358384" cy="4846320"/>
          </a:xfrm>
          <a:prstGeom prst="rect">
            <a:avLst/>
          </a:prstGeom>
          <a:solidFill>
            <a:srgbClr val="F4F7FA"/>
          </a:solidFill>
          <a:ln w="9525">
            <a:solidFill>
              <a:srgbClr val="D6DEE8"/>
            </a:solidFill>
          </a:ln>
          <a:effectLst/>
        </p:spPr>
        <p:txBody>
          <a:bodyPr rtlCol="0" anchor="ctr" wrap="square"/>
          <a:lstStyle/>
          <a:p>
            <a:pPr algn="ctr"/>
          </a:p>
        </p:txBody>
      </p:sp>
      <p:sp>
        <p:nvSpPr>
          <p:cNvPr id="5" name="TextBox 4"/>
          <p:cNvSpPr txBox="1"/>
          <p:nvPr/>
        </p:nvSpPr>
        <p:spPr>
          <a:xfrm>
            <a:off x="768096" y="1481328"/>
            <a:ext cx="4956048" cy="274320"/>
          </a:xfrm>
          <a:prstGeom prst="rect">
            <a:avLst/>
          </a:prstGeom>
          <a:noFill/>
        </p:spPr>
        <p:txBody>
          <a:bodyPr wrap="square" anchor="t" lIns="0" rIns="0" tIns="0" bIns="0">
            <a:spAutoFit/>
          </a:bodyPr>
          <a:lstStyle/>
          <a:p>
            <a:pPr algn="l">
              <a:spcAft>
                <a:spcPts val="0"/>
              </a:spcAft>
            </a:pPr>
            <a:r>
              <a:rPr sz="1400" b="1" i="0">
                <a:solidFill>
                  <a:srgbClr val="12233C"/>
                </a:solidFill>
                <a:latin typeface="Cambria"/>
              </a:rPr>
              <a:t>Functional requirements</a:t>
            </a:r>
          </a:p>
        </p:txBody>
      </p:sp>
      <p:sp>
        <p:nvSpPr>
          <p:cNvPr id="6" name="Rounded Rectangle 5"/>
          <p:cNvSpPr/>
          <p:nvPr/>
        </p:nvSpPr>
        <p:spPr>
          <a:xfrm>
            <a:off x="768096" y="1842516"/>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FR1</a:t>
            </a:r>
          </a:p>
        </p:txBody>
      </p:sp>
      <p:sp>
        <p:nvSpPr>
          <p:cNvPr id="7" name="TextBox 6"/>
          <p:cNvSpPr txBox="1"/>
          <p:nvPr/>
        </p:nvSpPr>
        <p:spPr>
          <a:xfrm>
            <a:off x="1280160" y="1810512"/>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Accept a headline string and an image (file upload or URL)</a:t>
            </a:r>
          </a:p>
        </p:txBody>
      </p:sp>
      <p:sp>
        <p:nvSpPr>
          <p:cNvPr id="8" name="Rounded Rectangle 7"/>
          <p:cNvSpPr/>
          <p:nvPr/>
        </p:nvSpPr>
        <p:spPr>
          <a:xfrm>
            <a:off x="768096" y="2221992"/>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FR2</a:t>
            </a:r>
          </a:p>
        </p:txBody>
      </p:sp>
      <p:sp>
        <p:nvSpPr>
          <p:cNvPr id="9" name="TextBox 8"/>
          <p:cNvSpPr txBox="1"/>
          <p:nvPr/>
        </p:nvSpPr>
        <p:spPr>
          <a:xfrm>
            <a:off x="1280160" y="2189988"/>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Preprocess text exactly as in training: cast to str, lower-case, model tokenizer, max_length = 128, pad and truncate</a:t>
            </a:r>
          </a:p>
        </p:txBody>
      </p:sp>
      <p:sp>
        <p:nvSpPr>
          <p:cNvPr id="10" name="Rounded Rectangle 9"/>
          <p:cNvSpPr/>
          <p:nvPr/>
        </p:nvSpPr>
        <p:spPr>
          <a:xfrm>
            <a:off x="768096" y="2720340"/>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FR3</a:t>
            </a:r>
          </a:p>
        </p:txBody>
      </p:sp>
      <p:sp>
        <p:nvSpPr>
          <p:cNvPr id="11" name="TextBox 10"/>
          <p:cNvSpPr txBox="1"/>
          <p:nvPr/>
        </p:nvSpPr>
        <p:spPr>
          <a:xfrm>
            <a:off x="1280160" y="2688336"/>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Preprocess image exactly as in training: Resize(224,224), ToTensor, ImageNet Normalize (0.485/0.456/0.406, 0.229/0.224/0.225)</a:t>
            </a:r>
          </a:p>
        </p:txBody>
      </p:sp>
      <p:sp>
        <p:nvSpPr>
          <p:cNvPr id="12" name="Rounded Rectangle 11"/>
          <p:cNvSpPr/>
          <p:nvPr/>
        </p:nvSpPr>
        <p:spPr>
          <a:xfrm>
            <a:off x="768096" y="3218688"/>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FR4</a:t>
            </a:r>
          </a:p>
        </p:txBody>
      </p:sp>
      <p:sp>
        <p:nvSpPr>
          <p:cNvPr id="13" name="TextBox 12"/>
          <p:cNvSpPr txBox="1"/>
          <p:nvPr/>
        </p:nvSpPr>
        <p:spPr>
          <a:xfrm>
            <a:off x="1280160" y="3186684"/>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Produce a text class distribution P_text from XLM-RoBERTa-base</a:t>
            </a:r>
          </a:p>
        </p:txBody>
      </p:sp>
      <p:sp>
        <p:nvSpPr>
          <p:cNvPr id="14" name="Rounded Rectangle 13"/>
          <p:cNvSpPr/>
          <p:nvPr/>
        </p:nvSpPr>
        <p:spPr>
          <a:xfrm>
            <a:off x="768096" y="3598164"/>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FR5</a:t>
            </a:r>
          </a:p>
        </p:txBody>
      </p:sp>
      <p:sp>
        <p:nvSpPr>
          <p:cNvPr id="15" name="TextBox 14"/>
          <p:cNvSpPr txBox="1"/>
          <p:nvPr/>
        </p:nvSpPr>
        <p:spPr>
          <a:xfrm>
            <a:off x="1280160" y="3566160"/>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Produce an image class distribution P_image from ResNet-50</a:t>
            </a:r>
          </a:p>
        </p:txBody>
      </p:sp>
      <p:sp>
        <p:nvSpPr>
          <p:cNvPr id="16" name="Rounded Rectangle 15"/>
          <p:cNvSpPr/>
          <p:nvPr/>
        </p:nvSpPr>
        <p:spPr>
          <a:xfrm>
            <a:off x="768096" y="3977639"/>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FR6</a:t>
            </a:r>
          </a:p>
        </p:txBody>
      </p:sp>
      <p:sp>
        <p:nvSpPr>
          <p:cNvPr id="17" name="TextBox 16"/>
          <p:cNvSpPr txBox="1"/>
          <p:nvPr/>
        </p:nvSpPr>
        <p:spPr>
          <a:xfrm>
            <a:off x="1280160" y="3945636"/>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Fuse: P_fused(c) = α P_text(c|t) + (1−α) P_image(c|v); verdict = argmax, confidence = max</a:t>
            </a:r>
          </a:p>
        </p:txBody>
      </p:sp>
      <p:sp>
        <p:nvSpPr>
          <p:cNvPr id="18" name="Rounded Rectangle 17"/>
          <p:cNvSpPr/>
          <p:nvPr/>
        </p:nvSpPr>
        <p:spPr>
          <a:xfrm>
            <a:off x="768096" y="4475988"/>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FR7</a:t>
            </a:r>
          </a:p>
        </p:txBody>
      </p:sp>
      <p:sp>
        <p:nvSpPr>
          <p:cNvPr id="19" name="TextBox 18"/>
          <p:cNvSpPr txBox="1"/>
          <p:nvPr/>
        </p:nvSpPr>
        <p:spPr>
          <a:xfrm>
            <a:off x="1280160" y="4443984"/>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Render verdict, both branch confidences, and a branch-agreement note</a:t>
            </a:r>
          </a:p>
        </p:txBody>
      </p:sp>
      <p:sp>
        <p:nvSpPr>
          <p:cNvPr id="20" name="Rounded Rectangle 19"/>
          <p:cNvSpPr/>
          <p:nvPr/>
        </p:nvSpPr>
        <p:spPr>
          <a:xfrm>
            <a:off x="768096" y="4855464"/>
            <a:ext cx="42062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FR8</a:t>
            </a:r>
          </a:p>
        </p:txBody>
      </p:sp>
      <p:sp>
        <p:nvSpPr>
          <p:cNvPr id="21" name="TextBox 20"/>
          <p:cNvSpPr txBox="1"/>
          <p:nvPr/>
        </p:nvSpPr>
        <p:spPr>
          <a:xfrm>
            <a:off x="1280160" y="4823460"/>
            <a:ext cx="4480560" cy="548640"/>
          </a:xfrm>
          <a:prstGeom prst="rect">
            <a:avLst/>
          </a:prstGeom>
          <a:noFill/>
        </p:spPr>
        <p:txBody>
          <a:bodyPr wrap="square" anchor="t" lIns="0" rIns="0" tIns="0" bIns="0">
            <a:spAutoFit/>
          </a:bodyPr>
          <a:lstStyle/>
          <a:p>
            <a:pPr algn="l">
              <a:spcAft>
                <a:spcPts val="0"/>
              </a:spcAft>
            </a:pPr>
            <a:r>
              <a:rPr sz="1000" b="0" i="0">
                <a:solidFill>
                  <a:srgbClr val="1A2330"/>
                </a:solidFill>
                <a:latin typeface="Calibri"/>
              </a:rPr>
              <a:t>Load exported checkpoints once per session (@st.cache_resource)</a:t>
            </a:r>
          </a:p>
        </p:txBody>
      </p:sp>
      <p:sp>
        <p:nvSpPr>
          <p:cNvPr id="22" name="Rectangle 21"/>
          <p:cNvSpPr/>
          <p:nvPr/>
        </p:nvSpPr>
        <p:spPr>
          <a:xfrm>
            <a:off x="877824" y="5138928"/>
            <a:ext cx="5138928" cy="932688"/>
          </a:xfrm>
          <a:prstGeom prst="rect">
            <a:avLst/>
          </a:prstGeom>
          <a:solidFill>
            <a:srgbClr val="E9F0EF"/>
          </a:solidFill>
          <a:ln w="9525">
            <a:solidFill>
              <a:srgbClr val="C2D9D7"/>
            </a:solidFill>
          </a:ln>
          <a:effectLst/>
        </p:spPr>
        <p:txBody>
          <a:bodyPr rtlCol="0" anchor="ctr" wrap="square"/>
          <a:lstStyle/>
          <a:p>
            <a:pPr algn="ctr"/>
          </a:p>
        </p:txBody>
      </p:sp>
      <p:sp>
        <p:nvSpPr>
          <p:cNvPr id="23" name="TextBox 22"/>
          <p:cNvSpPr txBox="1"/>
          <p:nvPr/>
        </p:nvSpPr>
        <p:spPr>
          <a:xfrm>
            <a:off x="1042416" y="5248656"/>
            <a:ext cx="4809744" cy="749808"/>
          </a:xfrm>
          <a:prstGeom prst="rect">
            <a:avLst/>
          </a:prstGeom>
          <a:noFill/>
        </p:spPr>
        <p:txBody>
          <a:bodyPr wrap="square" anchor="t" lIns="0" rIns="0" tIns="0" bIns="0">
            <a:spAutoFit/>
          </a:bodyPr>
          <a:lstStyle/>
          <a:p>
            <a:pPr algn="l">
              <a:spcAft>
                <a:spcPts val="200"/>
              </a:spcAft>
            </a:pPr>
            <a:r>
              <a:rPr sz="940" b="1" i="0">
                <a:solidFill>
                  <a:srgbClr val="12233C"/>
                </a:solidFill>
                <a:latin typeface="Calibri"/>
              </a:rPr>
              <a:t>All eight functional requirements are implemented in app.py (459 lines).</a:t>
            </a:r>
          </a:p>
          <a:p>
            <a:pPr algn="l">
              <a:spcAft>
                <a:spcPts val="0"/>
              </a:spcAft>
            </a:pPr>
            <a:r>
              <a:rPr sz="880" b="0" i="0">
                <a:solidFill>
                  <a:srgbClr val="1A2330"/>
                </a:solidFill>
                <a:latin typeface="Calibri"/>
              </a:rPr>
              <a:t>FR6 is the one to watch: α = 0.60 in the application but α = 0.50 in the offline evaluation cell, so the configuration the user actually runs has never been measured (defect D2).</a:t>
            </a:r>
          </a:p>
        </p:txBody>
      </p:sp>
      <p:sp>
        <p:nvSpPr>
          <p:cNvPr id="24" name="Rectangle 23"/>
          <p:cNvSpPr/>
          <p:nvPr/>
        </p:nvSpPr>
        <p:spPr>
          <a:xfrm>
            <a:off x="6236208" y="1371600"/>
            <a:ext cx="5367528" cy="4846320"/>
          </a:xfrm>
          <a:prstGeom prst="rect">
            <a:avLst/>
          </a:prstGeom>
          <a:solidFill>
            <a:srgbClr val="F4F7FA"/>
          </a:solidFill>
          <a:ln w="9525">
            <a:solidFill>
              <a:srgbClr val="D6DEE8"/>
            </a:solidFill>
          </a:ln>
          <a:effectLst/>
        </p:spPr>
        <p:txBody>
          <a:bodyPr rtlCol="0" anchor="ctr" wrap="square"/>
          <a:lstStyle/>
          <a:p>
            <a:pPr algn="ctr"/>
          </a:p>
        </p:txBody>
      </p:sp>
      <p:sp>
        <p:nvSpPr>
          <p:cNvPr id="25" name="TextBox 24"/>
          <p:cNvSpPr txBox="1"/>
          <p:nvPr/>
        </p:nvSpPr>
        <p:spPr>
          <a:xfrm>
            <a:off x="6437376" y="1481328"/>
            <a:ext cx="4965192" cy="274320"/>
          </a:xfrm>
          <a:prstGeom prst="rect">
            <a:avLst/>
          </a:prstGeom>
          <a:noFill/>
        </p:spPr>
        <p:txBody>
          <a:bodyPr wrap="square" anchor="t" lIns="0" rIns="0" tIns="0" bIns="0">
            <a:spAutoFit/>
          </a:bodyPr>
          <a:lstStyle/>
          <a:p>
            <a:pPr algn="l">
              <a:spcAft>
                <a:spcPts val="0"/>
              </a:spcAft>
            </a:pPr>
            <a:r>
              <a:rPr sz="1400" b="1" i="0">
                <a:solidFill>
                  <a:srgbClr val="12233C"/>
                </a:solidFill>
                <a:latin typeface="Cambria"/>
              </a:rPr>
              <a:t>Non-functional requirements</a:t>
            </a:r>
          </a:p>
        </p:txBody>
      </p:sp>
      <p:sp>
        <p:nvSpPr>
          <p:cNvPr id="26" name="Rounded Rectangle 25"/>
          <p:cNvSpPr/>
          <p:nvPr/>
        </p:nvSpPr>
        <p:spPr>
          <a:xfrm>
            <a:off x="6437376" y="1842516"/>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NFR1</a:t>
            </a:r>
          </a:p>
        </p:txBody>
      </p:sp>
      <p:sp>
        <p:nvSpPr>
          <p:cNvPr id="27" name="TextBox 26"/>
          <p:cNvSpPr txBox="1"/>
          <p:nvPr/>
        </p:nvSpPr>
        <p:spPr>
          <a:xfrm>
            <a:off x="7040880" y="1810512"/>
            <a:ext cx="3063240" cy="256032"/>
          </a:xfrm>
          <a:prstGeom prst="rect">
            <a:avLst/>
          </a:prstGeom>
          <a:noFill/>
        </p:spPr>
        <p:txBody>
          <a:bodyPr wrap="square" anchor="t" lIns="0" rIns="0" tIns="0" bIns="0">
            <a:spAutoFit/>
          </a:bodyPr>
          <a:lstStyle/>
          <a:p>
            <a:pPr algn="l">
              <a:spcAft>
                <a:spcPts val="0"/>
              </a:spcAft>
            </a:pPr>
            <a:r>
              <a:rPr sz="1000" b="1" i="0">
                <a:solidFill>
                  <a:srgbClr val="12233C"/>
                </a:solidFill>
                <a:latin typeface="Calibri"/>
              </a:rPr>
              <a:t>Train / serve preprocessing parity</a:t>
            </a:r>
          </a:p>
        </p:txBody>
      </p:sp>
      <p:sp>
        <p:nvSpPr>
          <p:cNvPr id="28" name="Rounded Rectangle 27"/>
          <p:cNvSpPr/>
          <p:nvPr/>
        </p:nvSpPr>
        <p:spPr>
          <a:xfrm>
            <a:off x="10259567" y="1842516"/>
            <a:ext cx="1133856" cy="219456"/>
          </a:xfrm>
          <a:prstGeom prst="roundRect">
            <a:avLst>
              <a:gd name="adj" fmla="val 45000"/>
            </a:avLst>
          </a:prstGeom>
          <a:solidFill>
            <a:srgbClr val="0E7C7B"/>
          </a:solidFill>
          <a:ln>
            <a:noFill/>
          </a:ln>
          <a:effectLst/>
        </p:spPr>
        <p:txBody>
          <a:bodyPr rtlCol="0" anchor="ctr" wrap="none" lIns="54864" rIns="54864" tIns="0" bIns="0"/>
          <a:lstStyle/>
          <a:p>
            <a:pPr algn="ctr"/>
            <a:r>
              <a:rPr sz="819" b="1">
                <a:solidFill>
                  <a:srgbClr val="FFFFFF"/>
                </a:solidFill>
                <a:latin typeface="Calibri"/>
              </a:rPr>
              <a:t>MET</a:t>
            </a:r>
          </a:p>
        </p:txBody>
      </p:sp>
      <p:sp>
        <p:nvSpPr>
          <p:cNvPr id="29" name="TextBox 28"/>
          <p:cNvSpPr txBox="1"/>
          <p:nvPr/>
        </p:nvSpPr>
        <p:spPr>
          <a:xfrm>
            <a:off x="7040880" y="2080260"/>
            <a:ext cx="4160520" cy="256032"/>
          </a:xfrm>
          <a:prstGeom prst="rect">
            <a:avLst/>
          </a:prstGeom>
          <a:noFill/>
        </p:spPr>
        <p:txBody>
          <a:bodyPr wrap="square" anchor="t" lIns="0" rIns="0" tIns="0" bIns="0">
            <a:spAutoFit/>
          </a:bodyPr>
          <a:lstStyle/>
          <a:p>
            <a:pPr algn="l">
              <a:spcAft>
                <a:spcPts val="0"/>
              </a:spcAft>
            </a:pPr>
            <a:r>
              <a:rPr sz="880" b="0" i="0">
                <a:solidFill>
                  <a:srgbClr val="5B6B7C"/>
                </a:solidFill>
                <a:latin typeface="Calibri"/>
              </a:rPr>
              <a:t>Same 128-token cap and same normalisation constants in app and notebook</a:t>
            </a:r>
          </a:p>
        </p:txBody>
      </p:sp>
      <p:sp>
        <p:nvSpPr>
          <p:cNvPr id="30" name="Rounded Rectangle 29"/>
          <p:cNvSpPr/>
          <p:nvPr/>
        </p:nvSpPr>
        <p:spPr>
          <a:xfrm>
            <a:off x="6437376" y="2450592"/>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NFR2</a:t>
            </a:r>
          </a:p>
        </p:txBody>
      </p:sp>
      <p:sp>
        <p:nvSpPr>
          <p:cNvPr id="31" name="TextBox 30"/>
          <p:cNvSpPr txBox="1"/>
          <p:nvPr/>
        </p:nvSpPr>
        <p:spPr>
          <a:xfrm>
            <a:off x="7040880" y="2418588"/>
            <a:ext cx="3063240" cy="256032"/>
          </a:xfrm>
          <a:prstGeom prst="rect">
            <a:avLst/>
          </a:prstGeom>
          <a:noFill/>
        </p:spPr>
        <p:txBody>
          <a:bodyPr wrap="square" anchor="t" lIns="0" rIns="0" tIns="0" bIns="0">
            <a:spAutoFit/>
          </a:bodyPr>
          <a:lstStyle/>
          <a:p>
            <a:pPr algn="l">
              <a:spcAft>
                <a:spcPts val="0"/>
              </a:spcAft>
            </a:pPr>
            <a:r>
              <a:rPr sz="1000" b="1" i="0">
                <a:solidFill>
                  <a:srgbClr val="12233C"/>
                </a:solidFill>
                <a:latin typeface="Calibri"/>
              </a:rPr>
              <a:t>Reproducibility</a:t>
            </a:r>
          </a:p>
        </p:txBody>
      </p:sp>
      <p:sp>
        <p:nvSpPr>
          <p:cNvPr id="32" name="Rounded Rectangle 31"/>
          <p:cNvSpPr/>
          <p:nvPr/>
        </p:nvSpPr>
        <p:spPr>
          <a:xfrm>
            <a:off x="10259567" y="2450592"/>
            <a:ext cx="1133856" cy="219456"/>
          </a:xfrm>
          <a:prstGeom prst="roundRect">
            <a:avLst>
              <a:gd name="adj" fmla="val 45000"/>
            </a:avLst>
          </a:prstGeom>
          <a:solidFill>
            <a:srgbClr val="0E7C7B"/>
          </a:solidFill>
          <a:ln>
            <a:noFill/>
          </a:ln>
          <a:effectLst/>
        </p:spPr>
        <p:txBody>
          <a:bodyPr rtlCol="0" anchor="ctr" wrap="none" lIns="54864" rIns="54864" tIns="0" bIns="0"/>
          <a:lstStyle/>
          <a:p>
            <a:pPr algn="ctr"/>
            <a:r>
              <a:rPr sz="819" b="1">
                <a:solidFill>
                  <a:srgbClr val="FFFFFF"/>
                </a:solidFill>
                <a:latin typeface="Calibri"/>
              </a:rPr>
              <a:t>MET</a:t>
            </a:r>
          </a:p>
        </p:txBody>
      </p:sp>
      <p:sp>
        <p:nvSpPr>
          <p:cNvPr id="33" name="TextBox 32"/>
          <p:cNvSpPr txBox="1"/>
          <p:nvPr/>
        </p:nvSpPr>
        <p:spPr>
          <a:xfrm>
            <a:off x="7040880" y="2688336"/>
            <a:ext cx="4160520" cy="256032"/>
          </a:xfrm>
          <a:prstGeom prst="rect">
            <a:avLst/>
          </a:prstGeom>
          <a:noFill/>
        </p:spPr>
        <p:txBody>
          <a:bodyPr wrap="square" anchor="t" lIns="0" rIns="0" tIns="0" bIns="0">
            <a:spAutoFit/>
          </a:bodyPr>
          <a:lstStyle/>
          <a:p>
            <a:pPr algn="l">
              <a:spcAft>
                <a:spcPts val="0"/>
              </a:spcAft>
            </a:pPr>
            <a:r>
              <a:rPr sz="880" b="0" i="0">
                <a:solidFill>
                  <a:srgbClr val="5B6B7C"/>
                </a:solidFill>
                <a:latin typeface="Calibri"/>
              </a:rPr>
              <a:t>Fixed seed 42, stratified split; every metric traceable to a stored cell</a:t>
            </a:r>
          </a:p>
        </p:txBody>
      </p:sp>
      <p:sp>
        <p:nvSpPr>
          <p:cNvPr id="34" name="Rounded Rectangle 33"/>
          <p:cNvSpPr/>
          <p:nvPr/>
        </p:nvSpPr>
        <p:spPr>
          <a:xfrm>
            <a:off x="6437376" y="3058668"/>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NFR3</a:t>
            </a:r>
          </a:p>
        </p:txBody>
      </p:sp>
      <p:sp>
        <p:nvSpPr>
          <p:cNvPr id="35" name="TextBox 34"/>
          <p:cNvSpPr txBox="1"/>
          <p:nvPr/>
        </p:nvSpPr>
        <p:spPr>
          <a:xfrm>
            <a:off x="7040880" y="3026664"/>
            <a:ext cx="3063240" cy="256032"/>
          </a:xfrm>
          <a:prstGeom prst="rect">
            <a:avLst/>
          </a:prstGeom>
          <a:noFill/>
        </p:spPr>
        <p:txBody>
          <a:bodyPr wrap="square" anchor="t" lIns="0" rIns="0" tIns="0" bIns="0">
            <a:spAutoFit/>
          </a:bodyPr>
          <a:lstStyle/>
          <a:p>
            <a:pPr algn="l">
              <a:spcAft>
                <a:spcPts val="0"/>
              </a:spcAft>
            </a:pPr>
            <a:r>
              <a:rPr sz="1000" b="1" i="0">
                <a:solidFill>
                  <a:srgbClr val="12233C"/>
                </a:solidFill>
                <a:latin typeface="Calibri"/>
              </a:rPr>
              <a:t>Interactive single-item latency</a:t>
            </a:r>
          </a:p>
        </p:txBody>
      </p:sp>
      <p:sp>
        <p:nvSpPr>
          <p:cNvPr id="36" name="Rounded Rectangle 35"/>
          <p:cNvSpPr/>
          <p:nvPr/>
        </p:nvSpPr>
        <p:spPr>
          <a:xfrm>
            <a:off x="10259567" y="3058668"/>
            <a:ext cx="1133856" cy="219456"/>
          </a:xfrm>
          <a:prstGeom prst="roundRect">
            <a:avLst>
              <a:gd name="adj" fmla="val 45000"/>
            </a:avLst>
          </a:prstGeom>
          <a:solidFill>
            <a:srgbClr val="C1521D"/>
          </a:solidFill>
          <a:ln>
            <a:noFill/>
          </a:ln>
          <a:effectLst/>
        </p:spPr>
        <p:txBody>
          <a:bodyPr rtlCol="0" anchor="ctr" wrap="none" lIns="54864" rIns="54864" tIns="0" bIns="0"/>
          <a:lstStyle/>
          <a:p>
            <a:pPr algn="ctr"/>
            <a:r>
              <a:rPr sz="819" b="1">
                <a:solidFill>
                  <a:srgbClr val="FFFFFF"/>
                </a:solidFill>
                <a:latin typeface="Calibri"/>
              </a:rPr>
              <a:t>OPEN</a:t>
            </a:r>
          </a:p>
        </p:txBody>
      </p:sp>
      <p:sp>
        <p:nvSpPr>
          <p:cNvPr id="37" name="TextBox 36"/>
          <p:cNvSpPr txBox="1"/>
          <p:nvPr/>
        </p:nvSpPr>
        <p:spPr>
          <a:xfrm>
            <a:off x="7040880" y="3296412"/>
            <a:ext cx="4160520" cy="256032"/>
          </a:xfrm>
          <a:prstGeom prst="rect">
            <a:avLst/>
          </a:prstGeom>
          <a:noFill/>
        </p:spPr>
        <p:txBody>
          <a:bodyPr wrap="square" anchor="t" lIns="0" rIns="0" tIns="0" bIns="0">
            <a:spAutoFit/>
          </a:bodyPr>
          <a:lstStyle/>
          <a:p>
            <a:pPr algn="l">
              <a:spcAft>
                <a:spcPts val="0"/>
              </a:spcAft>
            </a:pPr>
            <a:r>
              <a:rPr sz="880" b="0" i="0">
                <a:solidFill>
                  <a:srgbClr val="5B6B7C"/>
                </a:solidFill>
                <a:latin typeface="Calibri"/>
              </a:rPr>
              <a:t>No latency benchmark was executed — deferred to 499B</a:t>
            </a:r>
          </a:p>
        </p:txBody>
      </p:sp>
      <p:sp>
        <p:nvSpPr>
          <p:cNvPr id="38" name="Rounded Rectangle 37"/>
          <p:cNvSpPr/>
          <p:nvPr/>
        </p:nvSpPr>
        <p:spPr>
          <a:xfrm>
            <a:off x="6437376" y="3666744"/>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NFR4</a:t>
            </a:r>
          </a:p>
        </p:txBody>
      </p:sp>
      <p:sp>
        <p:nvSpPr>
          <p:cNvPr id="39" name="TextBox 38"/>
          <p:cNvSpPr txBox="1"/>
          <p:nvPr/>
        </p:nvSpPr>
        <p:spPr>
          <a:xfrm>
            <a:off x="7040880" y="3634740"/>
            <a:ext cx="3063240" cy="256032"/>
          </a:xfrm>
          <a:prstGeom prst="rect">
            <a:avLst/>
          </a:prstGeom>
          <a:noFill/>
        </p:spPr>
        <p:txBody>
          <a:bodyPr wrap="square" anchor="t" lIns="0" rIns="0" tIns="0" bIns="0">
            <a:spAutoFit/>
          </a:bodyPr>
          <a:lstStyle/>
          <a:p>
            <a:pPr algn="l">
              <a:spcAft>
                <a:spcPts val="0"/>
              </a:spcAft>
            </a:pPr>
            <a:r>
              <a:rPr sz="1000" b="1" i="0">
                <a:solidFill>
                  <a:srgbClr val="12233C"/>
                </a:solidFill>
                <a:latin typeface="Calibri"/>
              </a:rPr>
              <a:t>Resource ceiling</a:t>
            </a:r>
          </a:p>
        </p:txBody>
      </p:sp>
      <p:sp>
        <p:nvSpPr>
          <p:cNvPr id="40" name="Rounded Rectangle 39"/>
          <p:cNvSpPr/>
          <p:nvPr/>
        </p:nvSpPr>
        <p:spPr>
          <a:xfrm>
            <a:off x="10259567" y="3666744"/>
            <a:ext cx="1133856" cy="219456"/>
          </a:xfrm>
          <a:prstGeom prst="roundRect">
            <a:avLst>
              <a:gd name="adj" fmla="val 45000"/>
            </a:avLst>
          </a:prstGeom>
          <a:solidFill>
            <a:srgbClr val="0E7C7B"/>
          </a:solidFill>
          <a:ln>
            <a:noFill/>
          </a:ln>
          <a:effectLst/>
        </p:spPr>
        <p:txBody>
          <a:bodyPr rtlCol="0" anchor="ctr" wrap="none" lIns="54864" rIns="54864" tIns="0" bIns="0"/>
          <a:lstStyle/>
          <a:p>
            <a:pPr algn="ctr"/>
            <a:r>
              <a:rPr sz="819" b="1">
                <a:solidFill>
                  <a:srgbClr val="FFFFFF"/>
                </a:solidFill>
                <a:latin typeface="Calibri"/>
              </a:rPr>
              <a:t>MET</a:t>
            </a:r>
          </a:p>
        </p:txBody>
      </p:sp>
      <p:sp>
        <p:nvSpPr>
          <p:cNvPr id="41" name="TextBox 40"/>
          <p:cNvSpPr txBox="1"/>
          <p:nvPr/>
        </p:nvSpPr>
        <p:spPr>
          <a:xfrm>
            <a:off x="7040880" y="3904488"/>
            <a:ext cx="4160520" cy="256032"/>
          </a:xfrm>
          <a:prstGeom prst="rect">
            <a:avLst/>
          </a:prstGeom>
          <a:noFill/>
        </p:spPr>
        <p:txBody>
          <a:bodyPr wrap="square" anchor="t" lIns="0" rIns="0" tIns="0" bIns="0">
            <a:spAutoFit/>
          </a:bodyPr>
          <a:lstStyle/>
          <a:p>
            <a:pPr algn="l">
              <a:spcAft>
                <a:spcPts val="0"/>
              </a:spcAft>
            </a:pPr>
            <a:r>
              <a:rPr sz="880" b="0" i="0">
                <a:solidFill>
                  <a:srgbClr val="5B6B7C"/>
                </a:solidFill>
                <a:latin typeface="Calibri"/>
              </a:rPr>
              <a:t>Single NVIDIA Tesla T4, 16 GB, Google Colab session limits</a:t>
            </a:r>
          </a:p>
        </p:txBody>
      </p:sp>
      <p:sp>
        <p:nvSpPr>
          <p:cNvPr id="42" name="Rounded Rectangle 41"/>
          <p:cNvSpPr/>
          <p:nvPr/>
        </p:nvSpPr>
        <p:spPr>
          <a:xfrm>
            <a:off x="6437376" y="4274820"/>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NFR5</a:t>
            </a:r>
          </a:p>
        </p:txBody>
      </p:sp>
      <p:sp>
        <p:nvSpPr>
          <p:cNvPr id="43" name="TextBox 42"/>
          <p:cNvSpPr txBox="1"/>
          <p:nvPr/>
        </p:nvSpPr>
        <p:spPr>
          <a:xfrm>
            <a:off x="7040880" y="4242816"/>
            <a:ext cx="3063240" cy="256032"/>
          </a:xfrm>
          <a:prstGeom prst="rect">
            <a:avLst/>
          </a:prstGeom>
          <a:noFill/>
        </p:spPr>
        <p:txBody>
          <a:bodyPr wrap="square" anchor="t" lIns="0" rIns="0" tIns="0" bIns="0">
            <a:spAutoFit/>
          </a:bodyPr>
          <a:lstStyle/>
          <a:p>
            <a:pPr algn="l">
              <a:spcAft>
                <a:spcPts val="0"/>
              </a:spcAft>
            </a:pPr>
            <a:r>
              <a:rPr sz="1000" b="1" i="0">
                <a:solidFill>
                  <a:srgbClr val="12233C"/>
                </a:solidFill>
                <a:latin typeface="Calibri"/>
              </a:rPr>
              <a:t>Fail loudly on a bad weight load</a:t>
            </a:r>
          </a:p>
        </p:txBody>
      </p:sp>
      <p:sp>
        <p:nvSpPr>
          <p:cNvPr id="44" name="Rounded Rectangle 43"/>
          <p:cNvSpPr/>
          <p:nvPr/>
        </p:nvSpPr>
        <p:spPr>
          <a:xfrm>
            <a:off x="10259567" y="4274820"/>
            <a:ext cx="1133856" cy="219456"/>
          </a:xfrm>
          <a:prstGeom prst="roundRect">
            <a:avLst>
              <a:gd name="adj" fmla="val 45000"/>
            </a:avLst>
          </a:prstGeom>
          <a:solidFill>
            <a:srgbClr val="C1521D"/>
          </a:solidFill>
          <a:ln>
            <a:noFill/>
          </a:ln>
          <a:effectLst/>
        </p:spPr>
        <p:txBody>
          <a:bodyPr rtlCol="0" anchor="ctr" wrap="none" lIns="54864" rIns="54864" tIns="0" bIns="0"/>
          <a:lstStyle/>
          <a:p>
            <a:pPr algn="ctr"/>
            <a:r>
              <a:rPr sz="819" b="1">
                <a:solidFill>
                  <a:srgbClr val="FFFFFF"/>
                </a:solidFill>
                <a:latin typeface="Calibri"/>
              </a:rPr>
              <a:t>VIOLATED</a:t>
            </a:r>
          </a:p>
        </p:txBody>
      </p:sp>
      <p:sp>
        <p:nvSpPr>
          <p:cNvPr id="45" name="TextBox 44"/>
          <p:cNvSpPr txBox="1"/>
          <p:nvPr/>
        </p:nvSpPr>
        <p:spPr>
          <a:xfrm>
            <a:off x="7040880" y="4512564"/>
            <a:ext cx="4160520" cy="256032"/>
          </a:xfrm>
          <a:prstGeom prst="rect">
            <a:avLst/>
          </a:prstGeom>
          <a:noFill/>
        </p:spPr>
        <p:txBody>
          <a:bodyPr wrap="square" anchor="t" lIns="0" rIns="0" tIns="0" bIns="0">
            <a:spAutoFit/>
          </a:bodyPr>
          <a:lstStyle/>
          <a:p>
            <a:pPr algn="l">
              <a:spcAft>
                <a:spcPts val="0"/>
              </a:spcAft>
            </a:pPr>
            <a:r>
              <a:rPr sz="880" b="0" i="0">
                <a:solidFill>
                  <a:srgbClr val="5B6B7C"/>
                </a:solidFill>
                <a:latin typeface="Calibri"/>
              </a:rPr>
              <a:t>Bare except falls back to un-finetuned weights with no user-visible signal</a:t>
            </a:r>
          </a:p>
        </p:txBody>
      </p:sp>
      <p:sp>
        <p:nvSpPr>
          <p:cNvPr id="46" name="Rounded Rectangle 45"/>
          <p:cNvSpPr/>
          <p:nvPr/>
        </p:nvSpPr>
        <p:spPr>
          <a:xfrm>
            <a:off x="6437376" y="4882896"/>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NFR6</a:t>
            </a:r>
          </a:p>
        </p:txBody>
      </p:sp>
      <p:sp>
        <p:nvSpPr>
          <p:cNvPr id="47" name="TextBox 46"/>
          <p:cNvSpPr txBox="1"/>
          <p:nvPr/>
        </p:nvSpPr>
        <p:spPr>
          <a:xfrm>
            <a:off x="7040880" y="4850892"/>
            <a:ext cx="3063240" cy="256032"/>
          </a:xfrm>
          <a:prstGeom prst="rect">
            <a:avLst/>
          </a:prstGeom>
          <a:noFill/>
        </p:spPr>
        <p:txBody>
          <a:bodyPr wrap="square" anchor="t" lIns="0" rIns="0" tIns="0" bIns="0">
            <a:spAutoFit/>
          </a:bodyPr>
          <a:lstStyle/>
          <a:p>
            <a:pPr algn="l">
              <a:spcAft>
                <a:spcPts val="0"/>
              </a:spcAft>
            </a:pPr>
            <a:r>
              <a:rPr sz="1000" b="1" i="0">
                <a:solidFill>
                  <a:srgbClr val="12233C"/>
                </a:solidFill>
                <a:latin typeface="Calibri"/>
              </a:rPr>
              <a:t>Portability of artefacts</a:t>
            </a:r>
          </a:p>
        </p:txBody>
      </p:sp>
      <p:sp>
        <p:nvSpPr>
          <p:cNvPr id="48" name="Rounded Rectangle 47"/>
          <p:cNvSpPr/>
          <p:nvPr/>
        </p:nvSpPr>
        <p:spPr>
          <a:xfrm>
            <a:off x="10259567" y="4882896"/>
            <a:ext cx="1133856" cy="219456"/>
          </a:xfrm>
          <a:prstGeom prst="roundRect">
            <a:avLst>
              <a:gd name="adj" fmla="val 45000"/>
            </a:avLst>
          </a:prstGeom>
          <a:solidFill>
            <a:srgbClr val="C1521D"/>
          </a:solidFill>
          <a:ln>
            <a:noFill/>
          </a:ln>
          <a:effectLst/>
        </p:spPr>
        <p:txBody>
          <a:bodyPr rtlCol="0" anchor="ctr" wrap="none" lIns="54864" rIns="54864" tIns="0" bIns="0"/>
          <a:lstStyle/>
          <a:p>
            <a:pPr algn="ctr"/>
            <a:r>
              <a:rPr sz="819" b="1">
                <a:solidFill>
                  <a:srgbClr val="FFFFFF"/>
                </a:solidFill>
                <a:latin typeface="Calibri"/>
              </a:rPr>
              <a:t>PARTIAL</a:t>
            </a:r>
          </a:p>
        </p:txBody>
      </p:sp>
      <p:sp>
        <p:nvSpPr>
          <p:cNvPr id="49" name="TextBox 48"/>
          <p:cNvSpPr txBox="1"/>
          <p:nvPr/>
        </p:nvSpPr>
        <p:spPr>
          <a:xfrm>
            <a:off x="7040880" y="5120640"/>
            <a:ext cx="4160520" cy="256032"/>
          </a:xfrm>
          <a:prstGeom prst="rect">
            <a:avLst/>
          </a:prstGeom>
          <a:noFill/>
        </p:spPr>
        <p:txBody>
          <a:bodyPr wrap="square" anchor="t" lIns="0" rIns="0" tIns="0" bIns="0">
            <a:spAutoFit/>
          </a:bodyPr>
          <a:lstStyle/>
          <a:p>
            <a:pPr algn="l">
              <a:spcAft>
                <a:spcPts val="0"/>
              </a:spcAft>
            </a:pPr>
            <a:r>
              <a:rPr sz="880" b="0" i="0">
                <a:solidFill>
                  <a:srgbClr val="5B6B7C"/>
                </a:solidFill>
                <a:latin typeface="Calibri"/>
              </a:rPr>
              <a:t>1.11 GB XLM-R checkpoint hosted off-repository on Google Drive</a:t>
            </a:r>
          </a:p>
        </p:txBody>
      </p:sp>
      <p:sp>
        <p:nvSpPr>
          <p:cNvPr id="50" name="Rounded Rectangle 49"/>
          <p:cNvSpPr/>
          <p:nvPr/>
        </p:nvSpPr>
        <p:spPr>
          <a:xfrm>
            <a:off x="6437376" y="5490972"/>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NFR7</a:t>
            </a:r>
          </a:p>
        </p:txBody>
      </p:sp>
      <p:sp>
        <p:nvSpPr>
          <p:cNvPr id="51" name="TextBox 50"/>
          <p:cNvSpPr txBox="1"/>
          <p:nvPr/>
        </p:nvSpPr>
        <p:spPr>
          <a:xfrm>
            <a:off x="7040880" y="5458968"/>
            <a:ext cx="3063240" cy="256032"/>
          </a:xfrm>
          <a:prstGeom prst="rect">
            <a:avLst/>
          </a:prstGeom>
          <a:noFill/>
        </p:spPr>
        <p:txBody>
          <a:bodyPr wrap="square" anchor="t" lIns="0" rIns="0" tIns="0" bIns="0">
            <a:spAutoFit/>
          </a:bodyPr>
          <a:lstStyle/>
          <a:p>
            <a:pPr algn="l">
              <a:spcAft>
                <a:spcPts val="0"/>
              </a:spcAft>
            </a:pPr>
            <a:r>
              <a:rPr sz="1000" b="1" i="0">
                <a:solidFill>
                  <a:srgbClr val="12233C"/>
                </a:solidFill>
                <a:latin typeface="Calibri"/>
              </a:rPr>
              <a:t>Auditability</a:t>
            </a:r>
          </a:p>
        </p:txBody>
      </p:sp>
      <p:sp>
        <p:nvSpPr>
          <p:cNvPr id="52" name="Rounded Rectangle 51"/>
          <p:cNvSpPr/>
          <p:nvPr/>
        </p:nvSpPr>
        <p:spPr>
          <a:xfrm>
            <a:off x="10259567" y="5490972"/>
            <a:ext cx="1133856" cy="219456"/>
          </a:xfrm>
          <a:prstGeom prst="roundRect">
            <a:avLst>
              <a:gd name="adj" fmla="val 45000"/>
            </a:avLst>
          </a:prstGeom>
          <a:solidFill>
            <a:srgbClr val="0E7C7B"/>
          </a:solidFill>
          <a:ln>
            <a:noFill/>
          </a:ln>
          <a:effectLst/>
        </p:spPr>
        <p:txBody>
          <a:bodyPr rtlCol="0" anchor="ctr" wrap="none" lIns="54864" rIns="54864" tIns="0" bIns="0"/>
          <a:lstStyle/>
          <a:p>
            <a:pPr algn="ctr"/>
            <a:r>
              <a:rPr sz="819" b="1">
                <a:solidFill>
                  <a:srgbClr val="FFFFFF"/>
                </a:solidFill>
                <a:latin typeface="Calibri"/>
              </a:rPr>
              <a:t>MET</a:t>
            </a:r>
          </a:p>
        </p:txBody>
      </p:sp>
      <p:sp>
        <p:nvSpPr>
          <p:cNvPr id="53" name="TextBox 52"/>
          <p:cNvSpPr txBox="1"/>
          <p:nvPr/>
        </p:nvSpPr>
        <p:spPr>
          <a:xfrm>
            <a:off x="7040880" y="5728716"/>
            <a:ext cx="4160520" cy="256032"/>
          </a:xfrm>
          <a:prstGeom prst="rect">
            <a:avLst/>
          </a:prstGeom>
          <a:noFill/>
        </p:spPr>
        <p:txBody>
          <a:bodyPr wrap="square" anchor="t" lIns="0" rIns="0" tIns="0" bIns="0">
            <a:spAutoFit/>
          </a:bodyPr>
          <a:lstStyle/>
          <a:p>
            <a:pPr algn="l">
              <a:spcAft>
                <a:spcPts val="0"/>
              </a:spcAft>
            </a:pPr>
            <a:r>
              <a:rPr sz="880" b="0" i="0">
                <a:solidFill>
                  <a:srgbClr val="5B6B7C"/>
                </a:solidFill>
                <a:latin typeface="Calibri"/>
              </a:rPr>
              <a:t>Every published figure has a named source cell; see verification report</a:t>
            </a:r>
          </a:p>
        </p:txBody>
      </p:sp>
      <p:sp>
        <p:nvSpPr>
          <p:cNvPr id="54" name="TextBox 53"/>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55" name="TextBox 54"/>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07  OBE CONSTRAINTS</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Engineering Design Constraints</a:t>
            </a:r>
          </a:p>
        </p:txBody>
      </p:sp>
      <p:sp>
        <p:nvSpPr>
          <p:cNvPr id="4" name="TextBox 3"/>
          <p:cNvSpPr txBox="1"/>
          <p:nvPr/>
        </p:nvSpPr>
        <p:spPr>
          <a:xfrm>
            <a:off x="548640" y="1188720"/>
            <a:ext cx="11057839" cy="274320"/>
          </a:xfrm>
          <a:prstGeom prst="rect">
            <a:avLst/>
          </a:prstGeom>
          <a:noFill/>
        </p:spPr>
        <p:txBody>
          <a:bodyPr wrap="square" anchor="t" lIns="0" rIns="0" tIns="0" bIns="0">
            <a:spAutoFit/>
          </a:bodyPr>
          <a:lstStyle/>
          <a:p>
            <a:pPr algn="l">
              <a:spcAft>
                <a:spcPts val="0"/>
              </a:spcAft>
            </a:pPr>
            <a:r>
              <a:rPr sz="1150" b="0" i="1">
                <a:solidFill>
                  <a:srgbClr val="5B6B7C"/>
                </a:solidFill>
                <a:latin typeface="Calibri"/>
              </a:rPr>
              <a:t>Realistic constraints considered in the design — economic, sustainability, safety and reliability, ethics and privacy</a:t>
            </a:r>
          </a:p>
        </p:txBody>
      </p:sp>
      <p:sp>
        <p:nvSpPr>
          <p:cNvPr id="5" name="Rectangle 4"/>
          <p:cNvSpPr/>
          <p:nvPr/>
        </p:nvSpPr>
        <p:spPr>
          <a:xfrm>
            <a:off x="566928" y="1737360"/>
            <a:ext cx="5367528" cy="2176272"/>
          </a:xfrm>
          <a:prstGeom prst="rect">
            <a:avLst/>
          </a:prstGeom>
          <a:solidFill>
            <a:srgbClr val="F4F7FA"/>
          </a:solidFill>
          <a:ln w="9525">
            <a:solidFill>
              <a:srgbClr val="D6DEE8"/>
            </a:solidFill>
          </a:ln>
          <a:effectLst/>
        </p:spPr>
        <p:txBody>
          <a:bodyPr rtlCol="0" anchor="ctr" wrap="square"/>
          <a:lstStyle/>
          <a:p>
            <a:pPr algn="ctr"/>
          </a:p>
        </p:txBody>
      </p:sp>
      <p:sp>
        <p:nvSpPr>
          <p:cNvPr id="6" name="Rounded Rectangle 5"/>
          <p:cNvSpPr/>
          <p:nvPr/>
        </p:nvSpPr>
        <p:spPr>
          <a:xfrm>
            <a:off x="749808" y="1883664"/>
            <a:ext cx="274320"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1</a:t>
            </a:r>
          </a:p>
        </p:txBody>
      </p:sp>
      <p:sp>
        <p:nvSpPr>
          <p:cNvPr id="7" name="TextBox 6"/>
          <p:cNvSpPr txBox="1"/>
          <p:nvPr/>
        </p:nvSpPr>
        <p:spPr>
          <a:xfrm>
            <a:off x="1115568" y="1865376"/>
            <a:ext cx="4617720" cy="292608"/>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Economic feasibility</a:t>
            </a:r>
          </a:p>
        </p:txBody>
      </p:sp>
      <p:sp>
        <p:nvSpPr>
          <p:cNvPr id="8" name="TextBox 7"/>
          <p:cNvSpPr txBox="1"/>
          <p:nvPr/>
        </p:nvSpPr>
        <p:spPr>
          <a:xfrm>
            <a:off x="768096" y="2249424"/>
            <a:ext cx="4983480" cy="1572768"/>
          </a:xfrm>
          <a:prstGeom prst="rect">
            <a:avLst/>
          </a:prstGeom>
          <a:noFill/>
        </p:spPr>
        <p:txBody>
          <a:bodyPr wrap="square" anchor="t" lIns="0" rIns="0" tIns="0" bIns="0">
            <a:spAutoFit/>
          </a:bodyPr>
          <a:lstStyle/>
          <a:p>
            <a:pPr algn="l" marL="137160" indent="-137160">
              <a:spcAft>
                <a:spcPts val="320"/>
              </a:spcAft>
              <a:buClr>
                <a:srgbClr val="0E7C7B"/>
              </a:buClr>
              <a:buFont typeface="Arial"/>
              <a:buChar char="•"/>
            </a:pPr>
            <a:r>
              <a:rPr sz="960" b="0" i="0">
                <a:solidFill>
                  <a:srgbClr val="1A2330"/>
                </a:solidFill>
                <a:latin typeface="Calibri"/>
              </a:rPr>
              <a:t>Zero licence cost: PyTorch, torchvision, Hugging Face Transformers 4.35.0, scikit-learn, Streamlit are all open source</a:t>
            </a:r>
          </a:p>
          <a:p>
            <a:pPr algn="l" marL="137160" indent="-137160">
              <a:spcAft>
                <a:spcPts val="320"/>
              </a:spcAft>
              <a:buClr>
                <a:srgbClr val="0E7C7B"/>
              </a:buClr>
              <a:buFont typeface="Arial"/>
              <a:buChar char="•"/>
            </a:pPr>
            <a:r>
              <a:rPr sz="960" b="0" i="0">
                <a:solidFill>
                  <a:srgbClr val="1A2330"/>
                </a:solidFill>
                <a:latin typeface="Calibri"/>
              </a:rPr>
              <a:t>Compute budget is one free-tier Google Colab Tesla T4 (16 GB); XLM-R fine-tuning converged in 1,202.8 s over 2,559 steps</a:t>
            </a:r>
          </a:p>
          <a:p>
            <a:pPr algn="l" marL="137160" indent="-137160">
              <a:spcAft>
                <a:spcPts val="320"/>
              </a:spcAft>
              <a:buClr>
                <a:srgbClr val="0E7C7B"/>
              </a:buClr>
              <a:buFont typeface="Arial"/>
              <a:buChar char="•"/>
            </a:pPr>
            <a:r>
              <a:rPr sz="960" b="0" i="0">
                <a:solidFill>
                  <a:srgbClr val="1A2330"/>
                </a:solidFill>
                <a:latin typeface="Calibri"/>
              </a:rPr>
              <a:t>Accuracy per parameter matters: EfficientNet-B0 (5.3 M) reaches 0.8208 against ResNet-50 (25.6 M) at 0.7870</a:t>
            </a:r>
          </a:p>
          <a:p>
            <a:pPr algn="l" marL="137160" indent="-137160">
              <a:spcAft>
                <a:spcPts val="320"/>
              </a:spcAft>
              <a:buClr>
                <a:srgbClr val="0E7C7B"/>
              </a:buClr>
              <a:buFont typeface="Arial"/>
              <a:buChar char="•"/>
            </a:pPr>
            <a:r>
              <a:rPr sz="960" b="0" i="0">
                <a:solidFill>
                  <a:srgbClr val="1A2330"/>
                </a:solidFill>
                <a:latin typeface="Calibri"/>
              </a:rPr>
              <a:t>Constraint: the 1.11 GB text checkpoint forces off-repository hosting and raises the cost of distribution</a:t>
            </a:r>
          </a:p>
        </p:txBody>
      </p:sp>
      <p:sp>
        <p:nvSpPr>
          <p:cNvPr id="9" name="Rectangle 8"/>
          <p:cNvSpPr/>
          <p:nvPr/>
        </p:nvSpPr>
        <p:spPr>
          <a:xfrm>
            <a:off x="6236208" y="1737360"/>
            <a:ext cx="5367528" cy="2176272"/>
          </a:xfrm>
          <a:prstGeom prst="rect">
            <a:avLst/>
          </a:prstGeom>
          <a:solidFill>
            <a:srgbClr val="F4F7FA"/>
          </a:solidFill>
          <a:ln w="9525">
            <a:solidFill>
              <a:srgbClr val="D6DEE8"/>
            </a:solidFill>
          </a:ln>
          <a:effectLst/>
        </p:spPr>
        <p:txBody>
          <a:bodyPr rtlCol="0" anchor="ctr" wrap="square"/>
          <a:lstStyle/>
          <a:p>
            <a:pPr algn="ctr"/>
          </a:p>
        </p:txBody>
      </p:sp>
      <p:sp>
        <p:nvSpPr>
          <p:cNvPr id="10" name="Rounded Rectangle 9"/>
          <p:cNvSpPr/>
          <p:nvPr/>
        </p:nvSpPr>
        <p:spPr>
          <a:xfrm>
            <a:off x="6419088" y="1883664"/>
            <a:ext cx="274320" cy="256032"/>
          </a:xfrm>
          <a:prstGeom prst="roundRect">
            <a:avLst>
              <a:gd name="adj" fmla="val 45000"/>
            </a:avLst>
          </a:prstGeom>
          <a:solidFill>
            <a:srgbClr val="1E3A5F"/>
          </a:solidFill>
          <a:ln>
            <a:noFill/>
          </a:ln>
          <a:effectLst/>
        </p:spPr>
        <p:txBody>
          <a:bodyPr rtlCol="0" anchor="ctr" wrap="none" lIns="54864" rIns="54864" tIns="0" bIns="0"/>
          <a:lstStyle/>
          <a:p>
            <a:pPr algn="ctr"/>
            <a:r>
              <a:rPr sz="1050" b="1">
                <a:solidFill>
                  <a:srgbClr val="FFFFFF"/>
                </a:solidFill>
                <a:latin typeface="Calibri"/>
              </a:rPr>
              <a:t>2</a:t>
            </a:r>
          </a:p>
        </p:txBody>
      </p:sp>
      <p:sp>
        <p:nvSpPr>
          <p:cNvPr id="11" name="TextBox 10"/>
          <p:cNvSpPr txBox="1"/>
          <p:nvPr/>
        </p:nvSpPr>
        <p:spPr>
          <a:xfrm>
            <a:off x="6784848" y="1865376"/>
            <a:ext cx="4617720" cy="292608"/>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Sustainability and maintainability</a:t>
            </a:r>
          </a:p>
        </p:txBody>
      </p:sp>
      <p:sp>
        <p:nvSpPr>
          <p:cNvPr id="12" name="TextBox 11"/>
          <p:cNvSpPr txBox="1"/>
          <p:nvPr/>
        </p:nvSpPr>
        <p:spPr>
          <a:xfrm>
            <a:off x="6437376" y="2249424"/>
            <a:ext cx="4983480" cy="1572768"/>
          </a:xfrm>
          <a:prstGeom prst="rect">
            <a:avLst/>
          </a:prstGeom>
          <a:noFill/>
        </p:spPr>
        <p:txBody>
          <a:bodyPr wrap="square" anchor="t" lIns="0" rIns="0" tIns="0" bIns="0">
            <a:spAutoFit/>
          </a:bodyPr>
          <a:lstStyle/>
          <a:p>
            <a:pPr algn="l" marL="137160" indent="-137160">
              <a:spcAft>
                <a:spcPts val="320"/>
              </a:spcAft>
              <a:buClr>
                <a:srgbClr val="1E3A5F"/>
              </a:buClr>
              <a:buFont typeface="Arial"/>
              <a:buChar char="•"/>
            </a:pPr>
            <a:r>
              <a:rPr sz="960" b="0" i="0">
                <a:solidFill>
                  <a:srgbClr val="1A2330"/>
                </a:solidFill>
                <a:latin typeface="Calibri"/>
              </a:rPr>
              <a:t>Small deliberate budget: 2–3 epochs, batch 16, sequence length 128 — no wasteful hyper-parameter sweep was run</a:t>
            </a:r>
          </a:p>
          <a:p>
            <a:pPr algn="l" marL="137160" indent="-137160">
              <a:spcAft>
                <a:spcPts val="320"/>
              </a:spcAft>
              <a:buClr>
                <a:srgbClr val="1E3A5F"/>
              </a:buClr>
              <a:buFont typeface="Arial"/>
              <a:buChar char="•"/>
            </a:pPr>
            <a:r>
              <a:rPr sz="960" b="0" i="0">
                <a:solidFill>
                  <a:srgbClr val="1A2330"/>
                </a:solidFill>
                <a:latin typeface="Calibri"/>
              </a:rPr>
              <a:t>Compound-scaled EfficientNet-B0 gives the best visual accuracy at about one fifth of ResNet-50's parameters: energy-proportional design</a:t>
            </a:r>
          </a:p>
          <a:p>
            <a:pPr algn="l" marL="137160" indent="-137160">
              <a:spcAft>
                <a:spcPts val="320"/>
              </a:spcAft>
              <a:buClr>
                <a:srgbClr val="1E3A5F"/>
              </a:buClr>
              <a:buFont typeface="Arial"/>
              <a:buChar char="•"/>
            </a:pPr>
            <a:r>
              <a:rPr sz="960" b="0" i="0">
                <a:solidFill>
                  <a:srgbClr val="1A2330"/>
                </a:solidFill>
                <a:latin typeface="Calibri"/>
              </a:rPr>
              <a:t>Anti-pattern found in our own pipeline: images are re-fetched over HTTP every epoch, which wastes bandwidth and is not reproducible</a:t>
            </a:r>
          </a:p>
          <a:p>
            <a:pPr algn="l" marL="137160" indent="-137160">
              <a:spcAft>
                <a:spcPts val="320"/>
              </a:spcAft>
              <a:buClr>
                <a:srgbClr val="1E3A5F"/>
              </a:buClr>
              <a:buFont typeface="Arial"/>
              <a:buChar char="•"/>
            </a:pPr>
            <a:r>
              <a:rPr sz="960" b="0" i="0">
                <a:solidFill>
                  <a:srgbClr val="1A2330"/>
                </a:solidFill>
                <a:latin typeface="Calibri"/>
              </a:rPr>
              <a:t>499B remedy: fetch once, cache to disk, drop unavailable rows</a:t>
            </a:r>
          </a:p>
        </p:txBody>
      </p:sp>
      <p:sp>
        <p:nvSpPr>
          <p:cNvPr id="13" name="Rectangle 12"/>
          <p:cNvSpPr/>
          <p:nvPr/>
        </p:nvSpPr>
        <p:spPr>
          <a:xfrm>
            <a:off x="566928" y="4041648"/>
            <a:ext cx="5367528" cy="2176272"/>
          </a:xfrm>
          <a:prstGeom prst="rect">
            <a:avLst/>
          </a:prstGeom>
          <a:solidFill>
            <a:srgbClr val="F4F7FA"/>
          </a:solidFill>
          <a:ln w="9525">
            <a:solidFill>
              <a:srgbClr val="D6DEE8"/>
            </a:solidFill>
          </a:ln>
          <a:effectLst/>
        </p:spPr>
        <p:txBody>
          <a:bodyPr rtlCol="0" anchor="ctr" wrap="square"/>
          <a:lstStyle/>
          <a:p>
            <a:pPr algn="ctr"/>
          </a:p>
        </p:txBody>
      </p:sp>
      <p:sp>
        <p:nvSpPr>
          <p:cNvPr id="14" name="Rounded Rectangle 13"/>
          <p:cNvSpPr/>
          <p:nvPr/>
        </p:nvSpPr>
        <p:spPr>
          <a:xfrm>
            <a:off x="749808" y="4187952"/>
            <a:ext cx="274320" cy="256032"/>
          </a:xfrm>
          <a:prstGeom prst="roundRect">
            <a:avLst>
              <a:gd name="adj" fmla="val 45000"/>
            </a:avLst>
          </a:prstGeom>
          <a:solidFill>
            <a:srgbClr val="C1521D"/>
          </a:solidFill>
          <a:ln>
            <a:noFill/>
          </a:ln>
          <a:effectLst/>
        </p:spPr>
        <p:txBody>
          <a:bodyPr rtlCol="0" anchor="ctr" wrap="none" lIns="54864" rIns="54864" tIns="0" bIns="0"/>
          <a:lstStyle/>
          <a:p>
            <a:pPr algn="ctr"/>
            <a:r>
              <a:rPr sz="1050" b="1">
                <a:solidFill>
                  <a:srgbClr val="FFFFFF"/>
                </a:solidFill>
                <a:latin typeface="Calibri"/>
              </a:rPr>
              <a:t>3</a:t>
            </a:r>
          </a:p>
        </p:txBody>
      </p:sp>
      <p:sp>
        <p:nvSpPr>
          <p:cNvPr id="15" name="TextBox 14"/>
          <p:cNvSpPr txBox="1"/>
          <p:nvPr/>
        </p:nvSpPr>
        <p:spPr>
          <a:xfrm>
            <a:off x="1115568" y="4169663"/>
            <a:ext cx="4617720" cy="292608"/>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Safety and reliability</a:t>
            </a:r>
          </a:p>
        </p:txBody>
      </p:sp>
      <p:sp>
        <p:nvSpPr>
          <p:cNvPr id="16" name="TextBox 15"/>
          <p:cNvSpPr txBox="1"/>
          <p:nvPr/>
        </p:nvSpPr>
        <p:spPr>
          <a:xfrm>
            <a:off x="768096" y="4553712"/>
            <a:ext cx="4983480" cy="1572768"/>
          </a:xfrm>
          <a:prstGeom prst="rect">
            <a:avLst/>
          </a:prstGeom>
          <a:noFill/>
        </p:spPr>
        <p:txBody>
          <a:bodyPr wrap="square" anchor="t" lIns="0" rIns="0" tIns="0" bIns="0">
            <a:spAutoFit/>
          </a:bodyPr>
          <a:lstStyle/>
          <a:p>
            <a:pPr algn="l" marL="137160" indent="-137160">
              <a:spcAft>
                <a:spcPts val="320"/>
              </a:spcAft>
              <a:buClr>
                <a:srgbClr val="C1521D"/>
              </a:buClr>
              <a:buFont typeface="Arial"/>
              <a:buChar char="•"/>
            </a:pPr>
            <a:r>
              <a:rPr sz="960" b="0" i="0">
                <a:solidFill>
                  <a:srgbClr val="1A2330"/>
                </a:solidFill>
                <a:latin typeface="Calibri"/>
              </a:rPr>
              <a:t>The system is decision support, not adjudication — a headline of 42 characters cannot support factual verification</a:t>
            </a:r>
          </a:p>
          <a:p>
            <a:pPr algn="l" marL="137160" indent="-137160">
              <a:spcAft>
                <a:spcPts val="320"/>
              </a:spcAft>
              <a:buClr>
                <a:srgbClr val="C1521D"/>
              </a:buClr>
              <a:buFont typeface="Arial"/>
              <a:buChar char="•"/>
            </a:pPr>
            <a:r>
              <a:rPr sz="960" b="0" i="0">
                <a:solidFill>
                  <a:srgbClr val="1A2330"/>
                </a:solidFill>
                <a:latin typeface="Calibri"/>
              </a:rPr>
              <a:t>Reliability defect D3: the application's label map is inverted, so the interface reports the opposite of every prediction until fixed</a:t>
            </a:r>
          </a:p>
          <a:p>
            <a:pPr algn="l" marL="137160" indent="-137160">
              <a:spcAft>
                <a:spcPts val="320"/>
              </a:spcAft>
              <a:buClr>
                <a:srgbClr val="C1521D"/>
              </a:buClr>
              <a:buFont typeface="Arial"/>
              <a:buChar char="•"/>
            </a:pPr>
            <a:r>
              <a:rPr sz="960" b="0" i="0">
                <a:solidFill>
                  <a:srgbClr val="1A2330"/>
                </a:solidFill>
                <a:latin typeface="Calibri"/>
              </a:rPr>
              <a:t>Reliability defect: silent fallback to un-finetuned weights converts a loud immediate error into a quiet permanent one</a:t>
            </a:r>
          </a:p>
          <a:p>
            <a:pPr algn="l" marL="137160" indent="-137160">
              <a:spcAft>
                <a:spcPts val="320"/>
              </a:spcAft>
              <a:buClr>
                <a:srgbClr val="C1521D"/>
              </a:buClr>
              <a:buFont typeface="Arial"/>
              <a:buChar char="•"/>
            </a:pPr>
            <a:r>
              <a:rPr sz="960" b="0" i="0">
                <a:solidFill>
                  <a:srgbClr val="1A2330"/>
                </a:solidFill>
                <a:latin typeface="Calibri"/>
              </a:rPr>
              <a:t>No confusion matrix was retained, so per-class error behaviour is currently unknown — required before any deployment claim</a:t>
            </a:r>
          </a:p>
        </p:txBody>
      </p:sp>
      <p:sp>
        <p:nvSpPr>
          <p:cNvPr id="17" name="Rectangle 16"/>
          <p:cNvSpPr/>
          <p:nvPr/>
        </p:nvSpPr>
        <p:spPr>
          <a:xfrm>
            <a:off x="6236208" y="4041648"/>
            <a:ext cx="5367528" cy="2176272"/>
          </a:xfrm>
          <a:prstGeom prst="rect">
            <a:avLst/>
          </a:prstGeom>
          <a:solidFill>
            <a:srgbClr val="F4F7FA"/>
          </a:solidFill>
          <a:ln w="9525">
            <a:solidFill>
              <a:srgbClr val="D6DEE8"/>
            </a:solidFill>
          </a:ln>
          <a:effectLst/>
        </p:spPr>
        <p:txBody>
          <a:bodyPr rtlCol="0" anchor="ctr" wrap="square"/>
          <a:lstStyle/>
          <a:p>
            <a:pPr algn="ctr"/>
          </a:p>
        </p:txBody>
      </p:sp>
      <p:sp>
        <p:nvSpPr>
          <p:cNvPr id="18" name="Rounded Rectangle 17"/>
          <p:cNvSpPr/>
          <p:nvPr/>
        </p:nvSpPr>
        <p:spPr>
          <a:xfrm>
            <a:off x="6419088" y="4187952"/>
            <a:ext cx="274320" cy="256032"/>
          </a:xfrm>
          <a:prstGeom prst="roundRect">
            <a:avLst>
              <a:gd name="adj" fmla="val 45000"/>
            </a:avLst>
          </a:prstGeom>
          <a:solidFill>
            <a:srgbClr val="12233C"/>
          </a:solidFill>
          <a:ln>
            <a:noFill/>
          </a:ln>
          <a:effectLst/>
        </p:spPr>
        <p:txBody>
          <a:bodyPr rtlCol="0" anchor="ctr" wrap="none" lIns="54864" rIns="54864" tIns="0" bIns="0"/>
          <a:lstStyle/>
          <a:p>
            <a:pPr algn="ctr"/>
            <a:r>
              <a:rPr sz="1050" b="1">
                <a:solidFill>
                  <a:srgbClr val="FFFFFF"/>
                </a:solidFill>
                <a:latin typeface="Calibri"/>
              </a:rPr>
              <a:t>4</a:t>
            </a:r>
          </a:p>
        </p:txBody>
      </p:sp>
      <p:sp>
        <p:nvSpPr>
          <p:cNvPr id="19" name="TextBox 18"/>
          <p:cNvSpPr txBox="1"/>
          <p:nvPr/>
        </p:nvSpPr>
        <p:spPr>
          <a:xfrm>
            <a:off x="6784848" y="4169663"/>
            <a:ext cx="4617720" cy="292608"/>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Ethics, privacy and social impact</a:t>
            </a:r>
          </a:p>
        </p:txBody>
      </p:sp>
      <p:sp>
        <p:nvSpPr>
          <p:cNvPr id="20" name="TextBox 19"/>
          <p:cNvSpPr txBox="1"/>
          <p:nvPr/>
        </p:nvSpPr>
        <p:spPr>
          <a:xfrm>
            <a:off x="6437376" y="4553712"/>
            <a:ext cx="4983480" cy="1572768"/>
          </a:xfrm>
          <a:prstGeom prst="rect">
            <a:avLst/>
          </a:prstGeom>
          <a:noFill/>
        </p:spPr>
        <p:txBody>
          <a:bodyPr wrap="square" anchor="t" lIns="0" rIns="0" tIns="0" bIns="0">
            <a:spAutoFit/>
          </a:bodyPr>
          <a:lstStyle/>
          <a:p>
            <a:pPr algn="l" marL="137160" indent="-137160">
              <a:spcAft>
                <a:spcPts val="320"/>
              </a:spcAft>
              <a:buClr>
                <a:srgbClr val="12233C"/>
              </a:buClr>
              <a:buFont typeface="Arial"/>
              <a:buChar char="•"/>
            </a:pPr>
            <a:r>
              <a:rPr sz="960" b="0" i="0">
                <a:solidFill>
                  <a:srgbClr val="1A2330"/>
                </a:solidFill>
                <a:latin typeface="Calibri"/>
              </a:rPr>
              <a:t>No personal data is stored: the corpus holds only headline text and public Reddit preview CDN links; uploads stay in session memory</a:t>
            </a:r>
          </a:p>
          <a:p>
            <a:pPr algn="l" marL="137160" indent="-137160">
              <a:spcAft>
                <a:spcPts val="320"/>
              </a:spcAft>
              <a:buClr>
                <a:srgbClr val="12233C"/>
              </a:buClr>
              <a:buFont typeface="Arial"/>
              <a:buChar char="•"/>
            </a:pPr>
            <a:r>
              <a:rPr sz="960" b="0" i="0">
                <a:solidFill>
                  <a:srgbClr val="1A2330"/>
                </a:solidFill>
                <a:latin typeface="Calibri"/>
              </a:rPr>
              <a:t>Labels come from distant supervision over subreddits, so they encode provenance, not verified fact — the UI must not imply otherwise</a:t>
            </a:r>
          </a:p>
          <a:p>
            <a:pPr algn="l" marL="137160" indent="-137160">
              <a:spcAft>
                <a:spcPts val="320"/>
              </a:spcAft>
              <a:buClr>
                <a:srgbClr val="12233C"/>
              </a:buClr>
              <a:buFont typeface="Arial"/>
              <a:buChar char="•"/>
            </a:pPr>
            <a:r>
              <a:rPr sz="960" b="0" i="0">
                <a:solidFill>
                  <a:srgbClr val="1A2330"/>
                </a:solidFill>
                <a:latin typeface="Calibri"/>
              </a:rPr>
              <a:t>A false FAKE verdict on legitimate journalism carries censorship risk, so confidence and branch disagreement are shown, never a bare verdict</a:t>
            </a:r>
          </a:p>
          <a:p>
            <a:pPr algn="l" marL="137160" indent="-137160">
              <a:spcAft>
                <a:spcPts val="320"/>
              </a:spcAft>
              <a:buClr>
                <a:srgbClr val="12233C"/>
              </a:buClr>
              <a:buFont typeface="Arial"/>
              <a:buChar char="•"/>
            </a:pPr>
            <a:r>
              <a:rPr sz="960" b="0" i="0">
                <a:solidFill>
                  <a:srgbClr val="1A2330"/>
                </a:solidFill>
                <a:latin typeface="Calibri"/>
              </a:rPr>
              <a:t>499B Bangla collection will use multiple raters, reported inter-annotator agreement and full source attribution</a:t>
            </a:r>
          </a:p>
        </p:txBody>
      </p:sp>
      <p:sp>
        <p:nvSpPr>
          <p:cNvPr id="21" name="TextBox 20"/>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22" name="TextBox 21"/>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08  ARCHITECTURE</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Proposed System Architecture and Data Flow</a:t>
            </a:r>
          </a:p>
        </p:txBody>
      </p:sp>
      <p:sp>
        <p:nvSpPr>
          <p:cNvPr id="4" name="TextBox 3"/>
          <p:cNvSpPr txBox="1"/>
          <p:nvPr/>
        </p:nvSpPr>
        <p:spPr>
          <a:xfrm>
            <a:off x="548640" y="1188720"/>
            <a:ext cx="11057839" cy="274320"/>
          </a:xfrm>
          <a:prstGeom prst="rect">
            <a:avLst/>
          </a:prstGeom>
          <a:noFill/>
        </p:spPr>
        <p:txBody>
          <a:bodyPr wrap="square" anchor="t" lIns="0" rIns="0" tIns="0" bIns="0">
            <a:spAutoFit/>
          </a:bodyPr>
          <a:lstStyle/>
          <a:p>
            <a:pPr algn="l">
              <a:spcAft>
                <a:spcPts val="0"/>
              </a:spcAft>
            </a:pPr>
            <a:r>
              <a:rPr sz="1150" b="0" i="1">
                <a:solidFill>
                  <a:srgbClr val="5B6B7C"/>
                </a:solidFill>
                <a:latin typeface="Calibri"/>
              </a:rPr>
              <a:t>As deployed: two branches trained separately, never exchanging gradients; the fusion module has no learnable parameters</a:t>
            </a:r>
          </a:p>
        </p:txBody>
      </p:sp>
      <p:sp>
        <p:nvSpPr>
          <p:cNvPr id="5" name="Rectangle 4"/>
          <p:cNvSpPr/>
          <p:nvPr/>
        </p:nvSpPr>
        <p:spPr>
          <a:xfrm>
            <a:off x="4343400" y="1572768"/>
            <a:ext cx="3520440" cy="365760"/>
          </a:xfrm>
          <a:prstGeom prst="rect">
            <a:avLst/>
          </a:prstGeom>
          <a:solidFill>
            <a:srgbClr val="12233C"/>
          </a:solidFill>
          <a:ln>
            <a:noFill/>
          </a:ln>
          <a:effectLst/>
        </p:spPr>
        <p:txBody>
          <a:bodyPr rtlCol="0" anchor="ctr" wrap="square" lIns="54864" rIns="54864" tIns="0" bIns="0"/>
          <a:lstStyle/>
          <a:p>
            <a:pPr algn="ctr"/>
            <a:r>
              <a:rPr sz="1100" b="1">
                <a:solidFill>
                  <a:srgbClr val="FFFFFF"/>
                </a:solidFill>
                <a:latin typeface="Calibri"/>
              </a:rPr>
              <a:t>NEWS ITEM  —  headline + attached image</a:t>
            </a:r>
          </a:p>
        </p:txBody>
      </p:sp>
      <p:sp>
        <p:nvSpPr>
          <p:cNvPr id="6" name="Down Arrow 5"/>
          <p:cNvSpPr/>
          <p:nvPr/>
        </p:nvSpPr>
        <p:spPr>
          <a:xfrm>
            <a:off x="3003804" y="1975104"/>
            <a:ext cx="155448" cy="128016"/>
          </a:xfrm>
          <a:prstGeom prst="downArrow">
            <a:avLst/>
          </a:prstGeom>
          <a:solidFill>
            <a:srgbClr val="1E3A5F"/>
          </a:solidFill>
          <a:ln>
            <a:noFill/>
          </a:ln>
          <a:effectLst/>
        </p:spPr>
        <p:txBody>
          <a:bodyPr rtlCol="0" anchor="ctr" wrap="square"/>
          <a:lstStyle/>
          <a:p>
            <a:pPr algn="ctr"/>
          </a:p>
        </p:txBody>
      </p:sp>
      <p:sp>
        <p:nvSpPr>
          <p:cNvPr id="7" name="Down Arrow 6"/>
          <p:cNvSpPr/>
          <p:nvPr/>
        </p:nvSpPr>
        <p:spPr>
          <a:xfrm>
            <a:off x="8901684" y="1975104"/>
            <a:ext cx="155448" cy="128016"/>
          </a:xfrm>
          <a:prstGeom prst="downArrow">
            <a:avLst/>
          </a:prstGeom>
          <a:solidFill>
            <a:srgbClr val="1E3A5F"/>
          </a:solidFill>
          <a:ln>
            <a:noFill/>
          </a:ln>
          <a:effectLst/>
        </p:spPr>
        <p:txBody>
          <a:bodyPr rtlCol="0" anchor="ctr" wrap="square"/>
          <a:lstStyle/>
          <a:p>
            <a:pPr algn="ctr"/>
          </a:p>
        </p:txBody>
      </p:sp>
      <p:sp>
        <p:nvSpPr>
          <p:cNvPr id="8" name="Rectangle 7"/>
          <p:cNvSpPr/>
          <p:nvPr/>
        </p:nvSpPr>
        <p:spPr>
          <a:xfrm>
            <a:off x="978408" y="2157984"/>
            <a:ext cx="4206240" cy="292608"/>
          </a:xfrm>
          <a:prstGeom prst="rect">
            <a:avLst/>
          </a:prstGeom>
          <a:solidFill>
            <a:srgbClr val="1E3A5F"/>
          </a:solidFill>
          <a:ln>
            <a:noFill/>
          </a:ln>
          <a:effectLst/>
        </p:spPr>
        <p:txBody>
          <a:bodyPr rtlCol="0" anchor="ctr" wrap="square" lIns="54864" rIns="54864" tIns="0" bIns="0"/>
          <a:lstStyle/>
          <a:p>
            <a:pPr algn="ctr"/>
            <a:r>
              <a:rPr sz="1000" b="1">
                <a:solidFill>
                  <a:srgbClr val="FFFFFF"/>
                </a:solidFill>
                <a:latin typeface="Calibri"/>
              </a:rPr>
              <a:t>TEXT BRANCH</a:t>
            </a:r>
          </a:p>
        </p:txBody>
      </p:sp>
      <p:sp>
        <p:nvSpPr>
          <p:cNvPr id="9" name="Rectangle 8"/>
          <p:cNvSpPr/>
          <p:nvPr/>
        </p:nvSpPr>
        <p:spPr>
          <a:xfrm>
            <a:off x="6876288" y="2157984"/>
            <a:ext cx="4206240" cy="292608"/>
          </a:xfrm>
          <a:prstGeom prst="rect">
            <a:avLst/>
          </a:prstGeom>
          <a:solidFill>
            <a:srgbClr val="1E3A5F"/>
          </a:solidFill>
          <a:ln>
            <a:noFill/>
          </a:ln>
          <a:effectLst/>
        </p:spPr>
        <p:txBody>
          <a:bodyPr rtlCol="0" anchor="ctr" wrap="square" lIns="54864" rIns="54864" tIns="0" bIns="0"/>
          <a:lstStyle/>
          <a:p>
            <a:pPr algn="ctr"/>
            <a:r>
              <a:rPr sz="1000" b="1">
                <a:solidFill>
                  <a:srgbClr val="FFFFFF"/>
                </a:solidFill>
                <a:latin typeface="Calibri"/>
              </a:rPr>
              <a:t>IMAGE BRANCH</a:t>
            </a:r>
          </a:p>
        </p:txBody>
      </p:sp>
      <p:sp>
        <p:nvSpPr>
          <p:cNvPr id="10" name="Rectangle 9"/>
          <p:cNvSpPr/>
          <p:nvPr/>
        </p:nvSpPr>
        <p:spPr>
          <a:xfrm>
            <a:off x="978408" y="2560320"/>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Clean: cast to str, lower-case  (no stemming, no stop-word removal)</a:t>
            </a:r>
          </a:p>
        </p:txBody>
      </p:sp>
      <p:sp>
        <p:nvSpPr>
          <p:cNvPr id="11" name="Rectangle 10"/>
          <p:cNvSpPr/>
          <p:nvPr/>
        </p:nvSpPr>
        <p:spPr>
          <a:xfrm>
            <a:off x="6876288" y="2560320"/>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Fetch image_url (5 s timeout) or user upload  →  PIL, convert to RGB</a:t>
            </a:r>
          </a:p>
        </p:txBody>
      </p:sp>
      <p:sp>
        <p:nvSpPr>
          <p:cNvPr id="12" name="Down Arrow 11"/>
          <p:cNvSpPr/>
          <p:nvPr/>
        </p:nvSpPr>
        <p:spPr>
          <a:xfrm>
            <a:off x="3003804" y="2916936"/>
            <a:ext cx="155448" cy="109728"/>
          </a:xfrm>
          <a:prstGeom prst="downArrow">
            <a:avLst/>
          </a:prstGeom>
          <a:solidFill>
            <a:srgbClr val="1E3A5F"/>
          </a:solidFill>
          <a:ln>
            <a:noFill/>
          </a:ln>
          <a:effectLst/>
        </p:spPr>
        <p:txBody>
          <a:bodyPr rtlCol="0" anchor="ctr" wrap="square"/>
          <a:lstStyle/>
          <a:p>
            <a:pPr algn="ctr"/>
          </a:p>
        </p:txBody>
      </p:sp>
      <p:sp>
        <p:nvSpPr>
          <p:cNvPr id="13" name="Down Arrow 12"/>
          <p:cNvSpPr/>
          <p:nvPr/>
        </p:nvSpPr>
        <p:spPr>
          <a:xfrm>
            <a:off x="8901684" y="2916936"/>
            <a:ext cx="155448" cy="109728"/>
          </a:xfrm>
          <a:prstGeom prst="downArrow">
            <a:avLst/>
          </a:prstGeom>
          <a:solidFill>
            <a:srgbClr val="1E3A5F"/>
          </a:solidFill>
          <a:ln>
            <a:noFill/>
          </a:ln>
          <a:effectLst/>
        </p:spPr>
        <p:txBody>
          <a:bodyPr rtlCol="0" anchor="ctr" wrap="square"/>
          <a:lstStyle/>
          <a:p>
            <a:pPr algn="ctr"/>
          </a:p>
        </p:txBody>
      </p:sp>
      <p:sp>
        <p:nvSpPr>
          <p:cNvPr id="14" name="Rectangle 13"/>
          <p:cNvSpPr/>
          <p:nvPr/>
        </p:nvSpPr>
        <p:spPr>
          <a:xfrm>
            <a:off x="978408" y="3026663"/>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SentencePiece tokenizer  |  |V| = 250,002  |  max_len 128, pad + truncate</a:t>
            </a:r>
          </a:p>
        </p:txBody>
      </p:sp>
      <p:sp>
        <p:nvSpPr>
          <p:cNvPr id="15" name="Rectangle 14"/>
          <p:cNvSpPr/>
          <p:nvPr/>
        </p:nvSpPr>
        <p:spPr>
          <a:xfrm>
            <a:off x="6876288" y="3026663"/>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Resize(224,224)  |  ToTensor  |  ImageNet Normalize  (no augmentation)</a:t>
            </a:r>
          </a:p>
        </p:txBody>
      </p:sp>
      <p:sp>
        <p:nvSpPr>
          <p:cNvPr id="16" name="Down Arrow 15"/>
          <p:cNvSpPr/>
          <p:nvPr/>
        </p:nvSpPr>
        <p:spPr>
          <a:xfrm>
            <a:off x="3003804" y="3383279"/>
            <a:ext cx="155448" cy="109728"/>
          </a:xfrm>
          <a:prstGeom prst="downArrow">
            <a:avLst/>
          </a:prstGeom>
          <a:solidFill>
            <a:srgbClr val="1E3A5F"/>
          </a:solidFill>
          <a:ln>
            <a:noFill/>
          </a:ln>
          <a:effectLst/>
        </p:spPr>
        <p:txBody>
          <a:bodyPr rtlCol="0" anchor="ctr" wrap="square"/>
          <a:lstStyle/>
          <a:p>
            <a:pPr algn="ctr"/>
          </a:p>
        </p:txBody>
      </p:sp>
      <p:sp>
        <p:nvSpPr>
          <p:cNvPr id="17" name="Down Arrow 16"/>
          <p:cNvSpPr/>
          <p:nvPr/>
        </p:nvSpPr>
        <p:spPr>
          <a:xfrm>
            <a:off x="8901684" y="3383279"/>
            <a:ext cx="155448" cy="109728"/>
          </a:xfrm>
          <a:prstGeom prst="downArrow">
            <a:avLst/>
          </a:prstGeom>
          <a:solidFill>
            <a:srgbClr val="1E3A5F"/>
          </a:solidFill>
          <a:ln>
            <a:noFill/>
          </a:ln>
          <a:effectLst/>
        </p:spPr>
        <p:txBody>
          <a:bodyPr rtlCol="0" anchor="ctr" wrap="square"/>
          <a:lstStyle/>
          <a:p>
            <a:pPr algn="ctr"/>
          </a:p>
        </p:txBody>
      </p:sp>
      <p:sp>
        <p:nvSpPr>
          <p:cNvPr id="18" name="Rectangle 17"/>
          <p:cNvSpPr/>
          <p:nvPr/>
        </p:nvSpPr>
        <p:spPr>
          <a:xfrm>
            <a:off x="978408" y="3493007"/>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XLM-RoBERTa-base  |  12 layers, d = 768, 12 heads  |  ≈ 278 M params</a:t>
            </a:r>
          </a:p>
        </p:txBody>
      </p:sp>
      <p:sp>
        <p:nvSpPr>
          <p:cNvPr id="19" name="Rectangle 18"/>
          <p:cNvSpPr/>
          <p:nvPr/>
        </p:nvSpPr>
        <p:spPr>
          <a:xfrm>
            <a:off x="6876288" y="3493007"/>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ResNet-50  |  50-layer bottleneck CNN  |  ≈ 25.6 M params</a:t>
            </a:r>
          </a:p>
        </p:txBody>
      </p:sp>
      <p:sp>
        <p:nvSpPr>
          <p:cNvPr id="20" name="Down Arrow 19"/>
          <p:cNvSpPr/>
          <p:nvPr/>
        </p:nvSpPr>
        <p:spPr>
          <a:xfrm>
            <a:off x="3003804" y="3849623"/>
            <a:ext cx="155448" cy="109728"/>
          </a:xfrm>
          <a:prstGeom prst="downArrow">
            <a:avLst/>
          </a:prstGeom>
          <a:solidFill>
            <a:srgbClr val="1E3A5F"/>
          </a:solidFill>
          <a:ln>
            <a:noFill/>
          </a:ln>
          <a:effectLst/>
        </p:spPr>
        <p:txBody>
          <a:bodyPr rtlCol="0" anchor="ctr" wrap="square"/>
          <a:lstStyle/>
          <a:p>
            <a:pPr algn="ctr"/>
          </a:p>
        </p:txBody>
      </p:sp>
      <p:sp>
        <p:nvSpPr>
          <p:cNvPr id="21" name="Down Arrow 20"/>
          <p:cNvSpPr/>
          <p:nvPr/>
        </p:nvSpPr>
        <p:spPr>
          <a:xfrm>
            <a:off x="8901684" y="3849623"/>
            <a:ext cx="155448" cy="109728"/>
          </a:xfrm>
          <a:prstGeom prst="downArrow">
            <a:avLst/>
          </a:prstGeom>
          <a:solidFill>
            <a:srgbClr val="1E3A5F"/>
          </a:solidFill>
          <a:ln>
            <a:noFill/>
          </a:ln>
          <a:effectLst/>
        </p:spPr>
        <p:txBody>
          <a:bodyPr rtlCol="0" anchor="ctr" wrap="square"/>
          <a:lstStyle/>
          <a:p>
            <a:pPr algn="ctr"/>
          </a:p>
        </p:txBody>
      </p:sp>
      <p:sp>
        <p:nvSpPr>
          <p:cNvPr id="22" name="Rectangle 21"/>
          <p:cNvSpPr/>
          <p:nvPr/>
        </p:nvSpPr>
        <p:spPr>
          <a:xfrm>
            <a:off x="978408" y="3959351"/>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Head 768 → 768 (tanh) → 2   →   softmax   →   P_text</a:t>
            </a:r>
          </a:p>
        </p:txBody>
      </p:sp>
      <p:sp>
        <p:nvSpPr>
          <p:cNvPr id="23" name="Rectangle 22"/>
          <p:cNvSpPr/>
          <p:nvPr/>
        </p:nvSpPr>
        <p:spPr>
          <a:xfrm>
            <a:off x="6876288" y="3959351"/>
            <a:ext cx="4206240" cy="347472"/>
          </a:xfrm>
          <a:prstGeom prst="rect">
            <a:avLst/>
          </a:prstGeom>
          <a:solidFill>
            <a:srgbClr val="FFFFFF"/>
          </a:solidFill>
          <a:ln w="9525">
            <a:solidFill>
              <a:srgbClr val="C3CEDB"/>
            </a:solidFill>
          </a:ln>
          <a:effectLst/>
        </p:spPr>
        <p:txBody>
          <a:bodyPr rtlCol="0" anchor="ctr" wrap="square" lIns="54864" rIns="54864" tIns="0" bIns="0"/>
          <a:lstStyle/>
          <a:p>
            <a:pPr algn="ctr"/>
            <a:r>
              <a:rPr sz="930" b="0">
                <a:solidFill>
                  <a:srgbClr val="1A2330"/>
                </a:solidFill>
                <a:latin typeface="Calibri"/>
              </a:rPr>
              <a:t>fc replaced by Linear(2048, 2)   →   softmax   →   P_image</a:t>
            </a:r>
          </a:p>
        </p:txBody>
      </p:sp>
      <p:sp>
        <p:nvSpPr>
          <p:cNvPr id="24" name="Down Arrow 23"/>
          <p:cNvSpPr/>
          <p:nvPr/>
        </p:nvSpPr>
        <p:spPr>
          <a:xfrm>
            <a:off x="3003804" y="4407408"/>
            <a:ext cx="155448" cy="146304"/>
          </a:xfrm>
          <a:prstGeom prst="downArrow">
            <a:avLst/>
          </a:prstGeom>
          <a:solidFill>
            <a:srgbClr val="1E3A5F"/>
          </a:solidFill>
          <a:ln>
            <a:noFill/>
          </a:ln>
          <a:effectLst/>
        </p:spPr>
        <p:txBody>
          <a:bodyPr rtlCol="0" anchor="ctr" wrap="square"/>
          <a:lstStyle/>
          <a:p>
            <a:pPr algn="ctr"/>
          </a:p>
        </p:txBody>
      </p:sp>
      <p:sp>
        <p:nvSpPr>
          <p:cNvPr id="25" name="Down Arrow 24"/>
          <p:cNvSpPr/>
          <p:nvPr/>
        </p:nvSpPr>
        <p:spPr>
          <a:xfrm>
            <a:off x="8901684" y="4407408"/>
            <a:ext cx="155448" cy="146304"/>
          </a:xfrm>
          <a:prstGeom prst="downArrow">
            <a:avLst/>
          </a:prstGeom>
          <a:solidFill>
            <a:srgbClr val="1E3A5F"/>
          </a:solidFill>
          <a:ln>
            <a:noFill/>
          </a:ln>
          <a:effectLst/>
        </p:spPr>
        <p:txBody>
          <a:bodyPr rtlCol="0" anchor="ctr" wrap="square"/>
          <a:lstStyle/>
          <a:p>
            <a:pPr algn="ctr"/>
          </a:p>
        </p:txBody>
      </p:sp>
      <p:sp>
        <p:nvSpPr>
          <p:cNvPr id="26" name="Rectangle 25"/>
          <p:cNvSpPr/>
          <p:nvPr/>
        </p:nvSpPr>
        <p:spPr>
          <a:xfrm>
            <a:off x="566928" y="4590288"/>
            <a:ext cx="11057839" cy="512064"/>
          </a:xfrm>
          <a:prstGeom prst="rect">
            <a:avLst/>
          </a:prstGeom>
          <a:solidFill>
            <a:srgbClr val="0E7C7B"/>
          </a:solidFill>
          <a:ln>
            <a:noFill/>
          </a:ln>
          <a:effectLst/>
        </p:spPr>
        <p:txBody>
          <a:bodyPr rtlCol="0" anchor="ctr" wrap="square"/>
          <a:lstStyle/>
          <a:p>
            <a:pPr algn="ctr"/>
            <a:r>
              <a:rPr sz="1250" b="1">
                <a:solidFill>
                  <a:srgbClr val="FFFFFF"/>
                </a:solidFill>
                <a:latin typeface="Calibri"/>
              </a:rPr>
              <a:t>LATE FUSION  (no learnable parameters, no training pass)      P_fused(c) = α · P_text(c | t)  +  (1 − α) · P_image(c | v)</a:t>
            </a:r>
          </a:p>
        </p:txBody>
      </p:sp>
      <p:sp>
        <p:nvSpPr>
          <p:cNvPr id="27" name="Down Arrow 26"/>
          <p:cNvSpPr/>
          <p:nvPr/>
        </p:nvSpPr>
        <p:spPr>
          <a:xfrm>
            <a:off x="6018123" y="5120640"/>
            <a:ext cx="155448" cy="128016"/>
          </a:xfrm>
          <a:prstGeom prst="downArrow">
            <a:avLst/>
          </a:prstGeom>
          <a:solidFill>
            <a:srgbClr val="1E3A5F"/>
          </a:solidFill>
          <a:ln>
            <a:noFill/>
          </a:ln>
          <a:effectLst/>
        </p:spPr>
        <p:txBody>
          <a:bodyPr rtlCol="0" anchor="ctr" wrap="square"/>
          <a:lstStyle/>
          <a:p>
            <a:pPr algn="ctr"/>
          </a:p>
        </p:txBody>
      </p:sp>
      <p:sp>
        <p:nvSpPr>
          <p:cNvPr id="28" name="Rectangle 27"/>
          <p:cNvSpPr/>
          <p:nvPr/>
        </p:nvSpPr>
        <p:spPr>
          <a:xfrm>
            <a:off x="3931920" y="5285232"/>
            <a:ext cx="4325112" cy="329184"/>
          </a:xfrm>
          <a:prstGeom prst="rect">
            <a:avLst/>
          </a:prstGeom>
          <a:solidFill>
            <a:srgbClr val="FFFFFF"/>
          </a:solidFill>
          <a:ln w="9525">
            <a:solidFill>
              <a:srgbClr val="C3CEDB"/>
            </a:solidFill>
          </a:ln>
          <a:effectLst/>
        </p:spPr>
        <p:txBody>
          <a:bodyPr rtlCol="0" anchor="ctr" wrap="square" lIns="54864" rIns="54864" tIns="0" bIns="0"/>
          <a:lstStyle/>
          <a:p>
            <a:pPr algn="ctr"/>
            <a:r>
              <a:rPr sz="1000" b="0">
                <a:solidFill>
                  <a:srgbClr val="1A2330"/>
                </a:solidFill>
                <a:latin typeface="Calibri"/>
              </a:rPr>
              <a:t>verdict = argmax P_fused      confidence = max P_fused</a:t>
            </a:r>
          </a:p>
        </p:txBody>
      </p:sp>
      <p:sp>
        <p:nvSpPr>
          <p:cNvPr id="29" name="Down Arrow 28"/>
          <p:cNvSpPr/>
          <p:nvPr/>
        </p:nvSpPr>
        <p:spPr>
          <a:xfrm>
            <a:off x="6016752" y="5632704"/>
            <a:ext cx="155448" cy="91440"/>
          </a:xfrm>
          <a:prstGeom prst="downArrow">
            <a:avLst/>
          </a:prstGeom>
          <a:solidFill>
            <a:srgbClr val="1E3A5F"/>
          </a:solidFill>
          <a:ln>
            <a:noFill/>
          </a:ln>
          <a:effectLst/>
        </p:spPr>
        <p:txBody>
          <a:bodyPr rtlCol="0" anchor="ctr" wrap="square"/>
          <a:lstStyle/>
          <a:p>
            <a:pPr algn="ctr"/>
          </a:p>
        </p:txBody>
      </p:sp>
      <p:sp>
        <p:nvSpPr>
          <p:cNvPr id="30" name="Rectangle 29"/>
          <p:cNvSpPr/>
          <p:nvPr/>
        </p:nvSpPr>
        <p:spPr>
          <a:xfrm>
            <a:off x="3840480" y="5742432"/>
            <a:ext cx="2148840" cy="310896"/>
          </a:xfrm>
          <a:prstGeom prst="rect">
            <a:avLst/>
          </a:prstGeom>
          <a:solidFill>
            <a:srgbClr val="E3F0EF"/>
          </a:solidFill>
          <a:ln w="9525">
            <a:solidFill>
              <a:srgbClr val="0E7C7B"/>
            </a:solidFill>
          </a:ln>
          <a:effectLst/>
        </p:spPr>
        <p:txBody>
          <a:bodyPr rtlCol="0" anchor="ctr" wrap="square" lIns="54864" rIns="54864" tIns="0" bIns="0"/>
          <a:lstStyle/>
          <a:p>
            <a:pPr algn="ctr"/>
            <a:r>
              <a:rPr sz="1050" b="1">
                <a:solidFill>
                  <a:srgbClr val="0E7C7B"/>
                </a:solidFill>
                <a:latin typeface="Calibri"/>
              </a:rPr>
              <a:t>REAL  —  label 1</a:t>
            </a:r>
          </a:p>
        </p:txBody>
      </p:sp>
      <p:sp>
        <p:nvSpPr>
          <p:cNvPr id="31" name="Rectangle 30"/>
          <p:cNvSpPr/>
          <p:nvPr/>
        </p:nvSpPr>
        <p:spPr>
          <a:xfrm>
            <a:off x="6199632" y="5742432"/>
            <a:ext cx="2148840" cy="310896"/>
          </a:xfrm>
          <a:prstGeom prst="rect">
            <a:avLst/>
          </a:prstGeom>
          <a:solidFill>
            <a:srgbClr val="FBEEE7"/>
          </a:solidFill>
          <a:ln w="9525">
            <a:solidFill>
              <a:srgbClr val="C1521D"/>
            </a:solidFill>
          </a:ln>
          <a:effectLst/>
        </p:spPr>
        <p:txBody>
          <a:bodyPr rtlCol="0" anchor="ctr" wrap="square" lIns="54864" rIns="54864" tIns="0" bIns="0"/>
          <a:lstStyle/>
          <a:p>
            <a:pPr algn="ctr"/>
            <a:r>
              <a:rPr sz="1050" b="1">
                <a:solidFill>
                  <a:srgbClr val="C1521D"/>
                </a:solidFill>
                <a:latin typeface="Calibri"/>
              </a:rPr>
              <a:t>FAKE  —  label 0</a:t>
            </a:r>
          </a:p>
        </p:txBody>
      </p:sp>
      <p:sp>
        <p:nvSpPr>
          <p:cNvPr id="32" name="Rectangle 31"/>
          <p:cNvSpPr/>
          <p:nvPr/>
        </p:nvSpPr>
        <p:spPr>
          <a:xfrm>
            <a:off x="566928" y="5705856"/>
            <a:ext cx="2240280" cy="566928"/>
          </a:xfrm>
          <a:prstGeom prst="rect">
            <a:avLst/>
          </a:prstGeom>
          <a:solidFill>
            <a:srgbClr val="FBEEE7"/>
          </a:solidFill>
          <a:ln w="9525">
            <a:solidFill>
              <a:srgbClr val="E8C4B2"/>
            </a:solidFill>
          </a:ln>
          <a:effectLst/>
        </p:spPr>
        <p:txBody>
          <a:bodyPr rtlCol="0" anchor="ctr" wrap="square"/>
          <a:lstStyle/>
          <a:p>
            <a:pPr algn="ctr"/>
          </a:p>
        </p:txBody>
      </p:sp>
      <p:sp>
        <p:nvSpPr>
          <p:cNvPr id="33" name="TextBox 32"/>
          <p:cNvSpPr txBox="1"/>
          <p:nvPr/>
        </p:nvSpPr>
        <p:spPr>
          <a:xfrm>
            <a:off x="676656" y="5769864"/>
            <a:ext cx="2048256" cy="457200"/>
          </a:xfrm>
          <a:prstGeom prst="rect">
            <a:avLst/>
          </a:prstGeom>
          <a:noFill/>
        </p:spPr>
        <p:txBody>
          <a:bodyPr wrap="square" anchor="t" lIns="0" rIns="0" tIns="0" bIns="0">
            <a:spAutoFit/>
          </a:bodyPr>
          <a:lstStyle/>
          <a:p>
            <a:pPr algn="l">
              <a:spcAft>
                <a:spcPts val="100"/>
              </a:spcAft>
            </a:pPr>
            <a:r>
              <a:rPr sz="860" b="1" i="0">
                <a:solidFill>
                  <a:srgbClr val="C1521D"/>
                </a:solidFill>
                <a:latin typeface="Calibri"/>
              </a:rPr>
              <a:t>D2  α = 0.50 offline, 0.60 deployed</a:t>
            </a:r>
          </a:p>
          <a:p>
            <a:pPr algn="l">
              <a:spcAft>
                <a:spcPts val="0"/>
              </a:spcAft>
            </a:pPr>
            <a:r>
              <a:rPr sz="800" b="0" i="0">
                <a:solidFill>
                  <a:srgbClr val="5B6B7C"/>
                </a:solidFill>
                <a:latin typeface="Calibri"/>
              </a:rPr>
              <a:t>The deployed setting has never been evaluated</a:t>
            </a:r>
          </a:p>
        </p:txBody>
      </p:sp>
      <p:sp>
        <p:nvSpPr>
          <p:cNvPr id="34" name="Rectangle 33"/>
          <p:cNvSpPr/>
          <p:nvPr/>
        </p:nvSpPr>
        <p:spPr>
          <a:xfrm>
            <a:off x="9384487" y="5705856"/>
            <a:ext cx="2240280" cy="566928"/>
          </a:xfrm>
          <a:prstGeom prst="rect">
            <a:avLst/>
          </a:prstGeom>
          <a:solidFill>
            <a:srgbClr val="FBEEE7"/>
          </a:solidFill>
          <a:ln w="9525">
            <a:solidFill>
              <a:srgbClr val="E8C4B2"/>
            </a:solidFill>
          </a:ln>
          <a:effectLst/>
        </p:spPr>
        <p:txBody>
          <a:bodyPr rtlCol="0" anchor="ctr" wrap="square"/>
          <a:lstStyle/>
          <a:p>
            <a:pPr algn="ctr"/>
          </a:p>
        </p:txBody>
      </p:sp>
      <p:sp>
        <p:nvSpPr>
          <p:cNvPr id="35" name="TextBox 34"/>
          <p:cNvSpPr txBox="1"/>
          <p:nvPr/>
        </p:nvSpPr>
        <p:spPr>
          <a:xfrm>
            <a:off x="9494215" y="5769864"/>
            <a:ext cx="2048256" cy="457200"/>
          </a:xfrm>
          <a:prstGeom prst="rect">
            <a:avLst/>
          </a:prstGeom>
          <a:noFill/>
        </p:spPr>
        <p:txBody>
          <a:bodyPr wrap="square" anchor="t" lIns="0" rIns="0" tIns="0" bIns="0">
            <a:spAutoFit/>
          </a:bodyPr>
          <a:lstStyle/>
          <a:p>
            <a:pPr algn="l">
              <a:spcAft>
                <a:spcPts val="100"/>
              </a:spcAft>
            </a:pPr>
            <a:r>
              <a:rPr sz="860" b="1" i="0">
                <a:solidFill>
                  <a:srgbClr val="C1521D"/>
                </a:solidFill>
                <a:latin typeface="Calibri"/>
              </a:rPr>
              <a:t>D3  application label map inverted</a:t>
            </a:r>
          </a:p>
          <a:p>
            <a:pPr algn="l">
              <a:spcAft>
                <a:spcPts val="0"/>
              </a:spcAft>
            </a:pPr>
            <a:r>
              <a:rPr sz="800" b="0" i="0">
                <a:solidFill>
                  <a:srgbClr val="5B6B7C"/>
                </a:solidFill>
                <a:latin typeface="Calibri"/>
              </a:rPr>
              <a:t>Two-character fix; impact until then is total</a:t>
            </a:r>
          </a:p>
        </p:txBody>
      </p:sp>
      <p:sp>
        <p:nvSpPr>
          <p:cNvPr id="36" name="TextBox 35"/>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37" name="TextBox 36"/>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09  METHODOLOGY</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Technical Methodology and Stack Breakdown</a:t>
            </a:r>
          </a:p>
        </p:txBody>
      </p:sp>
      <p:sp>
        <p:nvSpPr>
          <p:cNvPr id="4" name="Rectangle 3"/>
          <p:cNvSpPr/>
          <p:nvPr/>
        </p:nvSpPr>
        <p:spPr>
          <a:xfrm>
            <a:off x="566928" y="1426464"/>
            <a:ext cx="5358384" cy="2212848"/>
          </a:xfrm>
          <a:prstGeom prst="rect">
            <a:avLst/>
          </a:prstGeom>
          <a:solidFill>
            <a:srgbClr val="F4F7FA"/>
          </a:solidFill>
          <a:ln w="9525">
            <a:solidFill>
              <a:srgbClr val="D6DEE8"/>
            </a:solidFill>
          </a:ln>
          <a:effectLst/>
        </p:spPr>
        <p:txBody>
          <a:bodyPr rtlCol="0" anchor="ctr" wrap="square"/>
          <a:lstStyle/>
          <a:p>
            <a:pPr algn="ctr"/>
          </a:p>
        </p:txBody>
      </p:sp>
      <p:sp>
        <p:nvSpPr>
          <p:cNvPr id="5" name="TextBox 4"/>
          <p:cNvSpPr txBox="1"/>
          <p:nvPr/>
        </p:nvSpPr>
        <p:spPr>
          <a:xfrm>
            <a:off x="749808" y="1554480"/>
            <a:ext cx="4992624"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Corpus, partition and label semantics</a:t>
            </a:r>
          </a:p>
        </p:txBody>
      </p:sp>
      <p:sp>
        <p:nvSpPr>
          <p:cNvPr id="6" name="TextBox 5"/>
          <p:cNvSpPr txBox="1"/>
          <p:nvPr/>
        </p:nvSpPr>
        <p:spPr>
          <a:xfrm>
            <a:off x="749808" y="1901952"/>
            <a:ext cx="4992624" cy="1609343"/>
          </a:xfrm>
          <a:prstGeom prst="rect">
            <a:avLst/>
          </a:prstGeom>
          <a:noFill/>
        </p:spPr>
        <p:txBody>
          <a:bodyPr wrap="square" anchor="t" lIns="0" rIns="0" tIns="0" bIns="0">
            <a:spAutoFit/>
          </a:bodyPr>
          <a:lstStyle/>
          <a:p>
            <a:pPr algn="l" marL="146304" indent="-146304">
              <a:spcAft>
                <a:spcPts val="300"/>
              </a:spcAft>
              <a:buClr>
                <a:srgbClr val="0E7C7B"/>
              </a:buClr>
              <a:buFont typeface="Arial"/>
              <a:buChar char="•"/>
            </a:pPr>
            <a:r>
              <a:rPr sz="969" b="0" i="0">
                <a:solidFill>
                  <a:srgbClr val="1A2330"/>
                </a:solidFill>
                <a:latin typeface="Calibri"/>
              </a:rPr>
              <a:t>final_train_17k.tsv — 17,045 rows x 16 columns; four used: clean_title, image_url, 2_way_label, hasImage (true for all rows)</a:t>
            </a:r>
          </a:p>
          <a:p>
            <a:pPr algn="l" marL="146304" indent="-146304">
              <a:spcAft>
                <a:spcPts val="300"/>
              </a:spcAft>
              <a:buClr>
                <a:srgbClr val="0E7C7B"/>
              </a:buClr>
              <a:buFont typeface="Arial"/>
              <a:buChar char="•"/>
            </a:pPr>
            <a:r>
              <a:rPr sz="969" b="0" i="0">
                <a:solidFill>
                  <a:srgbClr val="1A2330"/>
                </a:solidFill>
                <a:latin typeface="Calibri"/>
              </a:rPr>
              <a:t>Headlines are short: mean 42.1 characters, sd 32.1, median 34, max 470 — a 128-token cap truncates almost nothing</a:t>
            </a:r>
          </a:p>
          <a:p>
            <a:pPr algn="l" marL="146304" indent="-146304">
              <a:spcAft>
                <a:spcPts val="300"/>
              </a:spcAft>
              <a:buClr>
                <a:srgbClr val="0E7C7B"/>
              </a:buClr>
              <a:buFont typeface="Arial"/>
              <a:buChar char="•"/>
            </a:pPr>
            <a:r>
              <a:rPr sz="969" b="0" i="0">
                <a:solidFill>
                  <a:srgbClr val="1A2330"/>
                </a:solidFill>
                <a:latin typeface="Calibri"/>
              </a:rPr>
              <a:t>train_test_split(test_size = 0.2, random_state = 42, stratify = label) → 13,636 train / 3,409 test, class ratio preserved</a:t>
            </a:r>
          </a:p>
          <a:p>
            <a:pPr algn="l" marL="146304" indent="-146304">
              <a:spcAft>
                <a:spcPts val="300"/>
              </a:spcAft>
              <a:buClr>
                <a:srgbClr val="0E7C7B"/>
              </a:buClr>
              <a:buFont typeface="Arial"/>
              <a:buChar char="•"/>
            </a:pPr>
            <a:r>
              <a:rPr sz="969" b="0" i="0">
                <a:solidFill>
                  <a:srgbClr val="1A2330"/>
                </a:solidFill>
                <a:latin typeface="Calibri"/>
              </a:rPr>
              <a:t>Label semantics established by cross-tabulating 2-way x 6-way x subreddit over all 17,045 rows: label 1 = REAL, label 0 = FAKE</a:t>
            </a:r>
          </a:p>
          <a:p>
            <a:pPr algn="l" marL="146304" indent="-146304">
              <a:spcAft>
                <a:spcPts val="300"/>
              </a:spcAft>
              <a:buClr>
                <a:srgbClr val="0E7C7B"/>
              </a:buClr>
              <a:buFont typeface="Arial"/>
              <a:buChar char="•"/>
            </a:pPr>
            <a:r>
              <a:rPr sz="969" b="0" i="0">
                <a:solidFill>
                  <a:srgbClr val="1A2330"/>
                </a:solidFill>
                <a:latin typeface="Calibri"/>
              </a:rPr>
              <a:t>Class balance 10,404 FAKE (61.04 %) / 6,641 REAL (38.96 %) — the honest floor is 0.6104, not 0.50</a:t>
            </a:r>
          </a:p>
        </p:txBody>
      </p:sp>
      <p:sp>
        <p:nvSpPr>
          <p:cNvPr id="7" name="Rectangle 6"/>
          <p:cNvSpPr/>
          <p:nvPr/>
        </p:nvSpPr>
        <p:spPr>
          <a:xfrm>
            <a:off x="6236208" y="1426464"/>
            <a:ext cx="5367528" cy="2212848"/>
          </a:xfrm>
          <a:prstGeom prst="rect">
            <a:avLst/>
          </a:prstGeom>
          <a:solidFill>
            <a:srgbClr val="F4F7FA"/>
          </a:solidFill>
          <a:ln w="9525">
            <a:solidFill>
              <a:srgbClr val="D6DEE8"/>
            </a:solidFill>
          </a:ln>
          <a:effectLst/>
        </p:spPr>
        <p:txBody>
          <a:bodyPr rtlCol="0" anchor="ctr" wrap="square"/>
          <a:lstStyle/>
          <a:p>
            <a:pPr algn="ctr"/>
          </a:p>
        </p:txBody>
      </p:sp>
      <p:sp>
        <p:nvSpPr>
          <p:cNvPr id="8" name="TextBox 7"/>
          <p:cNvSpPr txBox="1"/>
          <p:nvPr/>
        </p:nvSpPr>
        <p:spPr>
          <a:xfrm>
            <a:off x="6419088" y="1554480"/>
            <a:ext cx="5001768"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Optimisation protocol (held constant)</a:t>
            </a:r>
          </a:p>
        </p:txBody>
      </p:sp>
      <p:sp>
        <p:nvSpPr>
          <p:cNvPr id="9" name="TextBox 8"/>
          <p:cNvSpPr txBox="1"/>
          <p:nvPr/>
        </p:nvSpPr>
        <p:spPr>
          <a:xfrm>
            <a:off x="6419088" y="1901952"/>
            <a:ext cx="5001768" cy="1609343"/>
          </a:xfrm>
          <a:prstGeom prst="rect">
            <a:avLst/>
          </a:prstGeom>
          <a:noFill/>
        </p:spPr>
        <p:txBody>
          <a:bodyPr wrap="square" anchor="t" lIns="0" rIns="0" tIns="0" bIns="0">
            <a:spAutoFit/>
          </a:bodyPr>
          <a:lstStyle/>
          <a:p>
            <a:pPr algn="l" marL="146304" indent="-146304">
              <a:spcAft>
                <a:spcPts val="300"/>
              </a:spcAft>
              <a:buClr>
                <a:srgbClr val="1E3A5F"/>
              </a:buClr>
              <a:buFont typeface="Arial"/>
              <a:buChar char="•"/>
            </a:pPr>
            <a:r>
              <a:rPr sz="969" b="0" i="0">
                <a:solidFill>
                  <a:srgbClr val="1A2330"/>
                </a:solidFill>
                <a:latin typeface="Calibri"/>
              </a:rPr>
              <a:t>Text: AdamW, lr 2e-5, linear decay, zero warm-up, gradient-norm clip 1.0, batch 16, sequence length 128, 2 epochs (3 for XLM-RoBERTa)</a:t>
            </a:r>
          </a:p>
          <a:p>
            <a:pPr algn="l" marL="146304" indent="-146304">
              <a:spcAft>
                <a:spcPts val="300"/>
              </a:spcAft>
              <a:buClr>
                <a:srgbClr val="1E3A5F"/>
              </a:buClr>
              <a:buFont typeface="Arial"/>
              <a:buChar char="•"/>
            </a:pPr>
            <a:r>
              <a:rPr sz="969" b="0" i="0">
                <a:solidFill>
                  <a:srgbClr val="1A2330"/>
                </a:solidFill>
                <a:latin typeface="Calibri"/>
              </a:rPr>
              <a:t>Vision: Adam, lr 1e-4, constant schedule, no clipping, batch 16, 2 epochs</a:t>
            </a:r>
          </a:p>
          <a:p>
            <a:pPr algn="l" marL="146304" indent="-146304">
              <a:spcAft>
                <a:spcPts val="300"/>
              </a:spcAft>
              <a:buClr>
                <a:srgbClr val="1E3A5F"/>
              </a:buClr>
              <a:buFont typeface="Arial"/>
              <a:buChar char="•"/>
            </a:pPr>
            <a:r>
              <a:rPr sz="969" b="0" i="0">
                <a:solidFill>
                  <a:srgbClr val="1A2330"/>
                </a:solidFill>
                <a:latin typeface="Calibri"/>
              </a:rPr>
              <a:t>Loss is unweighted cross-entropy throughout; no class weighting, resampling or focal loss in any experiment</a:t>
            </a:r>
          </a:p>
          <a:p>
            <a:pPr algn="l" marL="146304" indent="-146304">
              <a:spcAft>
                <a:spcPts val="300"/>
              </a:spcAft>
              <a:buClr>
                <a:srgbClr val="1E3A5F"/>
              </a:buClr>
              <a:buFont typeface="Arial"/>
              <a:buChar char="•"/>
            </a:pPr>
            <a:r>
              <a:rPr sz="969" b="0" i="0">
                <a:solidFill>
                  <a:srgbClr val="1A2330"/>
                </a:solidFill>
                <a:latin typeface="Calibri"/>
              </a:rPr>
              <a:t>Metrics: scikit-learn accuracy / precision / recall / F1, zero_division = 0, binary averaging, pos_label = 1 — therefore all P/R/F1 describe REAL-news retrieval (defect D7)</a:t>
            </a:r>
          </a:p>
        </p:txBody>
      </p:sp>
      <p:graphicFrame>
        <p:nvGraphicFramePr>
          <p:cNvPr id="10" name="Table 9"/>
          <p:cNvGraphicFramePr>
            <a:graphicFrameLocks noGrp="1"/>
          </p:cNvGraphicFramePr>
          <p:nvPr/>
        </p:nvGraphicFramePr>
        <p:xfrm>
          <a:off x="566928" y="3840480"/>
          <a:ext cx="11055095" cy="2313432"/>
        </p:xfrm>
        <a:graphic>
          <a:graphicData uri="http://schemas.openxmlformats.org/drawingml/2006/table">
            <a:tbl>
              <a:tblPr/>
              <a:tblGrid>
                <a:gridCol w="1874519"/>
                <a:gridCol w="3246120"/>
                <a:gridCol w="5934456"/>
              </a:tblGrid>
              <a:tr h="310896">
                <a:tc>
                  <a:txBody>
                    <a:bodyPr wrap="square"/>
                    <a:lstStyle/>
                    <a:p>
                      <a:pPr algn="l"/>
                      <a:r>
                        <a:rPr sz="940" b="1" i="0">
                          <a:solidFill>
                            <a:srgbClr val="FFFFFF"/>
                          </a:solidFill>
                          <a:latin typeface="Calibri"/>
                        </a:rPr>
                        <a:t>Layer</a:t>
                      </a:r>
                    </a:p>
                  </a:txBody>
                  <a:tcPr marL="64008" marR="64008" marT="27432" marB="27432" anchor="ctr">
                    <a:solidFill>
                      <a:srgbClr val="12233C"/>
                    </a:solidFill>
                  </a:tcPr>
                </a:tc>
                <a:tc>
                  <a:txBody>
                    <a:bodyPr wrap="square"/>
                    <a:lstStyle/>
                    <a:p>
                      <a:pPr algn="l"/>
                      <a:r>
                        <a:rPr sz="940" b="1" i="0">
                          <a:solidFill>
                            <a:srgbClr val="FFFFFF"/>
                          </a:solidFill>
                          <a:latin typeface="Calibri"/>
                        </a:rPr>
                        <a:t>Component</a:t>
                      </a:r>
                    </a:p>
                  </a:txBody>
                  <a:tcPr marL="64008" marR="64008" marT="27432" marB="27432" anchor="ctr">
                    <a:solidFill>
                      <a:srgbClr val="12233C"/>
                    </a:solidFill>
                  </a:tcPr>
                </a:tc>
                <a:tc>
                  <a:txBody>
                    <a:bodyPr wrap="square"/>
                    <a:lstStyle/>
                    <a:p>
                      <a:pPr algn="l"/>
                      <a:r>
                        <a:rPr sz="940" b="1" i="0">
                          <a:solidFill>
                            <a:srgbClr val="FFFFFF"/>
                          </a:solidFill>
                          <a:latin typeface="Calibri"/>
                        </a:rPr>
                        <a:t>Role in the system</a:t>
                      </a:r>
                    </a:p>
                  </a:txBody>
                  <a:tcPr marL="64008" marR="64008" marT="27432" marB="27432" anchor="ctr">
                    <a:solidFill>
                      <a:srgbClr val="12233C"/>
                    </a:solidFill>
                  </a:tcPr>
                </a:tc>
              </a:tr>
              <a:tr h="333756">
                <a:tc>
                  <a:txBody>
                    <a:bodyPr wrap="square"/>
                    <a:lstStyle/>
                    <a:p>
                      <a:pPr algn="l"/>
                      <a:r>
                        <a:rPr sz="940" b="0" i="0">
                          <a:solidFill>
                            <a:srgbClr val="1A2330"/>
                          </a:solidFill>
                          <a:latin typeface="Calibri"/>
                        </a:rPr>
                        <a:t>Modelling</a:t>
                      </a:r>
                    </a:p>
                  </a:txBody>
                  <a:tcPr marL="64008" marR="64008" marT="27432" marB="27432" anchor="ctr">
                    <a:solidFill>
                      <a:srgbClr val="F4F7FA"/>
                    </a:solidFill>
                  </a:tcPr>
                </a:tc>
                <a:tc>
                  <a:txBody>
                    <a:bodyPr wrap="square"/>
                    <a:lstStyle/>
                    <a:p>
                      <a:pPr algn="l"/>
                      <a:r>
                        <a:rPr sz="940" b="0" i="0">
                          <a:solidFill>
                            <a:srgbClr val="1A2330"/>
                          </a:solidFill>
                          <a:latin typeface="Calibri"/>
                        </a:rPr>
                        <a:t>PyTorch + torchvision</a:t>
                      </a:r>
                    </a:p>
                  </a:txBody>
                  <a:tcPr marL="64008" marR="64008" marT="27432" marB="27432" anchor="ctr">
                    <a:solidFill>
                      <a:srgbClr val="F4F7FA"/>
                    </a:solidFill>
                  </a:tcPr>
                </a:tc>
                <a:tc>
                  <a:txBody>
                    <a:bodyPr wrap="square"/>
                    <a:lstStyle/>
                    <a:p>
                      <a:pPr algn="l"/>
                      <a:r>
                        <a:rPr sz="940" b="0" i="0">
                          <a:solidFill>
                            <a:srgbClr val="1A2330"/>
                          </a:solidFill>
                          <a:latin typeface="Calibri"/>
                        </a:rPr>
                        <a:t>Vision backbones (ResNet-50, ViT-B/16, EfficientNet-B0) and training loops</a:t>
                      </a:r>
                    </a:p>
                  </a:txBody>
                  <a:tcPr marL="64008" marR="64008" marT="27432" marB="27432" anchor="ctr">
                    <a:solidFill>
                      <a:srgbClr val="F4F7FA"/>
                    </a:solidFill>
                  </a:tcPr>
                </a:tc>
              </a:tr>
              <a:tr h="333756">
                <a:tc>
                  <a:txBody>
                    <a:bodyPr wrap="square"/>
                    <a:lstStyle/>
                    <a:p>
                      <a:pPr algn="l"/>
                      <a:r>
                        <a:rPr sz="940" b="0" i="0">
                          <a:solidFill>
                            <a:srgbClr val="1A2330"/>
                          </a:solidFill>
                          <a:latin typeface="Calibri"/>
                        </a:rPr>
                        <a:t>Modelling</a:t>
                      </a:r>
                    </a:p>
                  </a:txBody>
                  <a:tcPr marL="64008" marR="64008" marT="27432" marB="27432" anchor="ctr">
                    <a:solidFill>
                      <a:srgbClr val="FFFFFF"/>
                    </a:solidFill>
                  </a:tcPr>
                </a:tc>
                <a:tc>
                  <a:txBody>
                    <a:bodyPr wrap="square"/>
                    <a:lstStyle/>
                    <a:p>
                      <a:pPr algn="l"/>
                      <a:r>
                        <a:rPr sz="940" b="0" i="0">
                          <a:solidFill>
                            <a:srgbClr val="1A2330"/>
                          </a:solidFill>
                          <a:latin typeface="Calibri"/>
                        </a:rPr>
                        <a:t>Hugging Face Transformers 4.35.0</a:t>
                      </a:r>
                    </a:p>
                  </a:txBody>
                  <a:tcPr marL="64008" marR="64008" marT="27432" marB="27432" anchor="ctr">
                    <a:solidFill>
                      <a:srgbClr val="FFFFFF"/>
                    </a:solidFill>
                  </a:tcPr>
                </a:tc>
                <a:tc>
                  <a:txBody>
                    <a:bodyPr wrap="square"/>
                    <a:lstStyle/>
                    <a:p>
                      <a:pPr algn="l"/>
                      <a:r>
                        <a:rPr sz="940" b="0" i="0">
                          <a:solidFill>
                            <a:srgbClr val="1A2330"/>
                          </a:solidFill>
                          <a:latin typeface="Calibri"/>
                        </a:rPr>
                        <a:t>BERT-base-uncased, mBERT, XLM-RoBERTa-base + AutoModelForSequenceClassification</a:t>
                      </a:r>
                    </a:p>
                  </a:txBody>
                  <a:tcPr marL="64008" marR="64008" marT="27432" marB="27432" anchor="ctr">
                    <a:solidFill>
                      <a:srgbClr val="FFFFFF"/>
                    </a:solidFill>
                  </a:tcPr>
                </a:tc>
              </a:tr>
              <a:tr h="333756">
                <a:tc>
                  <a:txBody>
                    <a:bodyPr wrap="square"/>
                    <a:lstStyle/>
                    <a:p>
                      <a:pPr algn="l"/>
                      <a:r>
                        <a:rPr sz="940" b="0" i="0">
                          <a:solidFill>
                            <a:srgbClr val="1A2330"/>
                          </a:solidFill>
                          <a:latin typeface="Calibri"/>
                        </a:rPr>
                        <a:t>Modelling</a:t>
                      </a:r>
                    </a:p>
                  </a:txBody>
                  <a:tcPr marL="64008" marR="64008" marT="27432" marB="27432" anchor="ctr">
                    <a:solidFill>
                      <a:srgbClr val="F4F7FA"/>
                    </a:solidFill>
                  </a:tcPr>
                </a:tc>
                <a:tc>
                  <a:txBody>
                    <a:bodyPr wrap="square"/>
                    <a:lstStyle/>
                    <a:p>
                      <a:pPr algn="l"/>
                      <a:r>
                        <a:rPr sz="940" b="0" i="0">
                          <a:solidFill>
                            <a:srgbClr val="1A2330"/>
                          </a:solidFill>
                          <a:latin typeface="Calibri"/>
                        </a:rPr>
                        <a:t>scikit-learn</a:t>
                      </a:r>
                    </a:p>
                  </a:txBody>
                  <a:tcPr marL="64008" marR="64008" marT="27432" marB="27432" anchor="ctr">
                    <a:solidFill>
                      <a:srgbClr val="F4F7FA"/>
                    </a:solidFill>
                  </a:tcPr>
                </a:tc>
                <a:tc>
                  <a:txBody>
                    <a:bodyPr wrap="square"/>
                    <a:lstStyle/>
                    <a:p>
                      <a:pPr algn="l"/>
                      <a:r>
                        <a:rPr sz="940" b="0" i="0">
                          <a:solidFill>
                            <a:srgbClr val="1A2330"/>
                          </a:solidFill>
                          <a:latin typeface="Calibri"/>
                        </a:rPr>
                        <a:t>TF-IDF (5,000 features, 1–2 gram) + logistic regression baseline; all metrics</a:t>
                      </a:r>
                    </a:p>
                  </a:txBody>
                  <a:tcPr marL="64008" marR="64008" marT="27432" marB="27432" anchor="ctr">
                    <a:solidFill>
                      <a:srgbClr val="F4F7FA"/>
                    </a:solidFill>
                  </a:tcPr>
                </a:tc>
              </a:tr>
              <a:tr h="333756">
                <a:tc>
                  <a:txBody>
                    <a:bodyPr wrap="square"/>
                    <a:lstStyle/>
                    <a:p>
                      <a:pPr algn="l"/>
                      <a:r>
                        <a:rPr sz="940" b="0" i="0">
                          <a:solidFill>
                            <a:srgbClr val="1A2330"/>
                          </a:solidFill>
                          <a:latin typeface="Calibri"/>
                        </a:rPr>
                        <a:t>Secondary experiment</a:t>
                      </a:r>
                    </a:p>
                  </a:txBody>
                  <a:tcPr marL="64008" marR="64008" marT="27432" marB="27432" anchor="ctr">
                    <a:solidFill>
                      <a:srgbClr val="FFFFFF"/>
                    </a:solidFill>
                  </a:tcPr>
                </a:tc>
                <a:tc>
                  <a:txBody>
                    <a:bodyPr wrap="square"/>
                    <a:lstStyle/>
                    <a:p>
                      <a:pPr algn="l"/>
                      <a:r>
                        <a:rPr sz="940" b="0" i="0">
                          <a:solidFill>
                            <a:srgbClr val="1A2330"/>
                          </a:solidFill>
                          <a:latin typeface="Calibri"/>
                        </a:rPr>
                        <a:t>sentence-transformers + PyTorch Lightning</a:t>
                      </a:r>
                    </a:p>
                  </a:txBody>
                  <a:tcPr marL="64008" marR="64008" marT="27432" marB="27432" anchor="ctr">
                    <a:solidFill>
                      <a:srgbClr val="FFFFFF"/>
                    </a:solidFill>
                  </a:tcPr>
                </a:tc>
                <a:tc>
                  <a:txBody>
                    <a:bodyPr wrap="square"/>
                    <a:lstStyle/>
                    <a:p>
                      <a:pPr algn="l"/>
                      <a:r>
                        <a:rPr sz="940" b="0" i="0">
                          <a:solidFill>
                            <a:srgbClr val="1A2330"/>
                          </a:solidFill>
                          <a:latin typeface="Calibri"/>
                        </a:rPr>
                        <a:t>Frozen all-distilroberta-v1 embeddings with ResNet-152 intermediate fusion</a:t>
                      </a:r>
                    </a:p>
                  </a:txBody>
                  <a:tcPr marL="64008" marR="64008" marT="27432" marB="27432" anchor="ctr">
                    <a:solidFill>
                      <a:srgbClr val="FFFFFF"/>
                    </a:solidFill>
                  </a:tcPr>
                </a:tc>
              </a:tr>
              <a:tr h="333756">
                <a:tc>
                  <a:txBody>
                    <a:bodyPr wrap="square"/>
                    <a:lstStyle/>
                    <a:p>
                      <a:pPr algn="l"/>
                      <a:r>
                        <a:rPr sz="940" b="0" i="0">
                          <a:solidFill>
                            <a:srgbClr val="1A2330"/>
                          </a:solidFill>
                          <a:latin typeface="Calibri"/>
                        </a:rPr>
                        <a:t>Serving</a:t>
                      </a:r>
                    </a:p>
                  </a:txBody>
                  <a:tcPr marL="64008" marR="64008" marT="27432" marB="27432" anchor="ctr">
                    <a:solidFill>
                      <a:srgbClr val="F4F7FA"/>
                    </a:solidFill>
                  </a:tcPr>
                </a:tc>
                <a:tc>
                  <a:txBody>
                    <a:bodyPr wrap="square"/>
                    <a:lstStyle/>
                    <a:p>
                      <a:pPr algn="l"/>
                      <a:r>
                        <a:rPr sz="940" b="0" i="0">
                          <a:solidFill>
                            <a:srgbClr val="1A2330"/>
                          </a:solidFill>
                          <a:latin typeface="Calibri"/>
                        </a:rPr>
                        <a:t>Streamlit (459 lines)</a:t>
                      </a:r>
                    </a:p>
                  </a:txBody>
                  <a:tcPr marL="64008" marR="64008" marT="27432" marB="27432" anchor="ctr">
                    <a:solidFill>
                      <a:srgbClr val="F4F7FA"/>
                    </a:solidFill>
                  </a:tcPr>
                </a:tc>
                <a:tc>
                  <a:txBody>
                    <a:bodyPr wrap="square"/>
                    <a:lstStyle/>
                    <a:p>
                      <a:pPr algn="l"/>
                      <a:r>
                        <a:rPr sz="940" b="0" i="0">
                          <a:solidFill>
                            <a:srgbClr val="1A2330"/>
                          </a:solidFill>
                          <a:latin typeface="Calibri"/>
                        </a:rPr>
                        <a:t>Cached loaders, predict_text / predict_image / fusion_predict, verdict UI</a:t>
                      </a:r>
                    </a:p>
                  </a:txBody>
                  <a:tcPr marL="64008" marR="64008" marT="27432" marB="27432" anchor="ctr">
                    <a:solidFill>
                      <a:srgbClr val="F4F7FA"/>
                    </a:solidFill>
                  </a:tcPr>
                </a:tc>
              </a:tr>
              <a:tr h="333756">
                <a:tc>
                  <a:txBody>
                    <a:bodyPr wrap="square"/>
                    <a:lstStyle/>
                    <a:p>
                      <a:pPr algn="l"/>
                      <a:r>
                        <a:rPr sz="940" b="0" i="0">
                          <a:solidFill>
                            <a:srgbClr val="1A2330"/>
                          </a:solidFill>
                          <a:latin typeface="Calibri"/>
                        </a:rPr>
                        <a:t>Infrastructure</a:t>
                      </a:r>
                    </a:p>
                  </a:txBody>
                  <a:tcPr marL="64008" marR="64008" marT="27432" marB="27432" anchor="ctr">
                    <a:solidFill>
                      <a:srgbClr val="FFFFFF"/>
                    </a:solidFill>
                  </a:tcPr>
                </a:tc>
                <a:tc>
                  <a:txBody>
                    <a:bodyPr wrap="square"/>
                    <a:lstStyle/>
                    <a:p>
                      <a:pPr algn="l"/>
                      <a:r>
                        <a:rPr sz="940" b="0" i="0">
                          <a:solidFill>
                            <a:srgbClr val="1A2330"/>
                          </a:solidFill>
                          <a:latin typeface="Calibri"/>
                        </a:rPr>
                        <a:t>Google Colab, NVIDIA Tesla T4 16 GB; Google Drive; GitHub</a:t>
                      </a:r>
                    </a:p>
                  </a:txBody>
                  <a:tcPr marL="64008" marR="64008" marT="27432" marB="27432" anchor="ctr">
                    <a:solidFill>
                      <a:srgbClr val="FFFFFF"/>
                    </a:solidFill>
                  </a:tcPr>
                </a:tc>
                <a:tc>
                  <a:txBody>
                    <a:bodyPr wrap="square"/>
                    <a:lstStyle/>
                    <a:p>
                      <a:pPr algn="l"/>
                      <a:r>
                        <a:rPr sz="940" b="0" i="0">
                          <a:solidFill>
                            <a:srgbClr val="1A2330"/>
                          </a:solidFill>
                          <a:latin typeface="Calibri"/>
                        </a:rPr>
                        <a:t>Training runtime, checkpoint hosting (1.11 GB + 94 MB), version control</a:t>
                      </a:r>
                    </a:p>
                  </a:txBody>
                  <a:tcPr marL="64008" marR="64008" marT="27432" marB="27432" anchor="ctr">
                    <a:solidFill>
                      <a:srgbClr val="FFFFFF"/>
                    </a:solidFill>
                  </a:tcPr>
                </a:tc>
              </a:tr>
            </a:tbl>
          </a:graphicData>
        </a:graphic>
      </p:graphicFrame>
      <p:sp>
        <p:nvSpPr>
          <p:cNvPr id="11" name="TextBox 10"/>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12" name="TextBox 11"/>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10  RESULTS</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CSE 499A Progress and Proof of Concept</a:t>
            </a:r>
          </a:p>
        </p:txBody>
      </p:sp>
      <p:sp>
        <p:nvSpPr>
          <p:cNvPr id="4" name="TextBox 3"/>
          <p:cNvSpPr txBox="1"/>
          <p:nvPr/>
        </p:nvSpPr>
        <p:spPr>
          <a:xfrm>
            <a:off x="548640" y="1188720"/>
            <a:ext cx="11057839" cy="274320"/>
          </a:xfrm>
          <a:prstGeom prst="rect">
            <a:avLst/>
          </a:prstGeom>
          <a:noFill/>
        </p:spPr>
        <p:txBody>
          <a:bodyPr wrap="square" anchor="t" lIns="0" rIns="0" tIns="0" bIns="0">
            <a:spAutoFit/>
          </a:bodyPr>
          <a:lstStyle/>
          <a:p>
            <a:pPr algn="l">
              <a:spcAft>
                <a:spcPts val="0"/>
              </a:spcAft>
            </a:pPr>
            <a:r>
              <a:rPr sz="1150" b="0" i="1">
                <a:solidFill>
                  <a:srgbClr val="5B6B7C"/>
                </a:solidFill>
                <a:latin typeface="Calibri"/>
              </a:rPr>
              <a:t>Every value below was extracted from a stored notebook output cell on the identical 3,409-sample stratified test split</a:t>
            </a:r>
          </a:p>
        </p:txBody>
      </p:sp>
      <p:graphicFrame>
        <p:nvGraphicFramePr>
          <p:cNvPr id="5" name="Table 4"/>
          <p:cNvGraphicFramePr>
            <a:graphicFrameLocks noGrp="1"/>
          </p:cNvGraphicFramePr>
          <p:nvPr/>
        </p:nvGraphicFramePr>
        <p:xfrm>
          <a:off x="566928" y="1737360"/>
          <a:ext cx="6446520" cy="2802636"/>
        </p:xfrm>
        <a:graphic>
          <a:graphicData uri="http://schemas.openxmlformats.org/drawingml/2006/table">
            <a:tbl>
              <a:tblPr/>
              <a:tblGrid>
                <a:gridCol w="2331720"/>
                <a:gridCol w="1005840"/>
                <a:gridCol w="777240"/>
                <a:gridCol w="777240"/>
                <a:gridCol w="777240"/>
                <a:gridCol w="777240"/>
              </a:tblGrid>
              <a:tr h="292608">
                <a:tc>
                  <a:txBody>
                    <a:bodyPr wrap="square"/>
                    <a:lstStyle/>
                    <a:p>
                      <a:pPr algn="l"/>
                      <a:r>
                        <a:rPr sz="940" b="1" i="0">
                          <a:solidFill>
                            <a:srgbClr val="FFFFFF"/>
                          </a:solidFill>
                          <a:latin typeface="Calibri"/>
                        </a:rPr>
                        <a:t>Model</a:t>
                      </a:r>
                    </a:p>
                  </a:txBody>
                  <a:tcPr marL="64008" marR="64008" marT="27432" marB="27432" anchor="ctr">
                    <a:solidFill>
                      <a:srgbClr val="12233C"/>
                    </a:solidFill>
                  </a:tcPr>
                </a:tc>
                <a:tc>
                  <a:txBody>
                    <a:bodyPr wrap="square"/>
                    <a:lstStyle/>
                    <a:p>
                      <a:pPr algn="ctr"/>
                      <a:r>
                        <a:rPr sz="940" b="1" i="0">
                          <a:solidFill>
                            <a:srgbClr val="FFFFFF"/>
                          </a:solidFill>
                          <a:latin typeface="Calibri"/>
                        </a:rPr>
                        <a:t>Modality</a:t>
                      </a:r>
                    </a:p>
                  </a:txBody>
                  <a:tcPr marL="64008" marR="64008" marT="27432" marB="27432" anchor="ctr">
                    <a:solidFill>
                      <a:srgbClr val="12233C"/>
                    </a:solidFill>
                  </a:tcPr>
                </a:tc>
                <a:tc>
                  <a:txBody>
                    <a:bodyPr wrap="square"/>
                    <a:lstStyle/>
                    <a:p>
                      <a:pPr algn="ctr"/>
                      <a:r>
                        <a:rPr sz="940" b="1" i="0">
                          <a:solidFill>
                            <a:srgbClr val="FFFFFF"/>
                          </a:solidFill>
                          <a:latin typeface="Calibri"/>
                        </a:rPr>
                        <a:t>Acc.</a:t>
                      </a:r>
                    </a:p>
                  </a:txBody>
                  <a:tcPr marL="64008" marR="64008" marT="27432" marB="27432" anchor="ctr">
                    <a:solidFill>
                      <a:srgbClr val="12233C"/>
                    </a:solidFill>
                  </a:tcPr>
                </a:tc>
                <a:tc>
                  <a:txBody>
                    <a:bodyPr wrap="square"/>
                    <a:lstStyle/>
                    <a:p>
                      <a:pPr algn="ctr"/>
                      <a:r>
                        <a:rPr sz="940" b="1" i="0">
                          <a:solidFill>
                            <a:srgbClr val="FFFFFF"/>
                          </a:solidFill>
                          <a:latin typeface="Calibri"/>
                        </a:rPr>
                        <a:t>Prec.</a:t>
                      </a:r>
                    </a:p>
                  </a:txBody>
                  <a:tcPr marL="64008" marR="64008" marT="27432" marB="27432" anchor="ctr">
                    <a:solidFill>
                      <a:srgbClr val="12233C"/>
                    </a:solidFill>
                  </a:tcPr>
                </a:tc>
                <a:tc>
                  <a:txBody>
                    <a:bodyPr wrap="square"/>
                    <a:lstStyle/>
                    <a:p>
                      <a:pPr algn="ctr"/>
                      <a:r>
                        <a:rPr sz="940" b="1" i="0">
                          <a:solidFill>
                            <a:srgbClr val="FFFFFF"/>
                          </a:solidFill>
                          <a:latin typeface="Calibri"/>
                        </a:rPr>
                        <a:t>Rec.</a:t>
                      </a:r>
                    </a:p>
                  </a:txBody>
                  <a:tcPr marL="64008" marR="64008" marT="27432" marB="27432" anchor="ctr">
                    <a:solidFill>
                      <a:srgbClr val="12233C"/>
                    </a:solidFill>
                  </a:tcPr>
                </a:tc>
                <a:tc>
                  <a:txBody>
                    <a:bodyPr wrap="square"/>
                    <a:lstStyle/>
                    <a:p>
                      <a:pPr algn="ctr"/>
                      <a:r>
                        <a:rPr sz="940" b="1" i="0">
                          <a:solidFill>
                            <a:srgbClr val="FFFFFF"/>
                          </a:solidFill>
                          <a:latin typeface="Calibri"/>
                        </a:rPr>
                        <a:t>F1</a:t>
                      </a:r>
                    </a:p>
                  </a:txBody>
                  <a:tcPr marL="64008" marR="64008" marT="27432" marB="27432" anchor="ctr">
                    <a:solidFill>
                      <a:srgbClr val="12233C"/>
                    </a:solidFill>
                  </a:tcPr>
                </a:tc>
              </a:tr>
              <a:tr h="278892">
                <a:tc>
                  <a:txBody>
                    <a:bodyPr wrap="square"/>
                    <a:lstStyle/>
                    <a:p>
                      <a:pPr algn="l"/>
                      <a:r>
                        <a:rPr sz="940" b="0" i="0">
                          <a:solidFill>
                            <a:srgbClr val="1A2330"/>
                          </a:solidFill>
                          <a:latin typeface="Calibri"/>
                        </a:rPr>
                        <a:t>TF-IDF + LogReg (baseline)</a:t>
                      </a:r>
                    </a:p>
                  </a:txBody>
                  <a:tcPr marL="64008" marR="64008" marT="27432" marB="27432" anchor="ctr">
                    <a:solidFill>
                      <a:srgbClr val="F4F7FA"/>
                    </a:solidFill>
                  </a:tcPr>
                </a:tc>
                <a:tc>
                  <a:txBody>
                    <a:bodyPr wrap="square"/>
                    <a:lstStyle/>
                    <a:p>
                      <a:pPr algn="ctr"/>
                      <a:r>
                        <a:rPr sz="940" b="0" i="0">
                          <a:solidFill>
                            <a:srgbClr val="1A2330"/>
                          </a:solidFill>
                          <a:latin typeface="Calibri"/>
                        </a:rPr>
                        <a:t>Text</a:t>
                      </a:r>
                    </a:p>
                  </a:txBody>
                  <a:tcPr marL="64008" marR="64008" marT="27432" marB="27432" anchor="ctr">
                    <a:solidFill>
                      <a:srgbClr val="F4F7FA"/>
                    </a:solidFill>
                  </a:tcPr>
                </a:tc>
                <a:tc>
                  <a:txBody>
                    <a:bodyPr wrap="square"/>
                    <a:lstStyle/>
                    <a:p>
                      <a:pPr algn="ctr"/>
                      <a:r>
                        <a:rPr sz="940" b="0" i="0">
                          <a:solidFill>
                            <a:srgbClr val="1A2330"/>
                          </a:solidFill>
                          <a:latin typeface="Calibri"/>
                        </a:rPr>
                        <a:t>0.7715</a:t>
                      </a:r>
                    </a:p>
                  </a:txBody>
                  <a:tcPr marL="64008" marR="64008" marT="27432" marB="27432" anchor="ctr">
                    <a:solidFill>
                      <a:srgbClr val="F4F7FA"/>
                    </a:solidFill>
                  </a:tcPr>
                </a:tc>
                <a:tc>
                  <a:txBody>
                    <a:bodyPr wrap="square"/>
                    <a:lstStyle/>
                    <a:p>
                      <a:pPr algn="ctr"/>
                      <a:r>
                        <a:rPr sz="940" b="0" i="0">
                          <a:solidFill>
                            <a:srgbClr val="1A2330"/>
                          </a:solidFill>
                          <a:latin typeface="Calibri"/>
                        </a:rPr>
                        <a:t>0.7431</a:t>
                      </a:r>
                    </a:p>
                  </a:txBody>
                  <a:tcPr marL="64008" marR="64008" marT="27432" marB="27432" anchor="ctr">
                    <a:solidFill>
                      <a:srgbClr val="F4F7FA"/>
                    </a:solidFill>
                  </a:tcPr>
                </a:tc>
                <a:tc>
                  <a:txBody>
                    <a:bodyPr wrap="square"/>
                    <a:lstStyle/>
                    <a:p>
                      <a:pPr algn="ctr"/>
                      <a:r>
                        <a:rPr sz="940" b="0" i="0">
                          <a:solidFill>
                            <a:srgbClr val="1A2330"/>
                          </a:solidFill>
                          <a:latin typeface="Calibri"/>
                        </a:rPr>
                        <a:t>0.6318</a:t>
                      </a:r>
                    </a:p>
                  </a:txBody>
                  <a:tcPr marL="64008" marR="64008" marT="27432" marB="27432" anchor="ctr">
                    <a:solidFill>
                      <a:srgbClr val="F4F7FA"/>
                    </a:solidFill>
                  </a:tcPr>
                </a:tc>
                <a:tc>
                  <a:txBody>
                    <a:bodyPr wrap="square"/>
                    <a:lstStyle/>
                    <a:p>
                      <a:pPr algn="ctr"/>
                      <a:r>
                        <a:rPr sz="940" b="0" i="0">
                          <a:solidFill>
                            <a:srgbClr val="1A2330"/>
                          </a:solidFill>
                          <a:latin typeface="Calibri"/>
                        </a:rPr>
                        <a:t>0.6829</a:t>
                      </a:r>
                    </a:p>
                  </a:txBody>
                  <a:tcPr marL="64008" marR="64008" marT="27432" marB="27432" anchor="ctr">
                    <a:solidFill>
                      <a:srgbClr val="F4F7FA"/>
                    </a:solidFill>
                  </a:tcPr>
                </a:tc>
              </a:tr>
              <a:tr h="278892">
                <a:tc>
                  <a:txBody>
                    <a:bodyPr wrap="square"/>
                    <a:lstStyle/>
                    <a:p>
                      <a:pPr algn="l"/>
                      <a:r>
                        <a:rPr sz="940" b="1" i="0">
                          <a:solidFill>
                            <a:srgbClr val="12233C"/>
                          </a:solidFill>
                          <a:latin typeface="Calibri"/>
                        </a:rPr>
                        <a:t>BERT-base-uncased</a:t>
                      </a:r>
                    </a:p>
                  </a:txBody>
                  <a:tcPr marL="64008" marR="64008" marT="27432" marB="27432" anchor="ctr">
                    <a:solidFill>
                      <a:srgbClr val="E3F0EF"/>
                    </a:solidFill>
                  </a:tcPr>
                </a:tc>
                <a:tc>
                  <a:txBody>
                    <a:bodyPr wrap="square"/>
                    <a:lstStyle/>
                    <a:p>
                      <a:pPr algn="ctr"/>
                      <a:r>
                        <a:rPr sz="940" b="1" i="0">
                          <a:solidFill>
                            <a:srgbClr val="12233C"/>
                          </a:solidFill>
                          <a:latin typeface="Calibri"/>
                        </a:rPr>
                        <a:t>Text</a:t>
                      </a:r>
                    </a:p>
                  </a:txBody>
                  <a:tcPr marL="64008" marR="64008" marT="27432" marB="27432" anchor="ctr">
                    <a:solidFill>
                      <a:srgbClr val="E3F0EF"/>
                    </a:solidFill>
                  </a:tcPr>
                </a:tc>
                <a:tc>
                  <a:txBody>
                    <a:bodyPr wrap="square"/>
                    <a:lstStyle/>
                    <a:p>
                      <a:pPr algn="ctr"/>
                      <a:r>
                        <a:rPr sz="940" b="1" i="0">
                          <a:solidFill>
                            <a:srgbClr val="12233C"/>
                          </a:solidFill>
                          <a:latin typeface="Calibri"/>
                        </a:rPr>
                        <a:t>0.8566</a:t>
                      </a:r>
                    </a:p>
                  </a:txBody>
                  <a:tcPr marL="64008" marR="64008" marT="27432" marB="27432" anchor="ctr">
                    <a:solidFill>
                      <a:srgbClr val="E3F0EF"/>
                    </a:solidFill>
                  </a:tcPr>
                </a:tc>
                <a:tc>
                  <a:txBody>
                    <a:bodyPr wrap="square"/>
                    <a:lstStyle/>
                    <a:p>
                      <a:pPr algn="ctr"/>
                      <a:r>
                        <a:rPr sz="940" b="1" i="0">
                          <a:solidFill>
                            <a:srgbClr val="12233C"/>
                          </a:solidFill>
                          <a:latin typeface="Calibri"/>
                        </a:rPr>
                        <a:t>0.8096</a:t>
                      </a:r>
                    </a:p>
                  </a:txBody>
                  <a:tcPr marL="64008" marR="64008" marT="27432" marB="27432" anchor="ctr">
                    <a:solidFill>
                      <a:srgbClr val="E3F0EF"/>
                    </a:solidFill>
                  </a:tcPr>
                </a:tc>
                <a:tc>
                  <a:txBody>
                    <a:bodyPr wrap="square"/>
                    <a:lstStyle/>
                    <a:p>
                      <a:pPr algn="ctr"/>
                      <a:r>
                        <a:rPr sz="940" b="1" i="0">
                          <a:solidFill>
                            <a:srgbClr val="12233C"/>
                          </a:solidFill>
                          <a:latin typeface="Calibri"/>
                        </a:rPr>
                        <a:t>0.8261</a:t>
                      </a:r>
                    </a:p>
                  </a:txBody>
                  <a:tcPr marL="64008" marR="64008" marT="27432" marB="27432" anchor="ctr">
                    <a:solidFill>
                      <a:srgbClr val="E3F0EF"/>
                    </a:solidFill>
                  </a:tcPr>
                </a:tc>
                <a:tc>
                  <a:txBody>
                    <a:bodyPr wrap="square"/>
                    <a:lstStyle/>
                    <a:p>
                      <a:pPr algn="ctr"/>
                      <a:r>
                        <a:rPr sz="940" b="1" i="0">
                          <a:solidFill>
                            <a:srgbClr val="12233C"/>
                          </a:solidFill>
                          <a:latin typeface="Calibri"/>
                        </a:rPr>
                        <a:t>0.8177</a:t>
                      </a:r>
                    </a:p>
                  </a:txBody>
                  <a:tcPr marL="64008" marR="64008" marT="27432" marB="27432" anchor="ctr">
                    <a:solidFill>
                      <a:srgbClr val="E3F0EF"/>
                    </a:solidFill>
                  </a:tcPr>
                </a:tc>
              </a:tr>
              <a:tr h="278892">
                <a:tc>
                  <a:txBody>
                    <a:bodyPr wrap="square"/>
                    <a:lstStyle/>
                    <a:p>
                      <a:pPr algn="l"/>
                      <a:r>
                        <a:rPr sz="940" b="0" i="0">
                          <a:solidFill>
                            <a:srgbClr val="1A2330"/>
                          </a:solidFill>
                          <a:latin typeface="Calibri"/>
                        </a:rPr>
                        <a:t>mBERT</a:t>
                      </a:r>
                    </a:p>
                  </a:txBody>
                  <a:tcPr marL="64008" marR="64008" marT="27432" marB="27432" anchor="ctr">
                    <a:solidFill>
                      <a:srgbClr val="F4F7FA"/>
                    </a:solidFill>
                  </a:tcPr>
                </a:tc>
                <a:tc>
                  <a:txBody>
                    <a:bodyPr wrap="square"/>
                    <a:lstStyle/>
                    <a:p>
                      <a:pPr algn="ctr"/>
                      <a:r>
                        <a:rPr sz="940" b="0" i="0">
                          <a:solidFill>
                            <a:srgbClr val="1A2330"/>
                          </a:solidFill>
                          <a:latin typeface="Calibri"/>
                        </a:rPr>
                        <a:t>Text</a:t>
                      </a:r>
                    </a:p>
                  </a:txBody>
                  <a:tcPr marL="64008" marR="64008" marT="27432" marB="27432" anchor="ctr">
                    <a:solidFill>
                      <a:srgbClr val="F4F7FA"/>
                    </a:solidFill>
                  </a:tcPr>
                </a:tc>
                <a:tc>
                  <a:txBody>
                    <a:bodyPr wrap="square"/>
                    <a:lstStyle/>
                    <a:p>
                      <a:pPr algn="ctr"/>
                      <a:r>
                        <a:rPr sz="940" b="0" i="0">
                          <a:solidFill>
                            <a:srgbClr val="1A2330"/>
                          </a:solidFill>
                          <a:latin typeface="Calibri"/>
                        </a:rPr>
                        <a:t>0.8542</a:t>
                      </a:r>
                    </a:p>
                  </a:txBody>
                  <a:tcPr marL="64008" marR="64008" marT="27432" marB="27432" anchor="ctr">
                    <a:solidFill>
                      <a:srgbClr val="F4F7FA"/>
                    </a:solidFill>
                  </a:tcPr>
                </a:tc>
                <a:tc>
                  <a:txBody>
                    <a:bodyPr wrap="square"/>
                    <a:lstStyle/>
                    <a:p>
                      <a:pPr algn="ctr"/>
                      <a:r>
                        <a:rPr sz="940" b="0" i="0">
                          <a:solidFill>
                            <a:srgbClr val="1A2330"/>
                          </a:solidFill>
                          <a:latin typeface="Calibri"/>
                        </a:rPr>
                        <a:t>0.7966</a:t>
                      </a:r>
                    </a:p>
                  </a:txBody>
                  <a:tcPr marL="64008" marR="64008" marT="27432" marB="27432" anchor="ctr">
                    <a:solidFill>
                      <a:srgbClr val="F4F7FA"/>
                    </a:solidFill>
                  </a:tcPr>
                </a:tc>
                <a:tc>
                  <a:txBody>
                    <a:bodyPr wrap="square"/>
                    <a:lstStyle/>
                    <a:p>
                      <a:pPr algn="ctr"/>
                      <a:r>
                        <a:rPr sz="940" b="0" i="0">
                          <a:solidFill>
                            <a:srgbClr val="1A2330"/>
                          </a:solidFill>
                          <a:latin typeface="Calibri"/>
                        </a:rPr>
                        <a:t>0.8404</a:t>
                      </a:r>
                    </a:p>
                  </a:txBody>
                  <a:tcPr marL="64008" marR="64008" marT="27432" marB="27432" anchor="ctr">
                    <a:solidFill>
                      <a:srgbClr val="F4F7FA"/>
                    </a:solidFill>
                  </a:tcPr>
                </a:tc>
                <a:tc>
                  <a:txBody>
                    <a:bodyPr wrap="square"/>
                    <a:lstStyle/>
                    <a:p>
                      <a:pPr algn="ctr"/>
                      <a:r>
                        <a:rPr sz="940" b="0" i="0">
                          <a:solidFill>
                            <a:srgbClr val="1A2330"/>
                          </a:solidFill>
                          <a:latin typeface="Calibri"/>
                        </a:rPr>
                        <a:t>0.8179</a:t>
                      </a:r>
                    </a:p>
                  </a:txBody>
                  <a:tcPr marL="64008" marR="64008" marT="27432" marB="27432" anchor="ctr">
                    <a:solidFill>
                      <a:srgbClr val="F4F7FA"/>
                    </a:solidFill>
                  </a:tcPr>
                </a:tc>
              </a:tr>
              <a:tr h="278892">
                <a:tc>
                  <a:txBody>
                    <a:bodyPr wrap="square"/>
                    <a:lstStyle/>
                    <a:p>
                      <a:pPr algn="l"/>
                      <a:r>
                        <a:rPr sz="940" b="0" i="0">
                          <a:solidFill>
                            <a:srgbClr val="1A2330"/>
                          </a:solidFill>
                          <a:latin typeface="Calibri"/>
                        </a:rPr>
                        <a:t>XLM-RoBERTa-base (deployed)</a:t>
                      </a:r>
                    </a:p>
                  </a:txBody>
                  <a:tcPr marL="64008" marR="64008" marT="27432" marB="27432" anchor="ctr">
                    <a:solidFill>
                      <a:srgbClr val="FFFFFF"/>
                    </a:solidFill>
                  </a:tcPr>
                </a:tc>
                <a:tc>
                  <a:txBody>
                    <a:bodyPr wrap="square"/>
                    <a:lstStyle/>
                    <a:p>
                      <a:pPr algn="ctr"/>
                      <a:r>
                        <a:rPr sz="940" b="0" i="0">
                          <a:solidFill>
                            <a:srgbClr val="1A2330"/>
                          </a:solidFill>
                          <a:latin typeface="Calibri"/>
                        </a:rPr>
                        <a:t>Text</a:t>
                      </a:r>
                    </a:p>
                  </a:txBody>
                  <a:tcPr marL="64008" marR="64008" marT="27432" marB="27432" anchor="ctr">
                    <a:solidFill>
                      <a:srgbClr val="FFFFFF"/>
                    </a:solidFill>
                  </a:tcPr>
                </a:tc>
                <a:tc>
                  <a:txBody>
                    <a:bodyPr wrap="square"/>
                    <a:lstStyle/>
                    <a:p>
                      <a:pPr algn="ctr"/>
                      <a:r>
                        <a:rPr sz="940" b="0" i="0">
                          <a:solidFill>
                            <a:srgbClr val="1A2330"/>
                          </a:solidFill>
                          <a:latin typeface="Calibri"/>
                        </a:rPr>
                        <a:t>0.8483</a:t>
                      </a:r>
                    </a:p>
                  </a:txBody>
                  <a:tcPr marL="64008" marR="64008" marT="27432" marB="27432" anchor="ctr">
                    <a:solidFill>
                      <a:srgbClr val="FFFFFF"/>
                    </a:solidFill>
                  </a:tcPr>
                </a:tc>
                <a:tc>
                  <a:txBody>
                    <a:bodyPr wrap="square"/>
                    <a:lstStyle/>
                    <a:p>
                      <a:pPr algn="ctr"/>
                      <a:r>
                        <a:rPr sz="940" b="0" i="0">
                          <a:solidFill>
                            <a:srgbClr val="1A2330"/>
                          </a:solidFill>
                          <a:latin typeface="Calibri"/>
                        </a:rPr>
                        <a:t>0.8074</a:t>
                      </a:r>
                    </a:p>
                  </a:txBody>
                  <a:tcPr marL="64008" marR="64008" marT="27432" marB="27432" anchor="ctr">
                    <a:solidFill>
                      <a:srgbClr val="FFFFFF"/>
                    </a:solidFill>
                  </a:tcPr>
                </a:tc>
                <a:tc>
                  <a:txBody>
                    <a:bodyPr wrap="square"/>
                    <a:lstStyle/>
                    <a:p>
                      <a:pPr algn="ctr"/>
                      <a:r>
                        <a:rPr sz="940" b="0" i="0">
                          <a:solidFill>
                            <a:srgbClr val="1A2330"/>
                          </a:solidFill>
                          <a:latin typeface="Calibri"/>
                        </a:rPr>
                        <a:t>0.8020</a:t>
                      </a:r>
                    </a:p>
                  </a:txBody>
                  <a:tcPr marL="64008" marR="64008" marT="27432" marB="27432" anchor="ctr">
                    <a:solidFill>
                      <a:srgbClr val="FFFFFF"/>
                    </a:solidFill>
                  </a:tcPr>
                </a:tc>
                <a:tc>
                  <a:txBody>
                    <a:bodyPr wrap="square"/>
                    <a:lstStyle/>
                    <a:p>
                      <a:pPr algn="ctr"/>
                      <a:r>
                        <a:rPr sz="940" b="0" i="0">
                          <a:solidFill>
                            <a:srgbClr val="1A2330"/>
                          </a:solidFill>
                          <a:latin typeface="Calibri"/>
                        </a:rPr>
                        <a:t>0.8047</a:t>
                      </a:r>
                    </a:p>
                  </a:txBody>
                  <a:tcPr marL="64008" marR="64008" marT="27432" marB="27432" anchor="ctr">
                    <a:solidFill>
                      <a:srgbClr val="FFFFFF"/>
                    </a:solidFill>
                  </a:tcPr>
                </a:tc>
              </a:tr>
              <a:tr h="278892">
                <a:tc>
                  <a:txBody>
                    <a:bodyPr wrap="square"/>
                    <a:lstStyle/>
                    <a:p>
                      <a:pPr algn="l"/>
                      <a:r>
                        <a:rPr sz="940" b="1" i="0">
                          <a:solidFill>
                            <a:srgbClr val="12233C"/>
                          </a:solidFill>
                          <a:latin typeface="Calibri"/>
                        </a:rPr>
                        <a:t>EfficientNet-B0</a:t>
                      </a:r>
                    </a:p>
                  </a:txBody>
                  <a:tcPr marL="64008" marR="64008" marT="27432" marB="27432" anchor="ctr">
                    <a:solidFill>
                      <a:srgbClr val="E3F0EF"/>
                    </a:solidFill>
                  </a:tcPr>
                </a:tc>
                <a:tc>
                  <a:txBody>
                    <a:bodyPr wrap="square"/>
                    <a:lstStyle/>
                    <a:p>
                      <a:pPr algn="ctr"/>
                      <a:r>
                        <a:rPr sz="940" b="1" i="0">
                          <a:solidFill>
                            <a:srgbClr val="12233C"/>
                          </a:solidFill>
                          <a:latin typeface="Calibri"/>
                        </a:rPr>
                        <a:t>Image</a:t>
                      </a:r>
                    </a:p>
                  </a:txBody>
                  <a:tcPr marL="64008" marR="64008" marT="27432" marB="27432" anchor="ctr">
                    <a:solidFill>
                      <a:srgbClr val="E3F0EF"/>
                    </a:solidFill>
                  </a:tcPr>
                </a:tc>
                <a:tc>
                  <a:txBody>
                    <a:bodyPr wrap="square"/>
                    <a:lstStyle/>
                    <a:p>
                      <a:pPr algn="ctr"/>
                      <a:r>
                        <a:rPr sz="940" b="1" i="0">
                          <a:solidFill>
                            <a:srgbClr val="12233C"/>
                          </a:solidFill>
                          <a:latin typeface="Calibri"/>
                        </a:rPr>
                        <a:t>0.8208</a:t>
                      </a:r>
                    </a:p>
                  </a:txBody>
                  <a:tcPr marL="64008" marR="64008" marT="27432" marB="27432" anchor="ctr">
                    <a:solidFill>
                      <a:srgbClr val="E3F0EF"/>
                    </a:solidFill>
                  </a:tcPr>
                </a:tc>
                <a:tc>
                  <a:txBody>
                    <a:bodyPr wrap="square"/>
                    <a:lstStyle/>
                    <a:p>
                      <a:pPr algn="ctr"/>
                      <a:r>
                        <a:rPr sz="940" b="1" i="0">
                          <a:solidFill>
                            <a:srgbClr val="12233C"/>
                          </a:solidFill>
                          <a:latin typeface="Calibri"/>
                        </a:rPr>
                        <a:t>0.7138</a:t>
                      </a:r>
                    </a:p>
                  </a:txBody>
                  <a:tcPr marL="64008" marR="64008" marT="27432" marB="27432" anchor="ctr">
                    <a:solidFill>
                      <a:srgbClr val="E3F0EF"/>
                    </a:solidFill>
                  </a:tcPr>
                </a:tc>
                <a:tc>
                  <a:txBody>
                    <a:bodyPr wrap="square"/>
                    <a:lstStyle/>
                    <a:p>
                      <a:pPr algn="ctr"/>
                      <a:r>
                        <a:rPr sz="940" b="1" i="0">
                          <a:solidFill>
                            <a:srgbClr val="12233C"/>
                          </a:solidFill>
                          <a:latin typeface="Calibri"/>
                        </a:rPr>
                        <a:t>0.9014</a:t>
                      </a:r>
                    </a:p>
                  </a:txBody>
                  <a:tcPr marL="64008" marR="64008" marT="27432" marB="27432" anchor="ctr">
                    <a:solidFill>
                      <a:srgbClr val="E3F0EF"/>
                    </a:solidFill>
                  </a:tcPr>
                </a:tc>
                <a:tc>
                  <a:txBody>
                    <a:bodyPr wrap="square"/>
                    <a:lstStyle/>
                    <a:p>
                      <a:pPr algn="ctr"/>
                      <a:r>
                        <a:rPr sz="940" b="1" i="0">
                          <a:solidFill>
                            <a:srgbClr val="12233C"/>
                          </a:solidFill>
                          <a:latin typeface="Calibri"/>
                        </a:rPr>
                        <a:t>0.7967</a:t>
                      </a:r>
                    </a:p>
                  </a:txBody>
                  <a:tcPr marL="64008" marR="64008" marT="27432" marB="27432" anchor="ctr">
                    <a:solidFill>
                      <a:srgbClr val="E3F0EF"/>
                    </a:solidFill>
                  </a:tcPr>
                </a:tc>
              </a:tr>
              <a:tr h="278892">
                <a:tc>
                  <a:txBody>
                    <a:bodyPr wrap="square"/>
                    <a:lstStyle/>
                    <a:p>
                      <a:pPr algn="l"/>
                      <a:r>
                        <a:rPr sz="940" b="0" i="0">
                          <a:solidFill>
                            <a:srgbClr val="1A2330"/>
                          </a:solidFill>
                          <a:latin typeface="Calibri"/>
                        </a:rPr>
                        <a:t>ResNet-50 (deployed)</a:t>
                      </a:r>
                    </a:p>
                  </a:txBody>
                  <a:tcPr marL="64008" marR="64008" marT="27432" marB="27432" anchor="ctr">
                    <a:solidFill>
                      <a:srgbClr val="FFFFFF"/>
                    </a:solidFill>
                  </a:tcPr>
                </a:tc>
                <a:tc>
                  <a:txBody>
                    <a:bodyPr wrap="square"/>
                    <a:lstStyle/>
                    <a:p>
                      <a:pPr algn="ctr"/>
                      <a:r>
                        <a:rPr sz="940" b="0" i="0">
                          <a:solidFill>
                            <a:srgbClr val="1A2330"/>
                          </a:solidFill>
                          <a:latin typeface="Calibri"/>
                        </a:rPr>
                        <a:t>Image</a:t>
                      </a:r>
                    </a:p>
                  </a:txBody>
                  <a:tcPr marL="64008" marR="64008" marT="27432" marB="27432" anchor="ctr">
                    <a:solidFill>
                      <a:srgbClr val="FFFFFF"/>
                    </a:solidFill>
                  </a:tcPr>
                </a:tc>
                <a:tc>
                  <a:txBody>
                    <a:bodyPr wrap="square"/>
                    <a:lstStyle/>
                    <a:p>
                      <a:pPr algn="ctr"/>
                      <a:r>
                        <a:rPr sz="940" b="0" i="0">
                          <a:solidFill>
                            <a:srgbClr val="1A2330"/>
                          </a:solidFill>
                          <a:latin typeface="Calibri"/>
                        </a:rPr>
                        <a:t>0.7870</a:t>
                      </a:r>
                    </a:p>
                  </a:txBody>
                  <a:tcPr marL="64008" marR="64008" marT="27432" marB="27432" anchor="ctr">
                    <a:solidFill>
                      <a:srgbClr val="FFFFFF"/>
                    </a:solidFill>
                  </a:tcPr>
                </a:tc>
                <a:tc>
                  <a:txBody>
                    <a:bodyPr wrap="square"/>
                    <a:lstStyle/>
                    <a:p>
                      <a:pPr algn="ctr"/>
                      <a:r>
                        <a:rPr sz="940" b="0" i="0">
                          <a:solidFill>
                            <a:srgbClr val="1A2330"/>
                          </a:solidFill>
                          <a:latin typeface="Calibri"/>
                        </a:rPr>
                        <a:t>0.6724</a:t>
                      </a:r>
                    </a:p>
                  </a:txBody>
                  <a:tcPr marL="64008" marR="64008" marT="27432" marB="27432" anchor="ctr">
                    <a:solidFill>
                      <a:srgbClr val="FFFFFF"/>
                    </a:solidFill>
                  </a:tcPr>
                </a:tc>
                <a:tc>
                  <a:txBody>
                    <a:bodyPr wrap="square"/>
                    <a:lstStyle/>
                    <a:p>
                      <a:pPr algn="ctr"/>
                      <a:r>
                        <a:rPr sz="940" b="0" i="0">
                          <a:solidFill>
                            <a:srgbClr val="1A2330"/>
                          </a:solidFill>
                          <a:latin typeface="Calibri"/>
                        </a:rPr>
                        <a:t>0.8840</a:t>
                      </a:r>
                    </a:p>
                  </a:txBody>
                  <a:tcPr marL="64008" marR="64008" marT="27432" marB="27432" anchor="ctr">
                    <a:solidFill>
                      <a:srgbClr val="FFFFFF"/>
                    </a:solidFill>
                  </a:tcPr>
                </a:tc>
                <a:tc>
                  <a:txBody>
                    <a:bodyPr wrap="square"/>
                    <a:lstStyle/>
                    <a:p>
                      <a:pPr algn="ctr"/>
                      <a:r>
                        <a:rPr sz="940" b="0" i="0">
                          <a:solidFill>
                            <a:srgbClr val="1A2330"/>
                          </a:solidFill>
                          <a:latin typeface="Calibri"/>
                        </a:rPr>
                        <a:t>0.7638</a:t>
                      </a:r>
                    </a:p>
                  </a:txBody>
                  <a:tcPr marL="64008" marR="64008" marT="27432" marB="27432" anchor="ctr">
                    <a:solidFill>
                      <a:srgbClr val="FFFFFF"/>
                    </a:solidFill>
                  </a:tcPr>
                </a:tc>
              </a:tr>
              <a:tr h="278892">
                <a:tc>
                  <a:txBody>
                    <a:bodyPr wrap="square"/>
                    <a:lstStyle/>
                    <a:p>
                      <a:pPr algn="l"/>
                      <a:r>
                        <a:rPr sz="940" b="0" i="0">
                          <a:solidFill>
                            <a:srgbClr val="1A2330"/>
                          </a:solidFill>
                          <a:latin typeface="Calibri"/>
                        </a:rPr>
                        <a:t>ViT-B/16</a:t>
                      </a:r>
                    </a:p>
                  </a:txBody>
                  <a:tcPr marL="64008" marR="64008" marT="27432" marB="27432" anchor="ctr">
                    <a:solidFill>
                      <a:srgbClr val="F4F7FA"/>
                    </a:solidFill>
                  </a:tcPr>
                </a:tc>
                <a:tc>
                  <a:txBody>
                    <a:bodyPr wrap="square"/>
                    <a:lstStyle/>
                    <a:p>
                      <a:pPr algn="ctr"/>
                      <a:r>
                        <a:rPr sz="940" b="0" i="0">
                          <a:solidFill>
                            <a:srgbClr val="1A2330"/>
                          </a:solidFill>
                          <a:latin typeface="Calibri"/>
                        </a:rPr>
                        <a:t>Image</a:t>
                      </a:r>
                    </a:p>
                  </a:txBody>
                  <a:tcPr marL="64008" marR="64008" marT="27432" marB="27432" anchor="ctr">
                    <a:solidFill>
                      <a:srgbClr val="F4F7FA"/>
                    </a:solidFill>
                  </a:tcPr>
                </a:tc>
                <a:tc>
                  <a:txBody>
                    <a:bodyPr wrap="square"/>
                    <a:lstStyle/>
                    <a:p>
                      <a:pPr algn="ctr"/>
                      <a:r>
                        <a:rPr sz="940" b="0" i="0">
                          <a:solidFill>
                            <a:srgbClr val="1A2330"/>
                          </a:solidFill>
                          <a:latin typeface="Calibri"/>
                        </a:rPr>
                        <a:t>0.7580</a:t>
                      </a:r>
                    </a:p>
                  </a:txBody>
                  <a:tcPr marL="64008" marR="64008" marT="27432" marB="27432" anchor="ctr">
                    <a:solidFill>
                      <a:srgbClr val="F4F7FA"/>
                    </a:solidFill>
                  </a:tcPr>
                </a:tc>
                <a:tc>
                  <a:txBody>
                    <a:bodyPr wrap="square"/>
                    <a:lstStyle/>
                    <a:p>
                      <a:pPr algn="ctr"/>
                      <a:r>
                        <a:rPr sz="940" b="0" i="0">
                          <a:solidFill>
                            <a:srgbClr val="1A2330"/>
                          </a:solidFill>
                          <a:latin typeface="Calibri"/>
                        </a:rPr>
                        <a:t>0.6840</a:t>
                      </a:r>
                    </a:p>
                  </a:txBody>
                  <a:tcPr marL="64008" marR="64008" marT="27432" marB="27432" anchor="ctr">
                    <a:solidFill>
                      <a:srgbClr val="F4F7FA"/>
                    </a:solidFill>
                  </a:tcPr>
                </a:tc>
                <a:tc>
                  <a:txBody>
                    <a:bodyPr wrap="square"/>
                    <a:lstStyle/>
                    <a:p>
                      <a:pPr algn="ctr"/>
                      <a:r>
                        <a:rPr sz="940" b="0" i="0">
                          <a:solidFill>
                            <a:srgbClr val="1A2330"/>
                          </a:solidFill>
                          <a:latin typeface="Calibri"/>
                        </a:rPr>
                        <a:t>0.7041</a:t>
                      </a:r>
                    </a:p>
                  </a:txBody>
                  <a:tcPr marL="64008" marR="64008" marT="27432" marB="27432" anchor="ctr">
                    <a:solidFill>
                      <a:srgbClr val="F4F7FA"/>
                    </a:solidFill>
                  </a:tcPr>
                </a:tc>
                <a:tc>
                  <a:txBody>
                    <a:bodyPr wrap="square"/>
                    <a:lstStyle/>
                    <a:p>
                      <a:pPr algn="ctr"/>
                      <a:r>
                        <a:rPr sz="940" b="0" i="0">
                          <a:solidFill>
                            <a:srgbClr val="1A2330"/>
                          </a:solidFill>
                          <a:latin typeface="Calibri"/>
                        </a:rPr>
                        <a:t>0.6939</a:t>
                      </a:r>
                    </a:p>
                  </a:txBody>
                  <a:tcPr marL="64008" marR="64008" marT="27432" marB="27432" anchor="ctr">
                    <a:solidFill>
                      <a:srgbClr val="F4F7FA"/>
                    </a:solidFill>
                  </a:tcPr>
                </a:tc>
              </a:tr>
              <a:tr h="278892">
                <a:tc>
                  <a:txBody>
                    <a:bodyPr wrap="square"/>
                    <a:lstStyle/>
                    <a:p>
                      <a:pPr algn="l"/>
                      <a:r>
                        <a:rPr sz="940" b="1" i="0">
                          <a:solidFill>
                            <a:srgbClr val="C1521D"/>
                          </a:solidFill>
                          <a:latin typeface="Calibri"/>
                        </a:rPr>
                        <a:t>Late fusion (α = 0.5)</a:t>
                      </a:r>
                    </a:p>
                  </a:txBody>
                  <a:tcPr marL="64008" marR="64008" marT="27432" marB="27432" anchor="ctr">
                    <a:solidFill>
                      <a:srgbClr val="FBEEE7"/>
                    </a:solidFill>
                  </a:tcPr>
                </a:tc>
                <a:tc>
                  <a:txBody>
                    <a:bodyPr wrap="square"/>
                    <a:lstStyle/>
                    <a:p>
                      <a:pPr algn="ctr"/>
                      <a:r>
                        <a:rPr sz="940" b="1" i="0">
                          <a:solidFill>
                            <a:srgbClr val="C1521D"/>
                          </a:solidFill>
                          <a:latin typeface="Calibri"/>
                        </a:rPr>
                        <a:t>Text+Image</a:t>
                      </a:r>
                    </a:p>
                  </a:txBody>
                  <a:tcPr marL="64008" marR="64008" marT="27432" marB="27432" anchor="ctr">
                    <a:solidFill>
                      <a:srgbClr val="FBEEE7"/>
                    </a:solidFill>
                  </a:tcPr>
                </a:tc>
                <a:tc>
                  <a:txBody>
                    <a:bodyPr wrap="square"/>
                    <a:lstStyle/>
                    <a:p>
                      <a:pPr algn="ctr"/>
                      <a:r>
                        <a:rPr sz="940" b="1" i="0">
                          <a:solidFill>
                            <a:srgbClr val="C1521D"/>
                          </a:solidFill>
                          <a:latin typeface="Calibri"/>
                        </a:rPr>
                        <a:t>0.7891</a:t>
                      </a:r>
                    </a:p>
                  </a:txBody>
                  <a:tcPr marL="64008" marR="64008" marT="27432" marB="27432" anchor="ctr">
                    <a:solidFill>
                      <a:srgbClr val="FBEEE7"/>
                    </a:solidFill>
                  </a:tcPr>
                </a:tc>
                <a:tc>
                  <a:txBody>
                    <a:bodyPr wrap="square"/>
                    <a:lstStyle/>
                    <a:p>
                      <a:pPr algn="ctr"/>
                      <a:r>
                        <a:rPr sz="940" b="1" i="0">
                          <a:solidFill>
                            <a:srgbClr val="C1521D"/>
                          </a:solidFill>
                          <a:latin typeface="Calibri"/>
                        </a:rPr>
                        <a:t>0.6759</a:t>
                      </a:r>
                    </a:p>
                  </a:txBody>
                  <a:tcPr marL="64008" marR="64008" marT="27432" marB="27432" anchor="ctr">
                    <a:solidFill>
                      <a:srgbClr val="FBEEE7"/>
                    </a:solidFill>
                  </a:tcPr>
                </a:tc>
                <a:tc>
                  <a:txBody>
                    <a:bodyPr wrap="square"/>
                    <a:lstStyle/>
                    <a:p>
                      <a:pPr algn="ctr"/>
                      <a:r>
                        <a:rPr sz="940" b="1" i="0">
                          <a:solidFill>
                            <a:srgbClr val="C1521D"/>
                          </a:solidFill>
                          <a:latin typeface="Calibri"/>
                        </a:rPr>
                        <a:t>0.8810</a:t>
                      </a:r>
                    </a:p>
                  </a:txBody>
                  <a:tcPr marL="64008" marR="64008" marT="27432" marB="27432" anchor="ctr">
                    <a:solidFill>
                      <a:srgbClr val="FBEEE7"/>
                    </a:solidFill>
                  </a:tcPr>
                </a:tc>
                <a:tc>
                  <a:txBody>
                    <a:bodyPr wrap="square"/>
                    <a:lstStyle/>
                    <a:p>
                      <a:pPr algn="ctr"/>
                      <a:r>
                        <a:rPr sz="940" b="1" i="0">
                          <a:solidFill>
                            <a:srgbClr val="C1521D"/>
                          </a:solidFill>
                          <a:latin typeface="Calibri"/>
                        </a:rPr>
                        <a:t>0.7650</a:t>
                      </a:r>
                    </a:p>
                  </a:txBody>
                  <a:tcPr marL="64008" marR="64008" marT="27432" marB="27432" anchor="ctr">
                    <a:solidFill>
                      <a:srgbClr val="FBEEE7"/>
                    </a:solidFill>
                  </a:tcPr>
                </a:tc>
              </a:tr>
              <a:tr h="278892">
                <a:tc>
                  <a:txBody>
                    <a:bodyPr wrap="square"/>
                    <a:lstStyle/>
                    <a:p>
                      <a:pPr algn="l"/>
                      <a:r>
                        <a:rPr sz="940" b="0" i="1">
                          <a:solidFill>
                            <a:srgbClr val="5B6B7C"/>
                          </a:solidFill>
                          <a:latin typeface="Calibri"/>
                        </a:rPr>
                        <a:t>Majority-class rule</a:t>
                      </a:r>
                    </a:p>
                  </a:txBody>
                  <a:tcPr marL="64008" marR="64008" marT="27432" marB="27432" anchor="ctr">
                    <a:solidFill>
                      <a:srgbClr val="EDF1F5"/>
                    </a:solidFill>
                  </a:tcPr>
                </a:tc>
                <a:tc>
                  <a:txBody>
                    <a:bodyPr wrap="square"/>
                    <a:lstStyle/>
                    <a:p>
                      <a:pPr algn="ctr"/>
                      <a:r>
                        <a:rPr sz="940" b="0" i="1">
                          <a:solidFill>
                            <a:srgbClr val="5B6B7C"/>
                          </a:solidFill>
                          <a:latin typeface="Calibri"/>
                        </a:rPr>
                        <a:t>—</a:t>
                      </a:r>
                    </a:p>
                  </a:txBody>
                  <a:tcPr marL="64008" marR="64008" marT="27432" marB="27432" anchor="ctr">
                    <a:solidFill>
                      <a:srgbClr val="EDF1F5"/>
                    </a:solidFill>
                  </a:tcPr>
                </a:tc>
                <a:tc>
                  <a:txBody>
                    <a:bodyPr wrap="square"/>
                    <a:lstStyle/>
                    <a:p>
                      <a:pPr algn="ctr"/>
                      <a:r>
                        <a:rPr sz="940" b="0" i="1">
                          <a:solidFill>
                            <a:srgbClr val="5B6B7C"/>
                          </a:solidFill>
                          <a:latin typeface="Calibri"/>
                        </a:rPr>
                        <a:t>0.6104</a:t>
                      </a:r>
                    </a:p>
                  </a:txBody>
                  <a:tcPr marL="64008" marR="64008" marT="27432" marB="27432" anchor="ctr">
                    <a:solidFill>
                      <a:srgbClr val="EDF1F5"/>
                    </a:solidFill>
                  </a:tcPr>
                </a:tc>
                <a:tc>
                  <a:txBody>
                    <a:bodyPr wrap="square"/>
                    <a:lstStyle/>
                    <a:p>
                      <a:pPr algn="ctr"/>
                      <a:r>
                        <a:rPr sz="940" b="0" i="1">
                          <a:solidFill>
                            <a:srgbClr val="5B6B7C"/>
                          </a:solidFill>
                          <a:latin typeface="Calibri"/>
                        </a:rPr>
                        <a:t>0.0000</a:t>
                      </a:r>
                    </a:p>
                  </a:txBody>
                  <a:tcPr marL="64008" marR="64008" marT="27432" marB="27432" anchor="ctr">
                    <a:solidFill>
                      <a:srgbClr val="EDF1F5"/>
                    </a:solidFill>
                  </a:tcPr>
                </a:tc>
                <a:tc>
                  <a:txBody>
                    <a:bodyPr wrap="square"/>
                    <a:lstStyle/>
                    <a:p>
                      <a:pPr algn="ctr"/>
                      <a:r>
                        <a:rPr sz="940" b="0" i="1">
                          <a:solidFill>
                            <a:srgbClr val="5B6B7C"/>
                          </a:solidFill>
                          <a:latin typeface="Calibri"/>
                        </a:rPr>
                        <a:t>0.0000</a:t>
                      </a:r>
                    </a:p>
                  </a:txBody>
                  <a:tcPr marL="64008" marR="64008" marT="27432" marB="27432" anchor="ctr">
                    <a:solidFill>
                      <a:srgbClr val="EDF1F5"/>
                    </a:solidFill>
                  </a:tcPr>
                </a:tc>
                <a:tc>
                  <a:txBody>
                    <a:bodyPr wrap="square"/>
                    <a:lstStyle/>
                    <a:p>
                      <a:pPr algn="ctr"/>
                      <a:r>
                        <a:rPr sz="940" b="0" i="1">
                          <a:solidFill>
                            <a:srgbClr val="5B6B7C"/>
                          </a:solidFill>
                          <a:latin typeface="Calibri"/>
                        </a:rPr>
                        <a:t>0.0000</a:t>
                      </a:r>
                    </a:p>
                  </a:txBody>
                  <a:tcPr marL="64008" marR="64008" marT="27432" marB="27432" anchor="ctr">
                    <a:solidFill>
                      <a:srgbClr val="EDF1F5"/>
                    </a:solidFill>
                  </a:tcPr>
                </a:tc>
              </a:tr>
            </a:tbl>
          </a:graphicData>
        </a:graphic>
      </p:graphicFrame>
      <p:graphicFrame>
        <p:nvGraphicFramePr>
          <p:cNvPr id="6" name="Chart 5"/>
          <p:cNvGraphicFramePr>
            <a:graphicFrameLocks noGrp="1"/>
          </p:cNvGraphicFramePr>
          <p:nvPr/>
        </p:nvGraphicFramePr>
        <p:xfrm>
          <a:off x="7333488" y="1700784"/>
          <a:ext cx="4306824" cy="3072384"/>
        </p:xfrm>
        <a:graphic>
          <a:graphicData uri="http://schemas.openxmlformats.org/drawingml/2006/chart">
            <c:chart xmlns:c="http://schemas.openxmlformats.org/drawingml/2006/chart" r:id="rId2"/>
          </a:graphicData>
        </a:graphic>
      </p:graphicFrame>
      <p:sp>
        <p:nvSpPr>
          <p:cNvPr id="7" name="Rectangle 6"/>
          <p:cNvSpPr/>
          <p:nvPr/>
        </p:nvSpPr>
        <p:spPr>
          <a:xfrm>
            <a:off x="566928" y="4956048"/>
            <a:ext cx="3520440" cy="1188720"/>
          </a:xfrm>
          <a:prstGeom prst="rect">
            <a:avLst/>
          </a:prstGeom>
          <a:solidFill>
            <a:srgbClr val="FBEEE7"/>
          </a:solidFill>
          <a:ln w="9525">
            <a:solidFill>
              <a:srgbClr val="E8C4B2"/>
            </a:solidFill>
          </a:ln>
          <a:effectLst/>
        </p:spPr>
        <p:txBody>
          <a:bodyPr rtlCol="0" anchor="ctr" wrap="square"/>
          <a:lstStyle/>
          <a:p>
            <a:pPr algn="ctr"/>
          </a:p>
        </p:txBody>
      </p:sp>
      <p:sp>
        <p:nvSpPr>
          <p:cNvPr id="8" name="TextBox 7"/>
          <p:cNvSpPr txBox="1"/>
          <p:nvPr/>
        </p:nvSpPr>
        <p:spPr>
          <a:xfrm>
            <a:off x="713232" y="5065776"/>
            <a:ext cx="3227832" cy="1005840"/>
          </a:xfrm>
          <a:prstGeom prst="rect">
            <a:avLst/>
          </a:prstGeom>
          <a:noFill/>
        </p:spPr>
        <p:txBody>
          <a:bodyPr wrap="square" anchor="t" lIns="0" rIns="0" tIns="0" bIns="0">
            <a:spAutoFit/>
          </a:bodyPr>
          <a:lstStyle/>
          <a:p>
            <a:pPr algn="l">
              <a:spcAft>
                <a:spcPts val="200"/>
              </a:spcAft>
            </a:pPr>
            <a:r>
              <a:rPr sz="1000" b="1" i="0">
                <a:solidFill>
                  <a:srgbClr val="C1521D"/>
                </a:solidFill>
                <a:latin typeface="Calibri"/>
              </a:rPr>
              <a:t>D1  Fusion measured the image branch alone</a:t>
            </a:r>
          </a:p>
          <a:p>
            <a:pPr algn="l">
              <a:spcAft>
                <a:spcPts val="0"/>
              </a:spcAft>
            </a:pPr>
            <a:r>
              <a:rPr sz="840" b="0" i="0">
                <a:solidFill>
                  <a:srgbClr val="1A2330"/>
                </a:solidFill>
                <a:latin typeface="Calibri"/>
              </a:rPr>
              <a:t>The fusion cell built its text model with from_pretrained('xlm-roberta-base') and never loaded the 1.11 GB fine-tuned checkpoint. The stored HF warning confirms it; every fusion metric matches ResNet-50 alone to within 0.004.</a:t>
            </a:r>
          </a:p>
        </p:txBody>
      </p:sp>
      <p:sp>
        <p:nvSpPr>
          <p:cNvPr id="9" name="Rectangle 8"/>
          <p:cNvSpPr/>
          <p:nvPr/>
        </p:nvSpPr>
        <p:spPr>
          <a:xfrm>
            <a:off x="4315968" y="4956048"/>
            <a:ext cx="3520440" cy="1188720"/>
          </a:xfrm>
          <a:prstGeom prst="rect">
            <a:avLst/>
          </a:prstGeom>
          <a:solidFill>
            <a:srgbClr val="FBEEE7"/>
          </a:solidFill>
          <a:ln w="9525">
            <a:solidFill>
              <a:srgbClr val="E8C4B2"/>
            </a:solidFill>
          </a:ln>
          <a:effectLst/>
        </p:spPr>
        <p:txBody>
          <a:bodyPr rtlCol="0" anchor="ctr" wrap="square"/>
          <a:lstStyle/>
          <a:p>
            <a:pPr algn="ctr"/>
          </a:p>
        </p:txBody>
      </p:sp>
      <p:sp>
        <p:nvSpPr>
          <p:cNvPr id="10" name="TextBox 9"/>
          <p:cNvSpPr txBox="1"/>
          <p:nvPr/>
        </p:nvSpPr>
        <p:spPr>
          <a:xfrm>
            <a:off x="4462272" y="5065776"/>
            <a:ext cx="3227832" cy="1005840"/>
          </a:xfrm>
          <a:prstGeom prst="rect">
            <a:avLst/>
          </a:prstGeom>
          <a:noFill/>
        </p:spPr>
        <p:txBody>
          <a:bodyPr wrap="square" anchor="t" lIns="0" rIns="0" tIns="0" bIns="0">
            <a:spAutoFit/>
          </a:bodyPr>
          <a:lstStyle/>
          <a:p>
            <a:pPr algn="l">
              <a:spcAft>
                <a:spcPts val="200"/>
              </a:spcAft>
            </a:pPr>
            <a:r>
              <a:rPr sz="1000" b="1" i="0">
                <a:solidFill>
                  <a:srgbClr val="C1521D"/>
                </a:solidFill>
                <a:latin typeface="Calibri"/>
              </a:rPr>
              <a:t>D4  Documentation contradicts the notebooks</a:t>
            </a:r>
          </a:p>
          <a:p>
            <a:pPr algn="l">
              <a:spcAft>
                <a:spcPts val="0"/>
              </a:spcAft>
            </a:pPr>
            <a:r>
              <a:rPr sz="840" b="0" i="0">
                <a:solidFill>
                  <a:srgbClr val="1A2330"/>
                </a:solidFill>
                <a:latin typeface="Calibri"/>
              </a:rPr>
              <a:t>7 of 8 documented accuracies disagree with the executed cells, in both directions. Only TF-IDF agrees. The incorrect figures are what made the 60/40 deployed weighting look justified.</a:t>
            </a:r>
          </a:p>
        </p:txBody>
      </p:sp>
      <p:sp>
        <p:nvSpPr>
          <p:cNvPr id="11" name="Rectangle 10"/>
          <p:cNvSpPr/>
          <p:nvPr/>
        </p:nvSpPr>
        <p:spPr>
          <a:xfrm>
            <a:off x="8065007" y="4956048"/>
            <a:ext cx="3520440" cy="1188720"/>
          </a:xfrm>
          <a:prstGeom prst="rect">
            <a:avLst/>
          </a:prstGeom>
          <a:solidFill>
            <a:srgbClr val="FBEEE7"/>
          </a:solidFill>
          <a:ln w="9525">
            <a:solidFill>
              <a:srgbClr val="E8C4B2"/>
            </a:solidFill>
          </a:ln>
          <a:effectLst/>
        </p:spPr>
        <p:txBody>
          <a:bodyPr rtlCol="0" anchor="ctr" wrap="square"/>
          <a:lstStyle/>
          <a:p>
            <a:pPr algn="ctr"/>
          </a:p>
        </p:txBody>
      </p:sp>
      <p:sp>
        <p:nvSpPr>
          <p:cNvPr id="12" name="TextBox 11"/>
          <p:cNvSpPr txBox="1"/>
          <p:nvPr/>
        </p:nvSpPr>
        <p:spPr>
          <a:xfrm>
            <a:off x="8211311" y="5065776"/>
            <a:ext cx="3227832" cy="1005840"/>
          </a:xfrm>
          <a:prstGeom prst="rect">
            <a:avLst/>
          </a:prstGeom>
          <a:noFill/>
        </p:spPr>
        <p:txBody>
          <a:bodyPr wrap="square" anchor="t" lIns="0" rIns="0" tIns="0" bIns="0">
            <a:spAutoFit/>
          </a:bodyPr>
          <a:lstStyle/>
          <a:p>
            <a:pPr algn="l">
              <a:spcAft>
                <a:spcPts val="200"/>
              </a:spcAft>
            </a:pPr>
            <a:r>
              <a:rPr sz="1000" b="1" i="0">
                <a:solidFill>
                  <a:srgbClr val="C1521D"/>
                </a:solidFill>
                <a:latin typeface="Calibri"/>
              </a:rPr>
              <a:t>D6  Failed image fetches become grey tensors</a:t>
            </a:r>
          </a:p>
          <a:p>
            <a:pPr algn="l">
              <a:spcAft>
                <a:spcPts val="0"/>
              </a:spcAft>
            </a:pPr>
            <a:r>
              <a:rPr sz="840" b="0" i="0">
                <a:solidFill>
                  <a:srgbClr val="1A2330"/>
                </a:solidFill>
                <a:latin typeface="Calibri"/>
              </a:rPr>
              <a:t>The exception handler substitutes a uniform grey 224x224 image while keeping the original label. Measured on a comparable sample: 1,679 of 5,000 URLs failed (33.6 %). Rate in the main run was never logged.</a:t>
            </a:r>
          </a:p>
        </p:txBody>
      </p:sp>
      <p:sp>
        <p:nvSpPr>
          <p:cNvPr id="13" name="TextBox 12"/>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14" name="TextBox 13"/>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11  PLAN</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Work Breakdown Structure and CSE 499B Timeline</a:t>
            </a:r>
          </a:p>
        </p:txBody>
      </p:sp>
      <p:sp>
        <p:nvSpPr>
          <p:cNvPr id="4" name="TextBox 3"/>
          <p:cNvSpPr txBox="1"/>
          <p:nvPr/>
        </p:nvSpPr>
        <p:spPr>
          <a:xfrm>
            <a:off x="548640" y="1188720"/>
            <a:ext cx="11057839" cy="274320"/>
          </a:xfrm>
          <a:prstGeom prst="rect">
            <a:avLst/>
          </a:prstGeom>
          <a:noFill/>
        </p:spPr>
        <p:txBody>
          <a:bodyPr wrap="square" anchor="t" lIns="0" rIns="0" tIns="0" bIns="0">
            <a:spAutoFit/>
          </a:bodyPr>
          <a:lstStyle/>
          <a:p>
            <a:pPr algn="l">
              <a:spcAft>
                <a:spcPts val="0"/>
              </a:spcAft>
            </a:pPr>
            <a:r>
              <a:rPr sz="1150" b="0" i="1">
                <a:solidFill>
                  <a:srgbClr val="5B6B7C"/>
                </a:solidFill>
                <a:latin typeface="Calibri"/>
              </a:rPr>
              <a:t>16-week plan; work packages ordered by value per unit of effort, corrective experiments first</a:t>
            </a:r>
          </a:p>
        </p:txBody>
      </p:sp>
      <p:sp>
        <p:nvSpPr>
          <p:cNvPr id="5" name="TextBox 4"/>
          <p:cNvSpPr txBox="1"/>
          <p:nvPr/>
        </p:nvSpPr>
        <p:spPr>
          <a:xfrm>
            <a:off x="566928" y="1645920"/>
            <a:ext cx="5074920" cy="256032"/>
          </a:xfrm>
          <a:prstGeom prst="rect">
            <a:avLst/>
          </a:prstGeom>
          <a:noFill/>
        </p:spPr>
        <p:txBody>
          <a:bodyPr wrap="square" anchor="t" lIns="0" rIns="0" tIns="0" bIns="0">
            <a:spAutoFit/>
          </a:bodyPr>
          <a:lstStyle/>
          <a:p>
            <a:pPr algn="l">
              <a:spcAft>
                <a:spcPts val="0"/>
              </a:spcAft>
            </a:pPr>
            <a:r>
              <a:rPr sz="950" b="1" i="0">
                <a:solidFill>
                  <a:srgbClr val="5B6B7C"/>
                </a:solidFill>
                <a:latin typeface="Calibri"/>
              </a:rPr>
              <a:t>Work package  —  scope</a:t>
            </a:r>
          </a:p>
        </p:txBody>
      </p:sp>
      <p:sp>
        <p:nvSpPr>
          <p:cNvPr id="6" name="Rectangle 5"/>
          <p:cNvSpPr/>
          <p:nvPr/>
        </p:nvSpPr>
        <p:spPr>
          <a:xfrm>
            <a:off x="5760720" y="1938528"/>
            <a:ext cx="5486" cy="3456432"/>
          </a:xfrm>
          <a:prstGeom prst="rect">
            <a:avLst/>
          </a:prstGeom>
          <a:solidFill>
            <a:srgbClr val="E3E9F0"/>
          </a:solidFill>
          <a:ln>
            <a:noFill/>
          </a:ln>
          <a:effectLst/>
        </p:spPr>
        <p:txBody>
          <a:bodyPr rtlCol="0" anchor="ctr" wrap="square"/>
          <a:lstStyle/>
          <a:p>
            <a:pPr algn="ctr"/>
          </a:p>
        </p:txBody>
      </p:sp>
      <p:sp>
        <p:nvSpPr>
          <p:cNvPr id="7" name="TextBox 6"/>
          <p:cNvSpPr txBox="1"/>
          <p:nvPr/>
        </p:nvSpPr>
        <p:spPr>
          <a:xfrm>
            <a:off x="5577840"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W1</a:t>
            </a:r>
          </a:p>
        </p:txBody>
      </p:sp>
      <p:sp>
        <p:nvSpPr>
          <p:cNvPr id="8" name="Rectangle 7"/>
          <p:cNvSpPr/>
          <p:nvPr/>
        </p:nvSpPr>
        <p:spPr>
          <a:xfrm>
            <a:off x="6421374" y="1938528"/>
            <a:ext cx="5486" cy="3456432"/>
          </a:xfrm>
          <a:prstGeom prst="rect">
            <a:avLst/>
          </a:prstGeom>
          <a:solidFill>
            <a:srgbClr val="E3E9F0"/>
          </a:solidFill>
          <a:ln>
            <a:noFill/>
          </a:ln>
          <a:effectLst/>
        </p:spPr>
        <p:txBody>
          <a:bodyPr rtlCol="0" anchor="ctr" wrap="square"/>
          <a:lstStyle/>
          <a:p>
            <a:pPr algn="ctr"/>
          </a:p>
        </p:txBody>
      </p:sp>
      <p:sp>
        <p:nvSpPr>
          <p:cNvPr id="9" name="TextBox 8"/>
          <p:cNvSpPr txBox="1"/>
          <p:nvPr/>
        </p:nvSpPr>
        <p:spPr>
          <a:xfrm>
            <a:off x="6238494"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W2</a:t>
            </a:r>
          </a:p>
        </p:txBody>
      </p:sp>
      <p:sp>
        <p:nvSpPr>
          <p:cNvPr id="10" name="Rectangle 9"/>
          <p:cNvSpPr/>
          <p:nvPr/>
        </p:nvSpPr>
        <p:spPr>
          <a:xfrm>
            <a:off x="7082028" y="1938528"/>
            <a:ext cx="5486" cy="3456432"/>
          </a:xfrm>
          <a:prstGeom prst="rect">
            <a:avLst/>
          </a:prstGeom>
          <a:solidFill>
            <a:srgbClr val="E3E9F0"/>
          </a:solidFill>
          <a:ln>
            <a:noFill/>
          </a:ln>
          <a:effectLst/>
        </p:spPr>
        <p:txBody>
          <a:bodyPr rtlCol="0" anchor="ctr" wrap="square"/>
          <a:lstStyle/>
          <a:p>
            <a:pPr algn="ctr"/>
          </a:p>
        </p:txBody>
      </p:sp>
      <p:sp>
        <p:nvSpPr>
          <p:cNvPr id="11" name="TextBox 10"/>
          <p:cNvSpPr txBox="1"/>
          <p:nvPr/>
        </p:nvSpPr>
        <p:spPr>
          <a:xfrm>
            <a:off x="6899148"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W4</a:t>
            </a:r>
          </a:p>
        </p:txBody>
      </p:sp>
      <p:sp>
        <p:nvSpPr>
          <p:cNvPr id="12" name="Rectangle 11"/>
          <p:cNvSpPr/>
          <p:nvPr/>
        </p:nvSpPr>
        <p:spPr>
          <a:xfrm>
            <a:off x="7742681" y="1938528"/>
            <a:ext cx="5486" cy="3456432"/>
          </a:xfrm>
          <a:prstGeom prst="rect">
            <a:avLst/>
          </a:prstGeom>
          <a:solidFill>
            <a:srgbClr val="E3E9F0"/>
          </a:solidFill>
          <a:ln>
            <a:noFill/>
          </a:ln>
          <a:effectLst/>
        </p:spPr>
        <p:txBody>
          <a:bodyPr rtlCol="0" anchor="ctr" wrap="square"/>
          <a:lstStyle/>
          <a:p>
            <a:pPr algn="ctr"/>
          </a:p>
        </p:txBody>
      </p:sp>
      <p:sp>
        <p:nvSpPr>
          <p:cNvPr id="13" name="TextBox 12"/>
          <p:cNvSpPr txBox="1"/>
          <p:nvPr/>
        </p:nvSpPr>
        <p:spPr>
          <a:xfrm>
            <a:off x="7559802"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W6</a:t>
            </a:r>
          </a:p>
        </p:txBody>
      </p:sp>
      <p:sp>
        <p:nvSpPr>
          <p:cNvPr id="14" name="Rectangle 13"/>
          <p:cNvSpPr/>
          <p:nvPr/>
        </p:nvSpPr>
        <p:spPr>
          <a:xfrm>
            <a:off x="8403336" y="1938528"/>
            <a:ext cx="5486" cy="3456432"/>
          </a:xfrm>
          <a:prstGeom prst="rect">
            <a:avLst/>
          </a:prstGeom>
          <a:solidFill>
            <a:srgbClr val="E3E9F0"/>
          </a:solidFill>
          <a:ln>
            <a:noFill/>
          </a:ln>
          <a:effectLst/>
        </p:spPr>
        <p:txBody>
          <a:bodyPr rtlCol="0" anchor="ctr" wrap="square"/>
          <a:lstStyle/>
          <a:p>
            <a:pPr algn="ctr"/>
          </a:p>
        </p:txBody>
      </p:sp>
      <p:sp>
        <p:nvSpPr>
          <p:cNvPr id="15" name="TextBox 14"/>
          <p:cNvSpPr txBox="1"/>
          <p:nvPr/>
        </p:nvSpPr>
        <p:spPr>
          <a:xfrm>
            <a:off x="8220456"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W8</a:t>
            </a:r>
          </a:p>
        </p:txBody>
      </p:sp>
      <p:sp>
        <p:nvSpPr>
          <p:cNvPr id="16" name="Rectangle 15"/>
          <p:cNvSpPr/>
          <p:nvPr/>
        </p:nvSpPr>
        <p:spPr>
          <a:xfrm>
            <a:off x="9063990" y="1938528"/>
            <a:ext cx="5486" cy="3456432"/>
          </a:xfrm>
          <a:prstGeom prst="rect">
            <a:avLst/>
          </a:prstGeom>
          <a:solidFill>
            <a:srgbClr val="E3E9F0"/>
          </a:solidFill>
          <a:ln>
            <a:noFill/>
          </a:ln>
          <a:effectLst/>
        </p:spPr>
        <p:txBody>
          <a:bodyPr rtlCol="0" anchor="ctr" wrap="square"/>
          <a:lstStyle/>
          <a:p>
            <a:pPr algn="ctr"/>
          </a:p>
        </p:txBody>
      </p:sp>
      <p:sp>
        <p:nvSpPr>
          <p:cNvPr id="17" name="TextBox 16"/>
          <p:cNvSpPr txBox="1"/>
          <p:nvPr/>
        </p:nvSpPr>
        <p:spPr>
          <a:xfrm>
            <a:off x="8881110"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W10</a:t>
            </a:r>
          </a:p>
        </p:txBody>
      </p:sp>
      <p:sp>
        <p:nvSpPr>
          <p:cNvPr id="18" name="Rectangle 17"/>
          <p:cNvSpPr/>
          <p:nvPr/>
        </p:nvSpPr>
        <p:spPr>
          <a:xfrm>
            <a:off x="9724644" y="1938528"/>
            <a:ext cx="5486" cy="3456432"/>
          </a:xfrm>
          <a:prstGeom prst="rect">
            <a:avLst/>
          </a:prstGeom>
          <a:solidFill>
            <a:srgbClr val="E3E9F0"/>
          </a:solidFill>
          <a:ln>
            <a:noFill/>
          </a:ln>
          <a:effectLst/>
        </p:spPr>
        <p:txBody>
          <a:bodyPr rtlCol="0" anchor="ctr" wrap="square"/>
          <a:lstStyle/>
          <a:p>
            <a:pPr algn="ctr"/>
          </a:p>
        </p:txBody>
      </p:sp>
      <p:sp>
        <p:nvSpPr>
          <p:cNvPr id="19" name="TextBox 18"/>
          <p:cNvSpPr txBox="1"/>
          <p:nvPr/>
        </p:nvSpPr>
        <p:spPr>
          <a:xfrm>
            <a:off x="9541764"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W12</a:t>
            </a:r>
          </a:p>
        </p:txBody>
      </p:sp>
      <p:sp>
        <p:nvSpPr>
          <p:cNvPr id="20" name="Rectangle 19"/>
          <p:cNvSpPr/>
          <p:nvPr/>
        </p:nvSpPr>
        <p:spPr>
          <a:xfrm>
            <a:off x="10385298" y="1938528"/>
            <a:ext cx="5486" cy="3456432"/>
          </a:xfrm>
          <a:prstGeom prst="rect">
            <a:avLst/>
          </a:prstGeom>
          <a:solidFill>
            <a:srgbClr val="E3E9F0"/>
          </a:solidFill>
          <a:ln>
            <a:noFill/>
          </a:ln>
          <a:effectLst/>
        </p:spPr>
        <p:txBody>
          <a:bodyPr rtlCol="0" anchor="ctr" wrap="square"/>
          <a:lstStyle/>
          <a:p>
            <a:pPr algn="ctr"/>
          </a:p>
        </p:txBody>
      </p:sp>
      <p:sp>
        <p:nvSpPr>
          <p:cNvPr id="21" name="TextBox 20"/>
          <p:cNvSpPr txBox="1"/>
          <p:nvPr/>
        </p:nvSpPr>
        <p:spPr>
          <a:xfrm>
            <a:off x="10202418"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W14</a:t>
            </a:r>
          </a:p>
        </p:txBody>
      </p:sp>
      <p:sp>
        <p:nvSpPr>
          <p:cNvPr id="22" name="Rectangle 21"/>
          <p:cNvSpPr/>
          <p:nvPr/>
        </p:nvSpPr>
        <p:spPr>
          <a:xfrm>
            <a:off x="11045952" y="1938528"/>
            <a:ext cx="5486" cy="3456432"/>
          </a:xfrm>
          <a:prstGeom prst="rect">
            <a:avLst/>
          </a:prstGeom>
          <a:solidFill>
            <a:srgbClr val="E3E9F0"/>
          </a:solidFill>
          <a:ln>
            <a:noFill/>
          </a:ln>
          <a:effectLst/>
        </p:spPr>
        <p:txBody>
          <a:bodyPr rtlCol="0" anchor="ctr" wrap="square"/>
          <a:lstStyle/>
          <a:p>
            <a:pPr algn="ctr"/>
          </a:p>
        </p:txBody>
      </p:sp>
      <p:sp>
        <p:nvSpPr>
          <p:cNvPr id="23" name="TextBox 22"/>
          <p:cNvSpPr txBox="1"/>
          <p:nvPr/>
        </p:nvSpPr>
        <p:spPr>
          <a:xfrm>
            <a:off x="10863072" y="1645920"/>
            <a:ext cx="365760" cy="237744"/>
          </a:xfrm>
          <a:prstGeom prst="rect">
            <a:avLst/>
          </a:prstGeom>
          <a:noFill/>
        </p:spPr>
        <p:txBody>
          <a:bodyPr wrap="square" anchor="t" lIns="0" rIns="0" tIns="0" bIns="0">
            <a:spAutoFit/>
          </a:bodyPr>
          <a:lstStyle/>
          <a:p>
            <a:pPr algn="ctr">
              <a:spcAft>
                <a:spcPts val="0"/>
              </a:spcAft>
            </a:pPr>
            <a:r>
              <a:rPr sz="800" b="0" i="0">
                <a:solidFill>
                  <a:srgbClr val="5B6B7C"/>
                </a:solidFill>
                <a:latin typeface="Calibri"/>
              </a:rPr>
              <a:t>W16</a:t>
            </a:r>
          </a:p>
        </p:txBody>
      </p:sp>
      <p:sp>
        <p:nvSpPr>
          <p:cNvPr id="24" name="Rectangle 23"/>
          <p:cNvSpPr/>
          <p:nvPr/>
        </p:nvSpPr>
        <p:spPr>
          <a:xfrm>
            <a:off x="566928" y="1956816"/>
            <a:ext cx="11057839" cy="512064"/>
          </a:xfrm>
          <a:prstGeom prst="rect">
            <a:avLst/>
          </a:prstGeom>
          <a:solidFill>
            <a:srgbClr val="F7F9FB"/>
          </a:solidFill>
          <a:ln>
            <a:noFill/>
          </a:ln>
          <a:effectLst/>
        </p:spPr>
        <p:txBody>
          <a:bodyPr rtlCol="0" anchor="ctr" wrap="square"/>
          <a:lstStyle/>
          <a:p>
            <a:pPr algn="ctr"/>
          </a:p>
        </p:txBody>
      </p:sp>
      <p:sp>
        <p:nvSpPr>
          <p:cNvPr id="25" name="Rounded Rectangle 24"/>
          <p:cNvSpPr/>
          <p:nvPr/>
        </p:nvSpPr>
        <p:spPr>
          <a:xfrm>
            <a:off x="621792" y="2048256"/>
            <a:ext cx="512064" cy="219456"/>
          </a:xfrm>
          <a:prstGeom prst="roundRect">
            <a:avLst>
              <a:gd name="adj" fmla="val 45000"/>
            </a:avLst>
          </a:prstGeom>
          <a:solidFill>
            <a:srgbClr val="C1521D"/>
          </a:solidFill>
          <a:ln>
            <a:noFill/>
          </a:ln>
          <a:effectLst/>
        </p:spPr>
        <p:txBody>
          <a:bodyPr rtlCol="0" anchor="ctr" wrap="none" lIns="54864" rIns="54864" tIns="0" bIns="0"/>
          <a:lstStyle/>
          <a:p>
            <a:pPr algn="ctr"/>
            <a:r>
              <a:rPr sz="850" b="1">
                <a:solidFill>
                  <a:srgbClr val="FFFFFF"/>
                </a:solidFill>
                <a:latin typeface="Calibri"/>
              </a:rPr>
              <a:t>WP1</a:t>
            </a:r>
          </a:p>
        </p:txBody>
      </p:sp>
      <p:sp>
        <p:nvSpPr>
          <p:cNvPr id="26" name="TextBox 25"/>
          <p:cNvSpPr txBox="1"/>
          <p:nvPr/>
        </p:nvSpPr>
        <p:spPr>
          <a:xfrm>
            <a:off x="1207007" y="1984248"/>
            <a:ext cx="4983480" cy="512064"/>
          </a:xfrm>
          <a:prstGeom prst="rect">
            <a:avLst/>
          </a:prstGeom>
          <a:noFill/>
        </p:spPr>
        <p:txBody>
          <a:bodyPr wrap="square" anchor="t" lIns="0" rIns="0" tIns="0" bIns="0">
            <a:spAutoFit/>
          </a:bodyPr>
          <a:lstStyle/>
          <a:p>
            <a:pPr algn="l">
              <a:spcAft>
                <a:spcPts val="100"/>
              </a:spcAft>
            </a:pPr>
            <a:r>
              <a:rPr sz="1019" b="1" i="0">
                <a:solidFill>
                  <a:srgbClr val="12233C"/>
                </a:solidFill>
                <a:latin typeface="Calibri"/>
              </a:rPr>
              <a:t>Corrective experiment set</a:t>
            </a:r>
          </a:p>
          <a:p>
            <a:pPr algn="l">
              <a:spcAft>
                <a:spcPts val="0"/>
              </a:spcAft>
            </a:pPr>
            <a:r>
              <a:rPr sz="840" b="0" i="0">
                <a:solidFill>
                  <a:srgbClr val="5B6B7C"/>
                </a:solidFill>
                <a:latin typeface="Calibri"/>
              </a:rPr>
              <a:t>Reload checkpoint and rerun fusion; instrument ρ; fix label map; 70/15/15 split</a:t>
            </a:r>
          </a:p>
        </p:txBody>
      </p:sp>
      <p:sp>
        <p:nvSpPr>
          <p:cNvPr id="27" name="Rounded Rectangle 26"/>
          <p:cNvSpPr/>
          <p:nvPr/>
        </p:nvSpPr>
        <p:spPr>
          <a:xfrm>
            <a:off x="5760720" y="2084832"/>
            <a:ext cx="990981" cy="237744"/>
          </a:xfrm>
          <a:prstGeom prst="roundRect">
            <a:avLst>
              <a:gd name="adj" fmla="val 50000"/>
            </a:avLst>
          </a:prstGeom>
          <a:solidFill>
            <a:srgbClr val="C1521D"/>
          </a:solidFill>
          <a:ln>
            <a:noFill/>
          </a:ln>
          <a:effectLst/>
        </p:spPr>
        <p:txBody>
          <a:bodyPr rtlCol="0" anchor="ctr" wrap="square"/>
          <a:lstStyle/>
          <a:p>
            <a:pPr algn="ctr"/>
          </a:p>
        </p:txBody>
      </p:sp>
      <p:sp>
        <p:nvSpPr>
          <p:cNvPr id="28" name="TextBox 27"/>
          <p:cNvSpPr txBox="1"/>
          <p:nvPr/>
        </p:nvSpPr>
        <p:spPr>
          <a:xfrm>
            <a:off x="5760720" y="2098548"/>
            <a:ext cx="990981" cy="219456"/>
          </a:xfrm>
          <a:prstGeom prst="rect">
            <a:avLst/>
          </a:prstGeom>
          <a:noFill/>
        </p:spPr>
        <p:txBody>
          <a:bodyPr wrap="square" anchor="t" lIns="0" rIns="0" tIns="0" bIns="0">
            <a:spAutoFit/>
          </a:bodyPr>
          <a:lstStyle/>
          <a:p>
            <a:pPr algn="ctr">
              <a:spcAft>
                <a:spcPts val="0"/>
              </a:spcAft>
            </a:pPr>
            <a:r>
              <a:rPr sz="760" b="1" i="0">
                <a:solidFill>
                  <a:srgbClr val="FFFFFF"/>
                </a:solidFill>
                <a:latin typeface="Calibri"/>
              </a:rPr>
              <a:t>W1–W3</a:t>
            </a:r>
          </a:p>
        </p:txBody>
      </p:sp>
      <p:sp>
        <p:nvSpPr>
          <p:cNvPr id="29" name="Rounded Rectangle 28"/>
          <p:cNvSpPr/>
          <p:nvPr/>
        </p:nvSpPr>
        <p:spPr>
          <a:xfrm>
            <a:off x="621792" y="2615184"/>
            <a:ext cx="512064" cy="219456"/>
          </a:xfrm>
          <a:prstGeom prst="roundRect">
            <a:avLst>
              <a:gd name="adj" fmla="val 45000"/>
            </a:avLst>
          </a:prstGeom>
          <a:solidFill>
            <a:srgbClr val="0E7C7B"/>
          </a:solidFill>
          <a:ln>
            <a:noFill/>
          </a:ln>
          <a:effectLst/>
        </p:spPr>
        <p:txBody>
          <a:bodyPr rtlCol="0" anchor="ctr" wrap="none" lIns="54864" rIns="54864" tIns="0" bIns="0"/>
          <a:lstStyle/>
          <a:p>
            <a:pPr algn="ctr"/>
            <a:r>
              <a:rPr sz="850" b="1">
                <a:solidFill>
                  <a:srgbClr val="FFFFFF"/>
                </a:solidFill>
                <a:latin typeface="Calibri"/>
              </a:rPr>
              <a:t>WP2</a:t>
            </a:r>
          </a:p>
        </p:txBody>
      </p:sp>
      <p:sp>
        <p:nvSpPr>
          <p:cNvPr id="30" name="TextBox 29"/>
          <p:cNvSpPr txBox="1"/>
          <p:nvPr/>
        </p:nvSpPr>
        <p:spPr>
          <a:xfrm>
            <a:off x="1207007" y="2551176"/>
            <a:ext cx="4983480" cy="512064"/>
          </a:xfrm>
          <a:prstGeom prst="rect">
            <a:avLst/>
          </a:prstGeom>
          <a:noFill/>
        </p:spPr>
        <p:txBody>
          <a:bodyPr wrap="square" anchor="t" lIns="0" rIns="0" tIns="0" bIns="0">
            <a:spAutoFit/>
          </a:bodyPr>
          <a:lstStyle/>
          <a:p>
            <a:pPr algn="l">
              <a:spcAft>
                <a:spcPts val="100"/>
              </a:spcAft>
            </a:pPr>
            <a:r>
              <a:rPr sz="1019" b="1" i="0">
                <a:solidFill>
                  <a:srgbClr val="12233C"/>
                </a:solidFill>
                <a:latin typeface="Calibri"/>
              </a:rPr>
              <a:t>Fusion optimisation</a:t>
            </a:r>
          </a:p>
          <a:p>
            <a:pPr algn="l">
              <a:spcAft>
                <a:spcPts val="0"/>
              </a:spcAft>
            </a:pPr>
            <a:r>
              <a:rPr sz="840" b="0" i="0">
                <a:solidFill>
                  <a:srgbClr val="5B6B7C"/>
                </a:solidFill>
                <a:latin typeface="Calibri"/>
              </a:rPr>
              <a:t>α sweep 0.0–1.0 at step 0.1 on a validation split; learned co-attention; McNemar test</a:t>
            </a:r>
          </a:p>
        </p:txBody>
      </p:sp>
      <p:sp>
        <p:nvSpPr>
          <p:cNvPr id="31" name="Rounded Rectangle 30"/>
          <p:cNvSpPr/>
          <p:nvPr/>
        </p:nvSpPr>
        <p:spPr>
          <a:xfrm>
            <a:off x="6421374" y="2651760"/>
            <a:ext cx="1321308" cy="237744"/>
          </a:xfrm>
          <a:prstGeom prst="roundRect">
            <a:avLst>
              <a:gd name="adj" fmla="val 50000"/>
            </a:avLst>
          </a:prstGeom>
          <a:solidFill>
            <a:srgbClr val="0E7C7B"/>
          </a:solidFill>
          <a:ln>
            <a:noFill/>
          </a:ln>
          <a:effectLst/>
        </p:spPr>
        <p:txBody>
          <a:bodyPr rtlCol="0" anchor="ctr" wrap="square"/>
          <a:lstStyle/>
          <a:p>
            <a:pPr algn="ctr"/>
          </a:p>
        </p:txBody>
      </p:sp>
      <p:sp>
        <p:nvSpPr>
          <p:cNvPr id="32" name="TextBox 31"/>
          <p:cNvSpPr txBox="1"/>
          <p:nvPr/>
        </p:nvSpPr>
        <p:spPr>
          <a:xfrm>
            <a:off x="6421374" y="2665476"/>
            <a:ext cx="1321308" cy="219456"/>
          </a:xfrm>
          <a:prstGeom prst="rect">
            <a:avLst/>
          </a:prstGeom>
          <a:noFill/>
        </p:spPr>
        <p:txBody>
          <a:bodyPr wrap="square" anchor="t" lIns="0" rIns="0" tIns="0" bIns="0">
            <a:spAutoFit/>
          </a:bodyPr>
          <a:lstStyle/>
          <a:p>
            <a:pPr algn="ctr">
              <a:spcAft>
                <a:spcPts val="0"/>
              </a:spcAft>
            </a:pPr>
            <a:r>
              <a:rPr sz="760" b="1" i="0">
                <a:solidFill>
                  <a:srgbClr val="FFFFFF"/>
                </a:solidFill>
                <a:latin typeface="Calibri"/>
              </a:rPr>
              <a:t>W3–W6</a:t>
            </a:r>
          </a:p>
        </p:txBody>
      </p:sp>
      <p:sp>
        <p:nvSpPr>
          <p:cNvPr id="33" name="Rectangle 32"/>
          <p:cNvSpPr/>
          <p:nvPr/>
        </p:nvSpPr>
        <p:spPr>
          <a:xfrm>
            <a:off x="566928" y="3090672"/>
            <a:ext cx="11057839" cy="512064"/>
          </a:xfrm>
          <a:prstGeom prst="rect">
            <a:avLst/>
          </a:prstGeom>
          <a:solidFill>
            <a:srgbClr val="F7F9FB"/>
          </a:solidFill>
          <a:ln>
            <a:noFill/>
          </a:ln>
          <a:effectLst/>
        </p:spPr>
        <p:txBody>
          <a:bodyPr rtlCol="0" anchor="ctr" wrap="square"/>
          <a:lstStyle/>
          <a:p>
            <a:pPr algn="ctr"/>
          </a:p>
        </p:txBody>
      </p:sp>
      <p:sp>
        <p:nvSpPr>
          <p:cNvPr id="34" name="Rounded Rectangle 33"/>
          <p:cNvSpPr/>
          <p:nvPr/>
        </p:nvSpPr>
        <p:spPr>
          <a:xfrm>
            <a:off x="621792" y="3182112"/>
            <a:ext cx="512064" cy="219456"/>
          </a:xfrm>
          <a:prstGeom prst="roundRect">
            <a:avLst>
              <a:gd name="adj" fmla="val 45000"/>
            </a:avLst>
          </a:prstGeom>
          <a:solidFill>
            <a:srgbClr val="0E7C7B"/>
          </a:solidFill>
          <a:ln>
            <a:noFill/>
          </a:ln>
          <a:effectLst/>
        </p:spPr>
        <p:txBody>
          <a:bodyPr rtlCol="0" anchor="ctr" wrap="none" lIns="54864" rIns="54864" tIns="0" bIns="0"/>
          <a:lstStyle/>
          <a:p>
            <a:pPr algn="ctr"/>
            <a:r>
              <a:rPr sz="850" b="1">
                <a:solidFill>
                  <a:srgbClr val="FFFFFF"/>
                </a:solidFill>
                <a:latin typeface="Calibri"/>
              </a:rPr>
              <a:t>WP3</a:t>
            </a:r>
          </a:p>
        </p:txBody>
      </p:sp>
      <p:sp>
        <p:nvSpPr>
          <p:cNvPr id="35" name="TextBox 34"/>
          <p:cNvSpPr txBox="1"/>
          <p:nvPr/>
        </p:nvSpPr>
        <p:spPr>
          <a:xfrm>
            <a:off x="1207007" y="3118103"/>
            <a:ext cx="4983480" cy="512064"/>
          </a:xfrm>
          <a:prstGeom prst="rect">
            <a:avLst/>
          </a:prstGeom>
          <a:noFill/>
        </p:spPr>
        <p:txBody>
          <a:bodyPr wrap="square" anchor="t" lIns="0" rIns="0" tIns="0" bIns="0">
            <a:spAutoFit/>
          </a:bodyPr>
          <a:lstStyle/>
          <a:p>
            <a:pPr algn="l">
              <a:spcAft>
                <a:spcPts val="100"/>
              </a:spcAft>
            </a:pPr>
            <a:r>
              <a:rPr sz="1019" b="1" i="0">
                <a:solidFill>
                  <a:srgbClr val="12233C"/>
                </a:solidFill>
                <a:latin typeface="Calibri"/>
              </a:rPr>
              <a:t>Robustness and error analysis</a:t>
            </a:r>
          </a:p>
          <a:p>
            <a:pPr algn="l">
              <a:spcAft>
                <a:spcPts val="0"/>
              </a:spcAft>
            </a:pPr>
            <a:r>
              <a:rPr sz="840" b="0" i="0">
                <a:solidFill>
                  <a:srgbClr val="5B6B7C"/>
                </a:solidFill>
                <a:latin typeface="Calibri"/>
              </a:rPr>
              <a:t>Leave-one-subreddit-out; local image cache; 3-seed variance; confusion matrices</a:t>
            </a:r>
          </a:p>
        </p:txBody>
      </p:sp>
      <p:sp>
        <p:nvSpPr>
          <p:cNvPr id="36" name="Rounded Rectangle 35"/>
          <p:cNvSpPr/>
          <p:nvPr/>
        </p:nvSpPr>
        <p:spPr>
          <a:xfrm>
            <a:off x="7082028" y="3218688"/>
            <a:ext cx="1651635" cy="237744"/>
          </a:xfrm>
          <a:prstGeom prst="roundRect">
            <a:avLst>
              <a:gd name="adj" fmla="val 50000"/>
            </a:avLst>
          </a:prstGeom>
          <a:solidFill>
            <a:srgbClr val="0E7C7B"/>
          </a:solidFill>
          <a:ln>
            <a:noFill/>
          </a:ln>
          <a:effectLst/>
        </p:spPr>
        <p:txBody>
          <a:bodyPr rtlCol="0" anchor="ctr" wrap="square"/>
          <a:lstStyle/>
          <a:p>
            <a:pPr algn="ctr"/>
          </a:p>
        </p:txBody>
      </p:sp>
      <p:sp>
        <p:nvSpPr>
          <p:cNvPr id="37" name="TextBox 36"/>
          <p:cNvSpPr txBox="1"/>
          <p:nvPr/>
        </p:nvSpPr>
        <p:spPr>
          <a:xfrm>
            <a:off x="7082028" y="3232403"/>
            <a:ext cx="1651635" cy="219456"/>
          </a:xfrm>
          <a:prstGeom prst="rect">
            <a:avLst/>
          </a:prstGeom>
          <a:noFill/>
        </p:spPr>
        <p:txBody>
          <a:bodyPr wrap="square" anchor="t" lIns="0" rIns="0" tIns="0" bIns="0">
            <a:spAutoFit/>
          </a:bodyPr>
          <a:lstStyle/>
          <a:p>
            <a:pPr algn="ctr">
              <a:spcAft>
                <a:spcPts val="0"/>
              </a:spcAft>
            </a:pPr>
            <a:r>
              <a:rPr sz="760" b="1" i="0">
                <a:solidFill>
                  <a:srgbClr val="FFFFFF"/>
                </a:solidFill>
                <a:latin typeface="Calibri"/>
              </a:rPr>
              <a:t>W5–W9</a:t>
            </a:r>
          </a:p>
        </p:txBody>
      </p:sp>
      <p:sp>
        <p:nvSpPr>
          <p:cNvPr id="38" name="Rounded Rectangle 37"/>
          <p:cNvSpPr/>
          <p:nvPr/>
        </p:nvSpPr>
        <p:spPr>
          <a:xfrm>
            <a:off x="621792" y="3749039"/>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WP4</a:t>
            </a:r>
          </a:p>
        </p:txBody>
      </p:sp>
      <p:sp>
        <p:nvSpPr>
          <p:cNvPr id="39" name="TextBox 38"/>
          <p:cNvSpPr txBox="1"/>
          <p:nvPr/>
        </p:nvSpPr>
        <p:spPr>
          <a:xfrm>
            <a:off x="1207007" y="3685032"/>
            <a:ext cx="4983480" cy="512064"/>
          </a:xfrm>
          <a:prstGeom prst="rect">
            <a:avLst/>
          </a:prstGeom>
          <a:noFill/>
        </p:spPr>
        <p:txBody>
          <a:bodyPr wrap="square" anchor="t" lIns="0" rIns="0" tIns="0" bIns="0">
            <a:spAutoFit/>
          </a:bodyPr>
          <a:lstStyle/>
          <a:p>
            <a:pPr algn="l">
              <a:spcAft>
                <a:spcPts val="100"/>
              </a:spcAft>
            </a:pPr>
            <a:r>
              <a:rPr sz="1019" b="1" i="0">
                <a:solidFill>
                  <a:srgbClr val="12233C"/>
                </a:solidFill>
                <a:latin typeface="Calibri"/>
              </a:rPr>
              <a:t>Bangla paired corpus construction</a:t>
            </a:r>
          </a:p>
          <a:p>
            <a:pPr algn="l">
              <a:spcAft>
                <a:spcPts val="0"/>
              </a:spcAft>
            </a:pPr>
            <a:r>
              <a:rPr sz="840" b="0" i="0">
                <a:solidFill>
                  <a:srgbClr val="5B6B7C"/>
                </a:solidFill>
                <a:latin typeface="Calibri"/>
              </a:rPr>
              <a:t>Harvest fact-checkers and outlets; &gt;= 5,000 pairs; 2+ raters; report agreement</a:t>
            </a:r>
          </a:p>
        </p:txBody>
      </p:sp>
      <p:sp>
        <p:nvSpPr>
          <p:cNvPr id="40" name="Rounded Rectangle 39"/>
          <p:cNvSpPr/>
          <p:nvPr/>
        </p:nvSpPr>
        <p:spPr>
          <a:xfrm>
            <a:off x="6751701" y="3785615"/>
            <a:ext cx="2972943" cy="237744"/>
          </a:xfrm>
          <a:prstGeom prst="roundRect">
            <a:avLst>
              <a:gd name="adj" fmla="val 50000"/>
            </a:avLst>
          </a:prstGeom>
          <a:solidFill>
            <a:srgbClr val="1E3A5F"/>
          </a:solidFill>
          <a:ln>
            <a:noFill/>
          </a:ln>
          <a:effectLst/>
        </p:spPr>
        <p:txBody>
          <a:bodyPr rtlCol="0" anchor="ctr" wrap="square"/>
          <a:lstStyle/>
          <a:p>
            <a:pPr algn="ctr"/>
          </a:p>
        </p:txBody>
      </p:sp>
      <p:sp>
        <p:nvSpPr>
          <p:cNvPr id="41" name="TextBox 40"/>
          <p:cNvSpPr txBox="1"/>
          <p:nvPr/>
        </p:nvSpPr>
        <p:spPr>
          <a:xfrm>
            <a:off x="6751701" y="3799332"/>
            <a:ext cx="2972943" cy="219456"/>
          </a:xfrm>
          <a:prstGeom prst="rect">
            <a:avLst/>
          </a:prstGeom>
          <a:noFill/>
        </p:spPr>
        <p:txBody>
          <a:bodyPr wrap="square" anchor="t" lIns="0" rIns="0" tIns="0" bIns="0">
            <a:spAutoFit/>
          </a:bodyPr>
          <a:lstStyle/>
          <a:p>
            <a:pPr algn="ctr">
              <a:spcAft>
                <a:spcPts val="0"/>
              </a:spcAft>
            </a:pPr>
            <a:r>
              <a:rPr sz="760" b="1" i="0">
                <a:solidFill>
                  <a:srgbClr val="FFFFFF"/>
                </a:solidFill>
                <a:latin typeface="Calibri"/>
              </a:rPr>
              <a:t>W4–W12</a:t>
            </a:r>
          </a:p>
        </p:txBody>
      </p:sp>
      <p:sp>
        <p:nvSpPr>
          <p:cNvPr id="42" name="Rectangle 41"/>
          <p:cNvSpPr/>
          <p:nvPr/>
        </p:nvSpPr>
        <p:spPr>
          <a:xfrm>
            <a:off x="566928" y="4224528"/>
            <a:ext cx="11057839" cy="512064"/>
          </a:xfrm>
          <a:prstGeom prst="rect">
            <a:avLst/>
          </a:prstGeom>
          <a:solidFill>
            <a:srgbClr val="F7F9FB"/>
          </a:solidFill>
          <a:ln>
            <a:noFill/>
          </a:ln>
          <a:effectLst/>
        </p:spPr>
        <p:txBody>
          <a:bodyPr rtlCol="0" anchor="ctr" wrap="square"/>
          <a:lstStyle/>
          <a:p>
            <a:pPr algn="ctr"/>
          </a:p>
        </p:txBody>
      </p:sp>
      <p:sp>
        <p:nvSpPr>
          <p:cNvPr id="43" name="Rounded Rectangle 42"/>
          <p:cNvSpPr/>
          <p:nvPr/>
        </p:nvSpPr>
        <p:spPr>
          <a:xfrm>
            <a:off x="621792" y="4315968"/>
            <a:ext cx="512064" cy="219456"/>
          </a:xfrm>
          <a:prstGeom prst="roundRect">
            <a:avLst>
              <a:gd name="adj" fmla="val 45000"/>
            </a:avLst>
          </a:prstGeom>
          <a:solidFill>
            <a:srgbClr val="1E3A5F"/>
          </a:solidFill>
          <a:ln>
            <a:noFill/>
          </a:ln>
          <a:effectLst/>
        </p:spPr>
        <p:txBody>
          <a:bodyPr rtlCol="0" anchor="ctr" wrap="none" lIns="54864" rIns="54864" tIns="0" bIns="0"/>
          <a:lstStyle/>
          <a:p>
            <a:pPr algn="ctr"/>
            <a:r>
              <a:rPr sz="850" b="1">
                <a:solidFill>
                  <a:srgbClr val="FFFFFF"/>
                </a:solidFill>
                <a:latin typeface="Calibri"/>
              </a:rPr>
              <a:t>WP5</a:t>
            </a:r>
          </a:p>
        </p:txBody>
      </p:sp>
      <p:sp>
        <p:nvSpPr>
          <p:cNvPr id="44" name="TextBox 43"/>
          <p:cNvSpPr txBox="1"/>
          <p:nvPr/>
        </p:nvSpPr>
        <p:spPr>
          <a:xfrm>
            <a:off x="1207007" y="4251960"/>
            <a:ext cx="4983480" cy="512064"/>
          </a:xfrm>
          <a:prstGeom prst="rect">
            <a:avLst/>
          </a:prstGeom>
          <a:noFill/>
        </p:spPr>
        <p:txBody>
          <a:bodyPr wrap="square" anchor="t" lIns="0" rIns="0" tIns="0" bIns="0">
            <a:spAutoFit/>
          </a:bodyPr>
          <a:lstStyle/>
          <a:p>
            <a:pPr algn="l">
              <a:spcAft>
                <a:spcPts val="100"/>
              </a:spcAft>
            </a:pPr>
            <a:r>
              <a:rPr sz="1019" b="1" i="0">
                <a:solidFill>
                  <a:srgbClr val="12233C"/>
                </a:solidFill>
                <a:latin typeface="Calibri"/>
              </a:rPr>
              <a:t>Bangla multimodal model</a:t>
            </a:r>
          </a:p>
          <a:p>
            <a:pPr algn="l">
              <a:spcAft>
                <a:spcPts val="0"/>
              </a:spcAft>
            </a:pPr>
            <a:r>
              <a:rPr sz="840" b="0" i="0">
                <a:solidFill>
                  <a:srgbClr val="5B6B7C"/>
                </a:solidFill>
                <a:latin typeface="Calibri"/>
              </a:rPr>
              <a:t>BanglaBERT / XLM-R + vision + OCR stream; three-arm cross-lingual transfer study</a:t>
            </a:r>
          </a:p>
        </p:txBody>
      </p:sp>
      <p:sp>
        <p:nvSpPr>
          <p:cNvPr id="45" name="Rounded Rectangle 44"/>
          <p:cNvSpPr/>
          <p:nvPr/>
        </p:nvSpPr>
        <p:spPr>
          <a:xfrm>
            <a:off x="8733663" y="4352544"/>
            <a:ext cx="1651635" cy="237744"/>
          </a:xfrm>
          <a:prstGeom prst="roundRect">
            <a:avLst>
              <a:gd name="adj" fmla="val 50000"/>
            </a:avLst>
          </a:prstGeom>
          <a:solidFill>
            <a:srgbClr val="1E3A5F"/>
          </a:solidFill>
          <a:ln>
            <a:noFill/>
          </a:ln>
          <a:effectLst/>
        </p:spPr>
        <p:txBody>
          <a:bodyPr rtlCol="0" anchor="ctr" wrap="square"/>
          <a:lstStyle/>
          <a:p>
            <a:pPr algn="ctr"/>
          </a:p>
        </p:txBody>
      </p:sp>
      <p:sp>
        <p:nvSpPr>
          <p:cNvPr id="46" name="TextBox 45"/>
          <p:cNvSpPr txBox="1"/>
          <p:nvPr/>
        </p:nvSpPr>
        <p:spPr>
          <a:xfrm>
            <a:off x="8733663" y="4366260"/>
            <a:ext cx="1651635" cy="219456"/>
          </a:xfrm>
          <a:prstGeom prst="rect">
            <a:avLst/>
          </a:prstGeom>
          <a:noFill/>
        </p:spPr>
        <p:txBody>
          <a:bodyPr wrap="square" anchor="t" lIns="0" rIns="0" tIns="0" bIns="0">
            <a:spAutoFit/>
          </a:bodyPr>
          <a:lstStyle/>
          <a:p>
            <a:pPr algn="ctr">
              <a:spcAft>
                <a:spcPts val="0"/>
              </a:spcAft>
            </a:pPr>
            <a:r>
              <a:rPr sz="760" b="1" i="0">
                <a:solidFill>
                  <a:srgbClr val="FFFFFF"/>
                </a:solidFill>
                <a:latin typeface="Calibri"/>
              </a:rPr>
              <a:t>W10–W14</a:t>
            </a:r>
          </a:p>
        </p:txBody>
      </p:sp>
      <p:sp>
        <p:nvSpPr>
          <p:cNvPr id="47" name="Rounded Rectangle 46"/>
          <p:cNvSpPr/>
          <p:nvPr/>
        </p:nvSpPr>
        <p:spPr>
          <a:xfrm>
            <a:off x="621792" y="4882896"/>
            <a:ext cx="512064" cy="219456"/>
          </a:xfrm>
          <a:prstGeom prst="roundRect">
            <a:avLst>
              <a:gd name="adj" fmla="val 45000"/>
            </a:avLst>
          </a:prstGeom>
          <a:solidFill>
            <a:srgbClr val="12233C"/>
          </a:solidFill>
          <a:ln>
            <a:noFill/>
          </a:ln>
          <a:effectLst/>
        </p:spPr>
        <p:txBody>
          <a:bodyPr rtlCol="0" anchor="ctr" wrap="none" lIns="54864" rIns="54864" tIns="0" bIns="0"/>
          <a:lstStyle/>
          <a:p>
            <a:pPr algn="ctr"/>
            <a:r>
              <a:rPr sz="850" b="1">
                <a:solidFill>
                  <a:srgbClr val="FFFFFF"/>
                </a:solidFill>
                <a:latin typeface="Calibri"/>
              </a:rPr>
              <a:t>WP6</a:t>
            </a:r>
          </a:p>
        </p:txBody>
      </p:sp>
      <p:sp>
        <p:nvSpPr>
          <p:cNvPr id="48" name="TextBox 47"/>
          <p:cNvSpPr txBox="1"/>
          <p:nvPr/>
        </p:nvSpPr>
        <p:spPr>
          <a:xfrm>
            <a:off x="1207007" y="4818888"/>
            <a:ext cx="4983480" cy="512064"/>
          </a:xfrm>
          <a:prstGeom prst="rect">
            <a:avLst/>
          </a:prstGeom>
          <a:noFill/>
        </p:spPr>
        <p:txBody>
          <a:bodyPr wrap="square" anchor="t" lIns="0" rIns="0" tIns="0" bIns="0">
            <a:spAutoFit/>
          </a:bodyPr>
          <a:lstStyle/>
          <a:p>
            <a:pPr algn="l">
              <a:spcAft>
                <a:spcPts val="100"/>
              </a:spcAft>
            </a:pPr>
            <a:r>
              <a:rPr sz="1019" b="1" i="0">
                <a:solidFill>
                  <a:srgbClr val="12233C"/>
                </a:solidFill>
                <a:latin typeface="Calibri"/>
              </a:rPr>
              <a:t>Hardening, thesis and defence</a:t>
            </a:r>
          </a:p>
          <a:p>
            <a:pPr algn="l">
              <a:spcAft>
                <a:spcPts val="0"/>
              </a:spcAft>
            </a:pPr>
            <a:r>
              <a:rPr sz="840" b="0" i="0">
                <a:solidFill>
                  <a:srgbClr val="5B6B7C"/>
                </a:solidFill>
                <a:latin typeface="Calibri"/>
              </a:rPr>
              <a:t>Fail-loud loaders, latency benchmark, public deploy, IEEE paper, defence</a:t>
            </a:r>
          </a:p>
        </p:txBody>
      </p:sp>
      <p:sp>
        <p:nvSpPr>
          <p:cNvPr id="49" name="Rounded Rectangle 48"/>
          <p:cNvSpPr/>
          <p:nvPr/>
        </p:nvSpPr>
        <p:spPr>
          <a:xfrm>
            <a:off x="9394317" y="4919472"/>
            <a:ext cx="1651635" cy="237744"/>
          </a:xfrm>
          <a:prstGeom prst="roundRect">
            <a:avLst>
              <a:gd name="adj" fmla="val 50000"/>
            </a:avLst>
          </a:prstGeom>
          <a:solidFill>
            <a:srgbClr val="12233C"/>
          </a:solidFill>
          <a:ln>
            <a:noFill/>
          </a:ln>
          <a:effectLst/>
        </p:spPr>
        <p:txBody>
          <a:bodyPr rtlCol="0" anchor="ctr" wrap="square"/>
          <a:lstStyle/>
          <a:p>
            <a:pPr algn="ctr"/>
          </a:p>
        </p:txBody>
      </p:sp>
      <p:sp>
        <p:nvSpPr>
          <p:cNvPr id="50" name="TextBox 49"/>
          <p:cNvSpPr txBox="1"/>
          <p:nvPr/>
        </p:nvSpPr>
        <p:spPr>
          <a:xfrm>
            <a:off x="9394317" y="4933188"/>
            <a:ext cx="1651635" cy="219456"/>
          </a:xfrm>
          <a:prstGeom prst="rect">
            <a:avLst/>
          </a:prstGeom>
          <a:noFill/>
        </p:spPr>
        <p:txBody>
          <a:bodyPr wrap="square" anchor="t" lIns="0" rIns="0" tIns="0" bIns="0">
            <a:spAutoFit/>
          </a:bodyPr>
          <a:lstStyle/>
          <a:p>
            <a:pPr algn="ctr">
              <a:spcAft>
                <a:spcPts val="0"/>
              </a:spcAft>
            </a:pPr>
            <a:r>
              <a:rPr sz="760" b="1" i="0">
                <a:solidFill>
                  <a:srgbClr val="FFFFFF"/>
                </a:solidFill>
                <a:latin typeface="Calibri"/>
              </a:rPr>
              <a:t>W12–W16</a:t>
            </a:r>
          </a:p>
        </p:txBody>
      </p:sp>
      <p:sp>
        <p:nvSpPr>
          <p:cNvPr id="51" name="Rectangle 50"/>
          <p:cNvSpPr/>
          <p:nvPr/>
        </p:nvSpPr>
        <p:spPr>
          <a:xfrm>
            <a:off x="566928" y="5504688"/>
            <a:ext cx="2651760" cy="786384"/>
          </a:xfrm>
          <a:prstGeom prst="rect">
            <a:avLst/>
          </a:prstGeom>
          <a:solidFill>
            <a:srgbClr val="F4F7FA"/>
          </a:solidFill>
          <a:ln w="9525">
            <a:solidFill>
              <a:srgbClr val="D6DEE8"/>
            </a:solidFill>
          </a:ln>
          <a:effectLst/>
        </p:spPr>
        <p:txBody>
          <a:bodyPr rtlCol="0" anchor="ctr" wrap="square"/>
          <a:lstStyle/>
          <a:p>
            <a:pPr algn="ctr"/>
          </a:p>
        </p:txBody>
      </p:sp>
      <p:sp>
        <p:nvSpPr>
          <p:cNvPr id="52" name="Rounded Rectangle 51"/>
          <p:cNvSpPr/>
          <p:nvPr/>
        </p:nvSpPr>
        <p:spPr>
          <a:xfrm>
            <a:off x="694944" y="5614416"/>
            <a:ext cx="457200" cy="219456"/>
          </a:xfrm>
          <a:prstGeom prst="roundRect">
            <a:avLst>
              <a:gd name="adj" fmla="val 45000"/>
            </a:avLst>
          </a:prstGeom>
          <a:solidFill>
            <a:srgbClr val="12233C"/>
          </a:solidFill>
          <a:ln>
            <a:noFill/>
          </a:ln>
          <a:effectLst/>
        </p:spPr>
        <p:txBody>
          <a:bodyPr rtlCol="0" anchor="ctr" wrap="none" lIns="54864" rIns="54864" tIns="0" bIns="0"/>
          <a:lstStyle/>
          <a:p>
            <a:pPr algn="ctr"/>
            <a:r>
              <a:rPr sz="850" b="1">
                <a:solidFill>
                  <a:srgbClr val="FFFFFF"/>
                </a:solidFill>
                <a:latin typeface="Calibri"/>
              </a:rPr>
              <a:t>W3</a:t>
            </a:r>
          </a:p>
        </p:txBody>
      </p:sp>
      <p:sp>
        <p:nvSpPr>
          <p:cNvPr id="53" name="TextBox 52"/>
          <p:cNvSpPr txBox="1"/>
          <p:nvPr/>
        </p:nvSpPr>
        <p:spPr>
          <a:xfrm>
            <a:off x="694944" y="5907024"/>
            <a:ext cx="2395728" cy="329184"/>
          </a:xfrm>
          <a:prstGeom prst="rect">
            <a:avLst/>
          </a:prstGeom>
          <a:noFill/>
        </p:spPr>
        <p:txBody>
          <a:bodyPr wrap="square" anchor="t" lIns="0" rIns="0" tIns="0" bIns="0">
            <a:spAutoFit/>
          </a:bodyPr>
          <a:lstStyle/>
          <a:p>
            <a:pPr algn="l">
              <a:spcAft>
                <a:spcPts val="0"/>
              </a:spcAft>
            </a:pPr>
            <a:r>
              <a:rPr sz="830" b="0" i="0">
                <a:solidFill>
                  <a:srgbClr val="1A2330"/>
                </a:solidFill>
                <a:latin typeface="Calibri"/>
              </a:rPr>
              <a:t>All six corrective experiments closed; fusion claim becomes measured</a:t>
            </a:r>
          </a:p>
        </p:txBody>
      </p:sp>
      <p:sp>
        <p:nvSpPr>
          <p:cNvPr id="54" name="Rectangle 53"/>
          <p:cNvSpPr/>
          <p:nvPr/>
        </p:nvSpPr>
        <p:spPr>
          <a:xfrm>
            <a:off x="3374136" y="5504688"/>
            <a:ext cx="2651760" cy="786384"/>
          </a:xfrm>
          <a:prstGeom prst="rect">
            <a:avLst/>
          </a:prstGeom>
          <a:solidFill>
            <a:srgbClr val="F4F7FA"/>
          </a:solidFill>
          <a:ln w="9525">
            <a:solidFill>
              <a:srgbClr val="D6DEE8"/>
            </a:solidFill>
          </a:ln>
          <a:effectLst/>
        </p:spPr>
        <p:txBody>
          <a:bodyPr rtlCol="0" anchor="ctr" wrap="square"/>
          <a:lstStyle/>
          <a:p>
            <a:pPr algn="ctr"/>
          </a:p>
        </p:txBody>
      </p:sp>
      <p:sp>
        <p:nvSpPr>
          <p:cNvPr id="55" name="Rounded Rectangle 54"/>
          <p:cNvSpPr/>
          <p:nvPr/>
        </p:nvSpPr>
        <p:spPr>
          <a:xfrm>
            <a:off x="3502152" y="5614416"/>
            <a:ext cx="457200" cy="219456"/>
          </a:xfrm>
          <a:prstGeom prst="roundRect">
            <a:avLst>
              <a:gd name="adj" fmla="val 45000"/>
            </a:avLst>
          </a:prstGeom>
          <a:solidFill>
            <a:srgbClr val="12233C"/>
          </a:solidFill>
          <a:ln>
            <a:noFill/>
          </a:ln>
          <a:effectLst/>
        </p:spPr>
        <p:txBody>
          <a:bodyPr rtlCol="0" anchor="ctr" wrap="none" lIns="54864" rIns="54864" tIns="0" bIns="0"/>
          <a:lstStyle/>
          <a:p>
            <a:pPr algn="ctr"/>
            <a:r>
              <a:rPr sz="850" b="1">
                <a:solidFill>
                  <a:srgbClr val="FFFFFF"/>
                </a:solidFill>
                <a:latin typeface="Calibri"/>
              </a:rPr>
              <a:t>W9</a:t>
            </a:r>
          </a:p>
        </p:txBody>
      </p:sp>
      <p:sp>
        <p:nvSpPr>
          <p:cNvPr id="56" name="TextBox 55"/>
          <p:cNvSpPr txBox="1"/>
          <p:nvPr/>
        </p:nvSpPr>
        <p:spPr>
          <a:xfrm>
            <a:off x="3502152" y="5907024"/>
            <a:ext cx="2395728" cy="329184"/>
          </a:xfrm>
          <a:prstGeom prst="rect">
            <a:avLst/>
          </a:prstGeom>
          <a:noFill/>
        </p:spPr>
        <p:txBody>
          <a:bodyPr wrap="square" anchor="t" lIns="0" rIns="0" tIns="0" bIns="0">
            <a:spAutoFit/>
          </a:bodyPr>
          <a:lstStyle/>
          <a:p>
            <a:pPr algn="l">
              <a:spcAft>
                <a:spcPts val="0"/>
              </a:spcAft>
            </a:pPr>
            <a:r>
              <a:rPr sz="830" b="0" i="0">
                <a:solidFill>
                  <a:srgbClr val="1A2330"/>
                </a:solidFill>
                <a:latin typeface="Calibri"/>
              </a:rPr>
              <a:t>Robustness report: does the model detect veracity or register?</a:t>
            </a:r>
          </a:p>
        </p:txBody>
      </p:sp>
      <p:sp>
        <p:nvSpPr>
          <p:cNvPr id="57" name="Rectangle 56"/>
          <p:cNvSpPr/>
          <p:nvPr/>
        </p:nvSpPr>
        <p:spPr>
          <a:xfrm>
            <a:off x="6181344" y="5504688"/>
            <a:ext cx="2651760" cy="786384"/>
          </a:xfrm>
          <a:prstGeom prst="rect">
            <a:avLst/>
          </a:prstGeom>
          <a:solidFill>
            <a:srgbClr val="F4F7FA"/>
          </a:solidFill>
          <a:ln w="9525">
            <a:solidFill>
              <a:srgbClr val="D6DEE8"/>
            </a:solidFill>
          </a:ln>
          <a:effectLst/>
        </p:spPr>
        <p:txBody>
          <a:bodyPr rtlCol="0" anchor="ctr" wrap="square"/>
          <a:lstStyle/>
          <a:p>
            <a:pPr algn="ctr"/>
          </a:p>
        </p:txBody>
      </p:sp>
      <p:sp>
        <p:nvSpPr>
          <p:cNvPr id="58" name="Rounded Rectangle 57"/>
          <p:cNvSpPr/>
          <p:nvPr/>
        </p:nvSpPr>
        <p:spPr>
          <a:xfrm>
            <a:off x="6309359" y="5614416"/>
            <a:ext cx="457200" cy="219456"/>
          </a:xfrm>
          <a:prstGeom prst="roundRect">
            <a:avLst>
              <a:gd name="adj" fmla="val 45000"/>
            </a:avLst>
          </a:prstGeom>
          <a:solidFill>
            <a:srgbClr val="12233C"/>
          </a:solidFill>
          <a:ln>
            <a:noFill/>
          </a:ln>
          <a:effectLst/>
        </p:spPr>
        <p:txBody>
          <a:bodyPr rtlCol="0" anchor="ctr" wrap="none" lIns="54864" rIns="54864" tIns="0" bIns="0"/>
          <a:lstStyle/>
          <a:p>
            <a:pPr algn="ctr"/>
            <a:r>
              <a:rPr sz="850" b="1">
                <a:solidFill>
                  <a:srgbClr val="FFFFFF"/>
                </a:solidFill>
                <a:latin typeface="Calibri"/>
              </a:rPr>
              <a:t>W12</a:t>
            </a:r>
          </a:p>
        </p:txBody>
      </p:sp>
      <p:sp>
        <p:nvSpPr>
          <p:cNvPr id="59" name="TextBox 58"/>
          <p:cNvSpPr txBox="1"/>
          <p:nvPr/>
        </p:nvSpPr>
        <p:spPr>
          <a:xfrm>
            <a:off x="6309359" y="5907024"/>
            <a:ext cx="2395728" cy="329184"/>
          </a:xfrm>
          <a:prstGeom prst="rect">
            <a:avLst/>
          </a:prstGeom>
          <a:noFill/>
        </p:spPr>
        <p:txBody>
          <a:bodyPr wrap="square" anchor="t" lIns="0" rIns="0" tIns="0" bIns="0">
            <a:spAutoFit/>
          </a:bodyPr>
          <a:lstStyle/>
          <a:p>
            <a:pPr algn="l">
              <a:spcAft>
                <a:spcPts val="0"/>
              </a:spcAft>
            </a:pPr>
            <a:r>
              <a:rPr sz="830" b="0" i="0">
                <a:solidFill>
                  <a:srgbClr val="1A2330"/>
                </a:solidFill>
                <a:latin typeface="Calibri"/>
              </a:rPr>
              <a:t>Bangla paired corpus v1 frozen with reported inter-annotator agreement</a:t>
            </a:r>
          </a:p>
        </p:txBody>
      </p:sp>
      <p:sp>
        <p:nvSpPr>
          <p:cNvPr id="60" name="Rectangle 59"/>
          <p:cNvSpPr/>
          <p:nvPr/>
        </p:nvSpPr>
        <p:spPr>
          <a:xfrm>
            <a:off x="8988551" y="5504688"/>
            <a:ext cx="2651760" cy="786384"/>
          </a:xfrm>
          <a:prstGeom prst="rect">
            <a:avLst/>
          </a:prstGeom>
          <a:solidFill>
            <a:srgbClr val="F4F7FA"/>
          </a:solidFill>
          <a:ln w="9525">
            <a:solidFill>
              <a:srgbClr val="D6DEE8"/>
            </a:solidFill>
          </a:ln>
          <a:effectLst/>
        </p:spPr>
        <p:txBody>
          <a:bodyPr rtlCol="0" anchor="ctr" wrap="square"/>
          <a:lstStyle/>
          <a:p>
            <a:pPr algn="ctr"/>
          </a:p>
        </p:txBody>
      </p:sp>
      <p:sp>
        <p:nvSpPr>
          <p:cNvPr id="61" name="Rounded Rectangle 60"/>
          <p:cNvSpPr/>
          <p:nvPr/>
        </p:nvSpPr>
        <p:spPr>
          <a:xfrm>
            <a:off x="9116567" y="5614416"/>
            <a:ext cx="457200" cy="219456"/>
          </a:xfrm>
          <a:prstGeom prst="roundRect">
            <a:avLst>
              <a:gd name="adj" fmla="val 45000"/>
            </a:avLst>
          </a:prstGeom>
          <a:solidFill>
            <a:srgbClr val="12233C"/>
          </a:solidFill>
          <a:ln>
            <a:noFill/>
          </a:ln>
          <a:effectLst/>
        </p:spPr>
        <p:txBody>
          <a:bodyPr rtlCol="0" anchor="ctr" wrap="none" lIns="54864" rIns="54864" tIns="0" bIns="0"/>
          <a:lstStyle/>
          <a:p>
            <a:pPr algn="ctr"/>
            <a:r>
              <a:rPr sz="850" b="1">
                <a:solidFill>
                  <a:srgbClr val="FFFFFF"/>
                </a:solidFill>
                <a:latin typeface="Calibri"/>
              </a:rPr>
              <a:t>W16</a:t>
            </a:r>
          </a:p>
        </p:txBody>
      </p:sp>
      <p:sp>
        <p:nvSpPr>
          <p:cNvPr id="62" name="TextBox 61"/>
          <p:cNvSpPr txBox="1"/>
          <p:nvPr/>
        </p:nvSpPr>
        <p:spPr>
          <a:xfrm>
            <a:off x="9116567" y="5907024"/>
            <a:ext cx="2395728" cy="329184"/>
          </a:xfrm>
          <a:prstGeom prst="rect">
            <a:avLst/>
          </a:prstGeom>
          <a:noFill/>
        </p:spPr>
        <p:txBody>
          <a:bodyPr wrap="square" anchor="t" lIns="0" rIns="0" tIns="0" bIns="0">
            <a:spAutoFit/>
          </a:bodyPr>
          <a:lstStyle/>
          <a:p>
            <a:pPr algn="l">
              <a:spcAft>
                <a:spcPts val="0"/>
              </a:spcAft>
            </a:pPr>
            <a:r>
              <a:rPr sz="830" b="0" i="0">
                <a:solidFill>
                  <a:srgbClr val="1A2330"/>
                </a:solidFill>
                <a:latin typeface="Calibri"/>
              </a:rPr>
              <a:t>Final defence, IEEE paper and public deployment</a:t>
            </a:r>
          </a:p>
        </p:txBody>
      </p:sp>
      <p:sp>
        <p:nvSpPr>
          <p:cNvPr id="63" name="TextBox 62"/>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64" name="TextBox 63"/>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12  OWNERSHIP</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Individual Task Breakdown and Expected Deliverables</a:t>
            </a:r>
          </a:p>
        </p:txBody>
      </p:sp>
      <p:sp>
        <p:nvSpPr>
          <p:cNvPr id="4" name="TextBox 3"/>
          <p:cNvSpPr txBox="1"/>
          <p:nvPr/>
        </p:nvSpPr>
        <p:spPr>
          <a:xfrm>
            <a:off x="548640" y="1188720"/>
            <a:ext cx="11057839" cy="274320"/>
          </a:xfrm>
          <a:prstGeom prst="rect">
            <a:avLst/>
          </a:prstGeom>
          <a:noFill/>
        </p:spPr>
        <p:txBody>
          <a:bodyPr wrap="square" anchor="t" lIns="0" rIns="0" tIns="0" bIns="0">
            <a:spAutoFit/>
          </a:bodyPr>
          <a:lstStyle/>
          <a:p>
            <a:pPr algn="l">
              <a:spcAft>
                <a:spcPts val="0"/>
              </a:spcAft>
            </a:pPr>
            <a:r>
              <a:rPr sz="1150" b="0" i="1">
                <a:solidFill>
                  <a:srgbClr val="5B6B7C"/>
                </a:solidFill>
                <a:latin typeface="Calibri"/>
              </a:rPr>
              <a:t>499A artefacts were produced collaboratively; the columns below record each member's primary focus and their proposed 499B ownership</a:t>
            </a:r>
          </a:p>
        </p:txBody>
      </p:sp>
      <p:graphicFrame>
        <p:nvGraphicFramePr>
          <p:cNvPr id="5" name="Table 4"/>
          <p:cNvGraphicFramePr>
            <a:graphicFrameLocks noGrp="1"/>
          </p:cNvGraphicFramePr>
          <p:nvPr/>
        </p:nvGraphicFramePr>
        <p:xfrm>
          <a:off x="566928" y="1755648"/>
          <a:ext cx="11091672" cy="3456432"/>
        </p:xfrm>
        <a:graphic>
          <a:graphicData uri="http://schemas.openxmlformats.org/drawingml/2006/table">
            <a:tbl>
              <a:tblPr/>
              <a:tblGrid>
                <a:gridCol w="1965960"/>
                <a:gridCol w="3246120"/>
                <a:gridCol w="3246120"/>
                <a:gridCol w="2633472"/>
              </a:tblGrid>
              <a:tr h="310896">
                <a:tc>
                  <a:txBody>
                    <a:bodyPr wrap="square"/>
                    <a:lstStyle/>
                    <a:p>
                      <a:pPr algn="l"/>
                      <a:r>
                        <a:rPr sz="940" b="1" i="0">
                          <a:solidFill>
                            <a:srgbClr val="FFFFFF"/>
                          </a:solidFill>
                          <a:latin typeface="Calibri"/>
                        </a:rPr>
                        <a:t>Member</a:t>
                      </a:r>
                    </a:p>
                  </a:txBody>
                  <a:tcPr marL="64008" marR="64008" marT="27432" marB="27432" anchor="ctr">
                    <a:solidFill>
                      <a:srgbClr val="12233C"/>
                    </a:solidFill>
                  </a:tcPr>
                </a:tc>
                <a:tc>
                  <a:txBody>
                    <a:bodyPr wrap="square"/>
                    <a:lstStyle/>
                    <a:p>
                      <a:pPr algn="l"/>
                      <a:r>
                        <a:rPr sz="940" b="1" i="0">
                          <a:solidFill>
                            <a:srgbClr val="FFFFFF"/>
                          </a:solidFill>
                          <a:latin typeface="Calibri"/>
                        </a:rPr>
                        <a:t>Primary focus in CSE 499A</a:t>
                      </a:r>
                    </a:p>
                  </a:txBody>
                  <a:tcPr marL="64008" marR="64008" marT="27432" marB="27432" anchor="ctr">
                    <a:solidFill>
                      <a:srgbClr val="12233C"/>
                    </a:solidFill>
                  </a:tcPr>
                </a:tc>
                <a:tc>
                  <a:txBody>
                    <a:bodyPr wrap="square"/>
                    <a:lstStyle/>
                    <a:p>
                      <a:pPr algn="l"/>
                      <a:r>
                        <a:rPr sz="940" b="1" i="0">
                          <a:solidFill>
                            <a:srgbClr val="FFFFFF"/>
                          </a:solidFill>
                          <a:latin typeface="Calibri"/>
                        </a:rPr>
                        <a:t>Proposed ownership in CSE 499B</a:t>
                      </a:r>
                    </a:p>
                  </a:txBody>
                  <a:tcPr marL="64008" marR="64008" marT="27432" marB="27432" anchor="ctr">
                    <a:solidFill>
                      <a:srgbClr val="12233C"/>
                    </a:solidFill>
                  </a:tcPr>
                </a:tc>
                <a:tc>
                  <a:txBody>
                    <a:bodyPr wrap="square"/>
                    <a:lstStyle/>
                    <a:p>
                      <a:pPr algn="l"/>
                      <a:r>
                        <a:rPr sz="940" b="1" i="0">
                          <a:solidFill>
                            <a:srgbClr val="FFFFFF"/>
                          </a:solidFill>
                          <a:latin typeface="Calibri"/>
                        </a:rPr>
                        <a:t>Expected deliverable</a:t>
                      </a:r>
                    </a:p>
                  </a:txBody>
                  <a:tcPr marL="64008" marR="64008" marT="27432" marB="27432" anchor="ctr">
                    <a:solidFill>
                      <a:srgbClr val="12233C"/>
                    </a:solidFill>
                  </a:tcPr>
                </a:tc>
              </a:tr>
              <a:tr h="786384">
                <a:tc>
                  <a:txBody>
                    <a:bodyPr wrap="square"/>
                    <a:lstStyle/>
                    <a:p>
                      <a:pPr algn="l"/>
                      <a:r>
                        <a:rPr sz="919" b="0" i="0">
                          <a:solidFill>
                            <a:srgbClr val="1A2330"/>
                          </a:solidFill>
                          <a:latin typeface="Calibri"/>
                        </a:rPr>
                        <a:t>Anas Ahmed
2121264042</a:t>
                      </a:r>
                    </a:p>
                  </a:txBody>
                  <a:tcPr marL="64008" marR="64008" marT="27432" marB="27432" anchor="ctr">
                    <a:solidFill>
                      <a:srgbClr val="F4F7FA"/>
                    </a:solidFill>
                  </a:tcPr>
                </a:tc>
                <a:tc>
                  <a:txBody>
                    <a:bodyPr wrap="square"/>
                    <a:lstStyle/>
                    <a:p>
                      <a:pPr algn="l"/>
                      <a:r>
                        <a:rPr sz="919" b="0" i="0">
                          <a:solidFill>
                            <a:srgbClr val="1A2330"/>
                          </a:solidFill>
                          <a:latin typeface="Calibri"/>
                        </a:rPr>
                        <a:t>Text branch: BERT-base, mBERT and XLM-RoBERTa fine-tuning; checkpoint export and reload verification</a:t>
                      </a:r>
                    </a:p>
                  </a:txBody>
                  <a:tcPr marL="64008" marR="64008" marT="27432" marB="27432" anchor="ctr">
                    <a:solidFill>
                      <a:srgbClr val="F4F7FA"/>
                    </a:solidFill>
                  </a:tcPr>
                </a:tc>
                <a:tc>
                  <a:txBody>
                    <a:bodyPr wrap="square"/>
                    <a:lstStyle/>
                    <a:p>
                      <a:pPr algn="l"/>
                      <a:r>
                        <a:rPr sz="919" b="0" i="0">
                          <a:solidFill>
                            <a:srgbClr val="1A2330"/>
                          </a:solidFill>
                          <a:latin typeface="Calibri"/>
                        </a:rPr>
                        <a:t>Bangla language encoder (BanglaBERT / XLM-R) and the three-arm cross-lingual transfer study</a:t>
                      </a:r>
                    </a:p>
                  </a:txBody>
                  <a:tcPr marL="64008" marR="64008" marT="27432" marB="27432" anchor="ctr">
                    <a:solidFill>
                      <a:srgbClr val="F4F7FA"/>
                    </a:solidFill>
                  </a:tcPr>
                </a:tc>
                <a:tc>
                  <a:txBody>
                    <a:bodyPr wrap="square"/>
                    <a:lstStyle/>
                    <a:p>
                      <a:pPr algn="l"/>
                      <a:r>
                        <a:rPr sz="919" b="0" i="0">
                          <a:solidFill>
                            <a:srgbClr val="1A2330"/>
                          </a:solidFill>
                          <a:latin typeface="Calibri"/>
                        </a:rPr>
                        <a:t>Text-branch notebooks + Bangla encoder benchmark</a:t>
                      </a:r>
                    </a:p>
                  </a:txBody>
                  <a:tcPr marL="64008" marR="64008" marT="27432" marB="27432" anchor="ctr">
                    <a:solidFill>
                      <a:srgbClr val="F4F7FA"/>
                    </a:solidFill>
                  </a:tcPr>
                </a:tc>
              </a:tr>
              <a:tr h="786384">
                <a:tc>
                  <a:txBody>
                    <a:bodyPr wrap="square"/>
                    <a:lstStyle/>
                    <a:p>
                      <a:pPr algn="l"/>
                      <a:r>
                        <a:rPr sz="919" b="0" i="0">
                          <a:solidFill>
                            <a:srgbClr val="1A2330"/>
                          </a:solidFill>
                          <a:latin typeface="Calibri"/>
                        </a:rPr>
                        <a:t>Subroto Ghosh
2212150642</a:t>
                      </a:r>
                    </a:p>
                  </a:txBody>
                  <a:tcPr marL="64008" marR="64008" marT="27432" marB="27432" anchor="ctr">
                    <a:solidFill>
                      <a:srgbClr val="FFFFFF"/>
                    </a:solidFill>
                  </a:tcPr>
                </a:tc>
                <a:tc>
                  <a:txBody>
                    <a:bodyPr wrap="square"/>
                    <a:lstStyle/>
                    <a:p>
                      <a:pPr algn="l"/>
                      <a:r>
                        <a:rPr sz="919" b="0" i="0">
                          <a:solidFill>
                            <a:srgbClr val="1A2330"/>
                          </a:solidFill>
                          <a:latin typeface="Calibri"/>
                        </a:rPr>
                        <a:t>Visual branch: ResNet-50, ViT-B/16 and EfficientNet-B0 training and comparison</a:t>
                      </a:r>
                    </a:p>
                  </a:txBody>
                  <a:tcPr marL="64008" marR="64008" marT="27432" marB="27432" anchor="ctr">
                    <a:solidFill>
                      <a:srgbClr val="FFFFFF"/>
                    </a:solidFill>
                  </a:tcPr>
                </a:tc>
                <a:tc>
                  <a:txBody>
                    <a:bodyPr wrap="square"/>
                    <a:lstStyle/>
                    <a:p>
                      <a:pPr algn="l"/>
                      <a:r>
                        <a:rPr sz="919" b="0" i="0">
                          <a:solidFill>
                            <a:srgbClr val="1A2330"/>
                          </a:solidFill>
                          <a:latin typeface="Calibri"/>
                        </a:rPr>
                        <a:t>Image-fetch instrumentation (ρ), local caching, manipulation / deepfake branch</a:t>
                      </a:r>
                    </a:p>
                  </a:txBody>
                  <a:tcPr marL="64008" marR="64008" marT="27432" marB="27432" anchor="ctr">
                    <a:solidFill>
                      <a:srgbClr val="FFFFFF"/>
                    </a:solidFill>
                  </a:tcPr>
                </a:tc>
                <a:tc>
                  <a:txBody>
                    <a:bodyPr wrap="square"/>
                    <a:lstStyle/>
                    <a:p>
                      <a:pPr algn="l"/>
                      <a:r>
                        <a:rPr sz="919" b="0" i="0">
                          <a:solidFill>
                            <a:srgbClr val="1A2330"/>
                          </a:solidFill>
                          <a:latin typeface="Calibri"/>
                        </a:rPr>
                        <a:t>Vision notebooks + measured fetch-failure report</a:t>
                      </a:r>
                    </a:p>
                  </a:txBody>
                  <a:tcPr marL="64008" marR="64008" marT="27432" marB="27432" anchor="ctr">
                    <a:solidFill>
                      <a:srgbClr val="FFFFFF"/>
                    </a:solidFill>
                  </a:tcPr>
                </a:tc>
              </a:tr>
              <a:tr h="786384">
                <a:tc>
                  <a:txBody>
                    <a:bodyPr wrap="square"/>
                    <a:lstStyle/>
                    <a:p>
                      <a:pPr algn="l"/>
                      <a:r>
                        <a:rPr sz="919" b="0" i="0">
                          <a:solidFill>
                            <a:srgbClr val="1A2330"/>
                          </a:solidFill>
                          <a:latin typeface="Calibri"/>
                        </a:rPr>
                        <a:t>Joy Saha
2312466042</a:t>
                      </a:r>
                    </a:p>
                  </a:txBody>
                  <a:tcPr marL="64008" marR="64008" marT="27432" marB="27432" anchor="ctr">
                    <a:solidFill>
                      <a:srgbClr val="F4F7FA"/>
                    </a:solidFill>
                  </a:tcPr>
                </a:tc>
                <a:tc>
                  <a:txBody>
                    <a:bodyPr wrap="square"/>
                    <a:lstStyle/>
                    <a:p>
                      <a:pPr algn="l"/>
                      <a:r>
                        <a:rPr sz="919" b="0" i="0">
                          <a:solidFill>
                            <a:srgbClr val="1A2330"/>
                          </a:solidFill>
                          <a:latin typeface="Calibri"/>
                        </a:rPr>
                        <a:t>Fusion implementation, Streamlit deployment, weight hosting and repository management</a:t>
                      </a:r>
                    </a:p>
                  </a:txBody>
                  <a:tcPr marL="64008" marR="64008" marT="27432" marB="27432" anchor="ctr">
                    <a:solidFill>
                      <a:srgbClr val="F4F7FA"/>
                    </a:solidFill>
                  </a:tcPr>
                </a:tc>
                <a:tc>
                  <a:txBody>
                    <a:bodyPr wrap="square"/>
                    <a:lstStyle/>
                    <a:p>
                      <a:pPr algn="l"/>
                      <a:r>
                        <a:rPr sz="919" b="0" i="0">
                          <a:solidFill>
                            <a:srgbClr val="1A2330"/>
                          </a:solidFill>
                          <a:latin typeface="Calibri"/>
                        </a:rPr>
                        <a:t>Corrected fusion rerun, α sweep on a validation split, learned co-attention fusion</a:t>
                      </a:r>
                    </a:p>
                  </a:txBody>
                  <a:tcPr marL="64008" marR="64008" marT="27432" marB="27432" anchor="ctr">
                    <a:solidFill>
                      <a:srgbClr val="F4F7FA"/>
                    </a:solidFill>
                  </a:tcPr>
                </a:tc>
                <a:tc>
                  <a:txBody>
                    <a:bodyPr wrap="square"/>
                    <a:lstStyle/>
                    <a:p>
                      <a:pPr algn="l"/>
                      <a:r>
                        <a:rPr sz="919" b="0" i="0">
                          <a:solidFill>
                            <a:srgbClr val="1A2330"/>
                          </a:solidFill>
                          <a:latin typeface="Calibri"/>
                        </a:rPr>
                        <a:t>Fusion module + α-versus-accuracy curve + hardened app</a:t>
                      </a:r>
                    </a:p>
                  </a:txBody>
                  <a:tcPr marL="64008" marR="64008" marT="27432" marB="27432" anchor="ctr">
                    <a:solidFill>
                      <a:srgbClr val="F4F7FA"/>
                    </a:solidFill>
                  </a:tcPr>
                </a:tc>
              </a:tr>
              <a:tr h="786384">
                <a:tc>
                  <a:txBody>
                    <a:bodyPr wrap="square"/>
                    <a:lstStyle/>
                    <a:p>
                      <a:pPr algn="l"/>
                      <a:r>
                        <a:rPr sz="919" b="0" i="0">
                          <a:solidFill>
                            <a:srgbClr val="1A2330"/>
                          </a:solidFill>
                          <a:latin typeface="Calibri"/>
                        </a:rPr>
                        <a:t>Md. Abu Sufian Protik
2312234042</a:t>
                      </a:r>
                    </a:p>
                  </a:txBody>
                  <a:tcPr marL="64008" marR="64008" marT="27432" marB="27432" anchor="ctr">
                    <a:solidFill>
                      <a:srgbClr val="FFFFFF"/>
                    </a:solidFill>
                  </a:tcPr>
                </a:tc>
                <a:tc>
                  <a:txBody>
                    <a:bodyPr wrap="square"/>
                    <a:lstStyle/>
                    <a:p>
                      <a:pPr algn="l"/>
                      <a:r>
                        <a:rPr sz="919" b="0" i="0">
                          <a:solidFill>
                            <a:srgbClr val="1A2330"/>
                          </a:solidFill>
                          <a:latin typeface="Calibri"/>
                        </a:rPr>
                        <a:t>Data preparation, label-semantics cross-tabulation, metric computation and the verification report</a:t>
                      </a:r>
                    </a:p>
                  </a:txBody>
                  <a:tcPr marL="64008" marR="64008" marT="27432" marB="27432" anchor="ctr">
                    <a:solidFill>
                      <a:srgbClr val="FFFFFF"/>
                    </a:solidFill>
                  </a:tcPr>
                </a:tc>
                <a:tc>
                  <a:txBody>
                    <a:bodyPr wrap="square"/>
                    <a:lstStyle/>
                    <a:p>
                      <a:pPr algn="l"/>
                      <a:r>
                        <a:rPr sz="919" b="0" i="0">
                          <a:solidFill>
                            <a:srgbClr val="1A2330"/>
                          </a:solidFill>
                          <a:latin typeface="Calibri"/>
                        </a:rPr>
                        <a:t>Bangla corpus construction, annotation protocol and inter-annotator agreement statistic</a:t>
                      </a:r>
                    </a:p>
                  </a:txBody>
                  <a:tcPr marL="64008" marR="64008" marT="27432" marB="27432" anchor="ctr">
                    <a:solidFill>
                      <a:srgbClr val="FFFFFF"/>
                    </a:solidFill>
                  </a:tcPr>
                </a:tc>
                <a:tc>
                  <a:txBody>
                    <a:bodyPr wrap="square"/>
                    <a:lstStyle/>
                    <a:p>
                      <a:pPr algn="l"/>
                      <a:r>
                        <a:rPr sz="919" b="0" i="0">
                          <a:solidFill>
                            <a:srgbClr val="1A2330"/>
                          </a:solidFill>
                          <a:latin typeface="Calibri"/>
                        </a:rPr>
                        <a:t>Annotated Bangla paired dataset + datasheet</a:t>
                      </a:r>
                    </a:p>
                  </a:txBody>
                  <a:tcPr marL="64008" marR="64008" marT="27432" marB="27432" anchor="ctr">
                    <a:solidFill>
                      <a:srgbClr val="FFFFFF"/>
                    </a:solidFill>
                  </a:tcPr>
                </a:tc>
              </a:tr>
            </a:tbl>
          </a:graphicData>
        </a:graphic>
      </p:graphicFrame>
      <p:sp>
        <p:nvSpPr>
          <p:cNvPr id="6" name="Rectangle 5"/>
          <p:cNvSpPr/>
          <p:nvPr/>
        </p:nvSpPr>
        <p:spPr>
          <a:xfrm>
            <a:off x="566928" y="5413248"/>
            <a:ext cx="3520440" cy="804672"/>
          </a:xfrm>
          <a:prstGeom prst="rect">
            <a:avLst/>
          </a:prstGeom>
          <a:solidFill>
            <a:srgbClr val="F4F7FA"/>
          </a:solidFill>
          <a:ln w="9525">
            <a:solidFill>
              <a:srgbClr val="D6DEE8"/>
            </a:solidFill>
          </a:ln>
          <a:effectLst/>
        </p:spPr>
        <p:txBody>
          <a:bodyPr rtlCol="0" anchor="ctr" wrap="square"/>
          <a:lstStyle/>
          <a:p>
            <a:pPr algn="ctr"/>
          </a:p>
        </p:txBody>
      </p:sp>
      <p:sp>
        <p:nvSpPr>
          <p:cNvPr id="7" name="TextBox 6"/>
          <p:cNvSpPr txBox="1"/>
          <p:nvPr/>
        </p:nvSpPr>
        <p:spPr>
          <a:xfrm>
            <a:off x="731520" y="5522976"/>
            <a:ext cx="3200400" cy="621792"/>
          </a:xfrm>
          <a:prstGeom prst="rect">
            <a:avLst/>
          </a:prstGeom>
          <a:noFill/>
        </p:spPr>
        <p:txBody>
          <a:bodyPr wrap="square" anchor="t" lIns="0" rIns="0" tIns="0" bIns="0">
            <a:spAutoFit/>
          </a:bodyPr>
          <a:lstStyle/>
          <a:p>
            <a:pPr algn="l">
              <a:spcAft>
                <a:spcPts val="200"/>
              </a:spcAft>
            </a:pPr>
            <a:r>
              <a:rPr sz="960" b="1" i="0">
                <a:solidFill>
                  <a:srgbClr val="0E7C7B"/>
                </a:solidFill>
                <a:latin typeface="Calibri"/>
              </a:rPr>
              <a:t>Group deliverable 1</a:t>
            </a:r>
          </a:p>
          <a:p>
            <a:pPr algn="l">
              <a:spcAft>
                <a:spcPts val="0"/>
              </a:spcAft>
            </a:pPr>
            <a:r>
              <a:rPr sz="880" b="0" i="0">
                <a:solidFill>
                  <a:srgbClr val="1A2330"/>
                </a:solidFill>
                <a:latin typeface="Calibri"/>
              </a:rPr>
              <a:t>Corrected results table with per-class and macro-averaged metrics and confusion matrices, emitted to results.json</a:t>
            </a:r>
          </a:p>
        </p:txBody>
      </p:sp>
      <p:sp>
        <p:nvSpPr>
          <p:cNvPr id="8" name="Rectangle 7"/>
          <p:cNvSpPr/>
          <p:nvPr/>
        </p:nvSpPr>
        <p:spPr>
          <a:xfrm>
            <a:off x="4315968" y="5413248"/>
            <a:ext cx="3520440" cy="804672"/>
          </a:xfrm>
          <a:prstGeom prst="rect">
            <a:avLst/>
          </a:prstGeom>
          <a:solidFill>
            <a:srgbClr val="F4F7FA"/>
          </a:solidFill>
          <a:ln w="9525">
            <a:solidFill>
              <a:srgbClr val="D6DEE8"/>
            </a:solidFill>
          </a:ln>
          <a:effectLst/>
        </p:spPr>
        <p:txBody>
          <a:bodyPr rtlCol="0" anchor="ctr" wrap="square"/>
          <a:lstStyle/>
          <a:p>
            <a:pPr algn="ctr"/>
          </a:p>
        </p:txBody>
      </p:sp>
      <p:sp>
        <p:nvSpPr>
          <p:cNvPr id="9" name="TextBox 8"/>
          <p:cNvSpPr txBox="1"/>
          <p:nvPr/>
        </p:nvSpPr>
        <p:spPr>
          <a:xfrm>
            <a:off x="4480559" y="5522976"/>
            <a:ext cx="3200400" cy="621792"/>
          </a:xfrm>
          <a:prstGeom prst="rect">
            <a:avLst/>
          </a:prstGeom>
          <a:noFill/>
        </p:spPr>
        <p:txBody>
          <a:bodyPr wrap="square" anchor="t" lIns="0" rIns="0" tIns="0" bIns="0">
            <a:spAutoFit/>
          </a:bodyPr>
          <a:lstStyle/>
          <a:p>
            <a:pPr algn="l">
              <a:spcAft>
                <a:spcPts val="200"/>
              </a:spcAft>
            </a:pPr>
            <a:r>
              <a:rPr sz="960" b="1" i="0">
                <a:solidFill>
                  <a:srgbClr val="1E3A5F"/>
                </a:solidFill>
                <a:latin typeface="Calibri"/>
              </a:rPr>
              <a:t>Group deliverable 2</a:t>
            </a:r>
          </a:p>
          <a:p>
            <a:pPr algn="l">
              <a:spcAft>
                <a:spcPts val="0"/>
              </a:spcAft>
            </a:pPr>
            <a:r>
              <a:rPr sz="880" b="0" i="0">
                <a:solidFill>
                  <a:srgbClr val="1A2330"/>
                </a:solidFill>
                <a:latin typeface="Calibri"/>
              </a:rPr>
              <a:t>IEEE-format 499B paper and a public repository where every figure names its source cell</a:t>
            </a:r>
          </a:p>
        </p:txBody>
      </p:sp>
      <p:sp>
        <p:nvSpPr>
          <p:cNvPr id="10" name="Rectangle 9"/>
          <p:cNvSpPr/>
          <p:nvPr/>
        </p:nvSpPr>
        <p:spPr>
          <a:xfrm>
            <a:off x="8065007" y="5413248"/>
            <a:ext cx="3520440" cy="804672"/>
          </a:xfrm>
          <a:prstGeom prst="rect">
            <a:avLst/>
          </a:prstGeom>
          <a:solidFill>
            <a:srgbClr val="F4F7FA"/>
          </a:solidFill>
          <a:ln w="9525">
            <a:solidFill>
              <a:srgbClr val="D6DEE8"/>
            </a:solidFill>
          </a:ln>
          <a:effectLst/>
        </p:spPr>
        <p:txBody>
          <a:bodyPr rtlCol="0" anchor="ctr" wrap="square"/>
          <a:lstStyle/>
          <a:p>
            <a:pPr algn="ctr"/>
          </a:p>
        </p:txBody>
      </p:sp>
      <p:sp>
        <p:nvSpPr>
          <p:cNvPr id="11" name="TextBox 10"/>
          <p:cNvSpPr txBox="1"/>
          <p:nvPr/>
        </p:nvSpPr>
        <p:spPr>
          <a:xfrm>
            <a:off x="8229599" y="5522976"/>
            <a:ext cx="3200400" cy="621792"/>
          </a:xfrm>
          <a:prstGeom prst="rect">
            <a:avLst/>
          </a:prstGeom>
          <a:noFill/>
        </p:spPr>
        <p:txBody>
          <a:bodyPr wrap="square" anchor="t" lIns="0" rIns="0" tIns="0" bIns="0">
            <a:spAutoFit/>
          </a:bodyPr>
          <a:lstStyle/>
          <a:p>
            <a:pPr algn="l">
              <a:spcAft>
                <a:spcPts val="200"/>
              </a:spcAft>
            </a:pPr>
            <a:r>
              <a:rPr sz="960" b="1" i="0">
                <a:solidFill>
                  <a:srgbClr val="12233C"/>
                </a:solidFill>
                <a:latin typeface="Calibri"/>
              </a:rPr>
              <a:t>Group deliverable 3</a:t>
            </a:r>
          </a:p>
          <a:p>
            <a:pPr algn="l">
              <a:spcAft>
                <a:spcPts val="0"/>
              </a:spcAft>
            </a:pPr>
            <a:r>
              <a:rPr sz="880" b="0" i="0">
                <a:solidFill>
                  <a:srgbClr val="1A2330"/>
                </a:solidFill>
                <a:latin typeface="Calibri"/>
              </a:rPr>
              <a:t>Deployed application with the label map corrected and fail-loud checkpoint loaders</a:t>
            </a:r>
          </a:p>
        </p:txBody>
      </p:sp>
      <p:sp>
        <p:nvSpPr>
          <p:cNvPr id="12" name="TextBox 11"/>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13" name="TextBox 12"/>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66928" y="384048"/>
            <a:ext cx="1874519" cy="256032"/>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13  CONCLUSION</a:t>
            </a:r>
          </a:p>
        </p:txBody>
      </p:sp>
      <p:sp>
        <p:nvSpPr>
          <p:cNvPr id="3" name="TextBox 2"/>
          <p:cNvSpPr txBox="1"/>
          <p:nvPr/>
        </p:nvSpPr>
        <p:spPr>
          <a:xfrm>
            <a:off x="530352" y="694944"/>
            <a:ext cx="11057839" cy="566928"/>
          </a:xfrm>
          <a:prstGeom prst="rect">
            <a:avLst/>
          </a:prstGeom>
          <a:noFill/>
        </p:spPr>
        <p:txBody>
          <a:bodyPr wrap="square" anchor="t" lIns="0" rIns="0" tIns="0" bIns="0">
            <a:spAutoFit/>
          </a:bodyPr>
          <a:lstStyle/>
          <a:p>
            <a:pPr algn="l">
              <a:spcAft>
                <a:spcPts val="0"/>
              </a:spcAft>
            </a:pPr>
            <a:r>
              <a:rPr sz="2700" b="1" i="0">
                <a:solidFill>
                  <a:srgbClr val="12233C"/>
                </a:solidFill>
                <a:latin typeface="Cambria"/>
              </a:rPr>
              <a:t>Conclusion and Selected References</a:t>
            </a:r>
          </a:p>
        </p:txBody>
      </p:sp>
      <p:sp>
        <p:nvSpPr>
          <p:cNvPr id="4" name="Rectangle 3"/>
          <p:cNvSpPr/>
          <p:nvPr/>
        </p:nvSpPr>
        <p:spPr>
          <a:xfrm>
            <a:off x="566928" y="1389888"/>
            <a:ext cx="5760720" cy="3986784"/>
          </a:xfrm>
          <a:prstGeom prst="rect">
            <a:avLst/>
          </a:prstGeom>
          <a:solidFill>
            <a:srgbClr val="F4F7FA"/>
          </a:solidFill>
          <a:ln w="9525">
            <a:solidFill>
              <a:srgbClr val="D6DEE8"/>
            </a:solidFill>
          </a:ln>
          <a:effectLst/>
        </p:spPr>
        <p:txBody>
          <a:bodyPr rtlCol="0" anchor="ctr" wrap="square"/>
          <a:lstStyle/>
          <a:p>
            <a:pPr algn="ctr"/>
          </a:p>
        </p:txBody>
      </p:sp>
      <p:sp>
        <p:nvSpPr>
          <p:cNvPr id="5" name="TextBox 4"/>
          <p:cNvSpPr txBox="1"/>
          <p:nvPr/>
        </p:nvSpPr>
        <p:spPr>
          <a:xfrm>
            <a:off x="749808" y="1517904"/>
            <a:ext cx="5394959"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What CSE 499A established</a:t>
            </a:r>
          </a:p>
        </p:txBody>
      </p:sp>
      <p:sp>
        <p:nvSpPr>
          <p:cNvPr id="6" name="TextBox 5"/>
          <p:cNvSpPr txBox="1"/>
          <p:nvPr/>
        </p:nvSpPr>
        <p:spPr>
          <a:xfrm>
            <a:off x="749808" y="1865376"/>
            <a:ext cx="5394959" cy="3383280"/>
          </a:xfrm>
          <a:prstGeom prst="rect">
            <a:avLst/>
          </a:prstGeom>
          <a:noFill/>
        </p:spPr>
        <p:txBody>
          <a:bodyPr wrap="square" anchor="t" lIns="0" rIns="0" tIns="0" bIns="0">
            <a:spAutoFit/>
          </a:bodyPr>
          <a:lstStyle/>
          <a:p>
            <a:pPr algn="l" marL="146304" indent="-146304">
              <a:spcAft>
                <a:spcPts val="450"/>
              </a:spcAft>
              <a:buClr>
                <a:srgbClr val="0E7C7B"/>
              </a:buClr>
              <a:buFont typeface="Arial"/>
              <a:buChar char="•"/>
            </a:pPr>
            <a:r>
              <a:rPr sz="1000" b="0" i="0">
                <a:solidFill>
                  <a:srgbClr val="1A2330"/>
                </a:solidFill>
                <a:latin typeface="Calibri"/>
              </a:rPr>
              <a:t>Seven models benchmarked under one identical corpus, split and optimisation budget: BERT-base best on text at 0.8566, EfficientNet-B0 best on image at 0.8208, against a 0.6104 majority floor.</a:t>
            </a:r>
          </a:p>
          <a:p>
            <a:pPr algn="l" marL="146304" indent="-146304">
              <a:spcAft>
                <a:spcPts val="450"/>
              </a:spcAft>
              <a:buClr>
                <a:srgbClr val="0E7C7B"/>
              </a:buClr>
              <a:buFont typeface="Arial"/>
              <a:buChar char="•"/>
            </a:pPr>
            <a:r>
              <a:rPr sz="1000" b="0" i="0">
                <a:solidFill>
                  <a:srgbClr val="1A2330"/>
                </a:solidFill>
                <a:latin typeface="Calibri"/>
              </a:rPr>
              <a:t>Parameter count does not predict accuracy: EfficientNet-B0 at 5.3 M beats ViT-B/16 at 86.6 M by 6.3 points. Modality mattered more than architecture.</a:t>
            </a:r>
          </a:p>
          <a:p>
            <a:pPr algn="l" marL="146304" indent="-146304">
              <a:spcAft>
                <a:spcPts val="450"/>
              </a:spcAft>
              <a:buClr>
                <a:srgbClr val="0E7C7B"/>
              </a:buClr>
              <a:buFont typeface="Arial"/>
              <a:buChar char="•"/>
            </a:pPr>
            <a:r>
              <a:rPr sz="1000" b="0" i="0">
                <a:solidFill>
                  <a:srgbClr val="1A2330"/>
                </a:solidFill>
                <a:latin typeface="Calibri"/>
              </a:rPr>
              <a:t>A working end-to-end deployment with genuine train / serve preprocessing parity — identical token cap and identical normalisation constants.</a:t>
            </a:r>
          </a:p>
          <a:p>
            <a:pPr algn="l" marL="146304" indent="-146304">
              <a:spcAft>
                <a:spcPts val="450"/>
              </a:spcAft>
              <a:buClr>
                <a:srgbClr val="0E7C7B"/>
              </a:buClr>
              <a:buFont typeface="Arial"/>
              <a:buChar char="•"/>
            </a:pPr>
            <a:r>
              <a:rPr sz="1000" b="0" i="0">
                <a:solidFill>
                  <a:srgbClr val="1A2330"/>
                </a:solidFill>
                <a:latin typeface="Calibri"/>
              </a:rPr>
              <a:t>An audit of our own measurement chain: the headline multimodal figure fused a trained image branch with a randomly initialised text head, so it measures the image branch alone. We report it rather than replace it.</a:t>
            </a:r>
          </a:p>
          <a:p>
            <a:pPr algn="l" marL="146304" indent="-146304">
              <a:spcAft>
                <a:spcPts val="450"/>
              </a:spcAft>
              <a:buClr>
                <a:srgbClr val="0E7C7B"/>
              </a:buClr>
              <a:buFont typeface="Arial"/>
              <a:buChar char="•"/>
            </a:pPr>
            <a:r>
              <a:rPr sz="1000" b="0" i="0">
                <a:solidFill>
                  <a:srgbClr val="1A2330"/>
                </a:solidFill>
                <a:latin typeface="Calibri"/>
              </a:rPr>
              <a:t>Therefore: a competent unimodal benchmark and a functioning deployment, but not yet a demonstration of multimodal benefit.</a:t>
            </a:r>
          </a:p>
          <a:p>
            <a:pPr algn="l" marL="146304" indent="-146304">
              <a:spcAft>
                <a:spcPts val="450"/>
              </a:spcAft>
              <a:buClr>
                <a:srgbClr val="0E7C7B"/>
              </a:buClr>
              <a:buFont typeface="Arial"/>
              <a:buChar char="•"/>
            </a:pPr>
            <a:r>
              <a:rPr sz="1000" b="0" i="0">
                <a:solidFill>
                  <a:srgbClr val="1A2330"/>
                </a:solidFill>
                <a:latin typeface="Calibri"/>
              </a:rPr>
              <a:t>499B closes the gap with six corrective experiments — five costing hours — then builds the paired Bangla corpus that the field lacks.</a:t>
            </a:r>
          </a:p>
        </p:txBody>
      </p:sp>
      <p:sp>
        <p:nvSpPr>
          <p:cNvPr id="7" name="Rectangle 6"/>
          <p:cNvSpPr/>
          <p:nvPr/>
        </p:nvSpPr>
        <p:spPr>
          <a:xfrm>
            <a:off x="6656832" y="1389888"/>
            <a:ext cx="4946904" cy="3986784"/>
          </a:xfrm>
          <a:prstGeom prst="rect">
            <a:avLst/>
          </a:prstGeom>
          <a:solidFill>
            <a:srgbClr val="F4F7FA"/>
          </a:solidFill>
          <a:ln w="9525">
            <a:solidFill>
              <a:srgbClr val="D6DEE8"/>
            </a:solidFill>
          </a:ln>
          <a:effectLst/>
        </p:spPr>
        <p:txBody>
          <a:bodyPr rtlCol="0" anchor="ctr" wrap="square"/>
          <a:lstStyle/>
          <a:p>
            <a:pPr algn="ctr"/>
          </a:p>
        </p:txBody>
      </p:sp>
      <p:sp>
        <p:nvSpPr>
          <p:cNvPr id="8" name="TextBox 7"/>
          <p:cNvSpPr txBox="1"/>
          <p:nvPr/>
        </p:nvSpPr>
        <p:spPr>
          <a:xfrm>
            <a:off x="6839712" y="1499616"/>
            <a:ext cx="4581144" cy="274320"/>
          </a:xfrm>
          <a:prstGeom prst="rect">
            <a:avLst/>
          </a:prstGeom>
          <a:noFill/>
        </p:spPr>
        <p:txBody>
          <a:bodyPr wrap="square" anchor="t" lIns="0" rIns="0" tIns="0" bIns="0">
            <a:spAutoFit/>
          </a:bodyPr>
          <a:lstStyle/>
          <a:p>
            <a:pPr algn="l">
              <a:spcAft>
                <a:spcPts val="0"/>
              </a:spcAft>
            </a:pPr>
            <a:r>
              <a:rPr sz="1300" b="1" i="0">
                <a:solidFill>
                  <a:srgbClr val="12233C"/>
                </a:solidFill>
                <a:latin typeface="Cambria"/>
              </a:rPr>
              <a:t>Selected IEEE references</a:t>
            </a:r>
          </a:p>
        </p:txBody>
      </p:sp>
      <p:sp>
        <p:nvSpPr>
          <p:cNvPr id="9" name="TextBox 8"/>
          <p:cNvSpPr txBox="1"/>
          <p:nvPr/>
        </p:nvSpPr>
        <p:spPr>
          <a:xfrm>
            <a:off x="6839712" y="1847088"/>
            <a:ext cx="4581144" cy="3419856"/>
          </a:xfrm>
          <a:prstGeom prst="rect">
            <a:avLst/>
          </a:prstGeom>
          <a:noFill/>
        </p:spPr>
        <p:txBody>
          <a:bodyPr wrap="square" anchor="t" lIns="0" rIns="0" tIns="0" bIns="0">
            <a:spAutoFit/>
          </a:bodyPr>
          <a:lstStyle/>
          <a:p>
            <a:pPr algn="l">
              <a:spcAft>
                <a:spcPts val="330"/>
              </a:spcAft>
            </a:pPr>
            <a:r>
              <a:rPr sz="790" b="0" i="0">
                <a:solidFill>
                  <a:srgbClr val="1A2330"/>
                </a:solidFill>
                <a:latin typeface="Calibri"/>
              </a:rPr>
              <a:t>[1] S. Vosoughi, D. Roy and S. Aral, “The spread of true and false news online,” Science, vol. 359, no. 6380, pp. 1146–1151, 2018.</a:t>
            </a:r>
          </a:p>
          <a:p>
            <a:pPr algn="l">
              <a:spcAft>
                <a:spcPts val="330"/>
              </a:spcAft>
            </a:pPr>
            <a:r>
              <a:rPr sz="790" b="0" i="0">
                <a:solidFill>
                  <a:srgbClr val="1A2330"/>
                </a:solidFill>
                <a:latin typeface="Calibri"/>
              </a:rPr>
              <a:t>[3] K. Nakamura, S. Levy and W. Y. Wang, “Fakeddit: A new multimodal benchmark dataset for fine-grained fake news detection,” in Proc. LREC, 2020, pp. 6149–6157.</a:t>
            </a:r>
          </a:p>
          <a:p>
            <a:pPr algn="l">
              <a:spcAft>
                <a:spcPts val="330"/>
              </a:spcAft>
            </a:pPr>
            <a:r>
              <a:rPr sz="790" b="0" i="0">
                <a:solidFill>
                  <a:srgbClr val="1A2330"/>
                </a:solidFill>
                <a:latin typeface="Calibri"/>
              </a:rPr>
              <a:t>[5] J. Devlin, M.-W. Chang, K. Lee and K. Toutanova, “BERT: Pre-training of deep bidirectional transformers for language understanding,” in Proc. NAACL-HLT, 2019, pp. 4171–4186.</a:t>
            </a:r>
          </a:p>
          <a:p>
            <a:pPr algn="l">
              <a:spcAft>
                <a:spcPts val="330"/>
              </a:spcAft>
            </a:pPr>
            <a:r>
              <a:rPr sz="790" b="0" i="0">
                <a:solidFill>
                  <a:srgbClr val="1A2330"/>
                </a:solidFill>
                <a:latin typeface="Calibri"/>
              </a:rPr>
              <a:t>[7] A. Conneau et al., “Unsupervised cross-lingual representation learning at scale,” in Proc. ACL, 2020, pp. 8440–8451.</a:t>
            </a:r>
          </a:p>
          <a:p>
            <a:pPr algn="l">
              <a:spcAft>
                <a:spcPts val="330"/>
              </a:spcAft>
            </a:pPr>
            <a:r>
              <a:rPr sz="790" b="0" i="0">
                <a:solidFill>
                  <a:srgbClr val="1A2330"/>
                </a:solidFill>
                <a:latin typeface="Calibri"/>
              </a:rPr>
              <a:t>[9] K. He, X. Zhang, S. Ren and J. Sun, “Deep residual learning for image recognition,” in Proc. IEEE CVPR, 2016, pp. 770–778.</a:t>
            </a:r>
          </a:p>
          <a:p>
            <a:pPr algn="l">
              <a:spcAft>
                <a:spcPts val="330"/>
              </a:spcAft>
            </a:pPr>
            <a:r>
              <a:rPr sz="790" b="0" i="0">
                <a:solidFill>
                  <a:srgbClr val="1A2330"/>
                </a:solidFill>
                <a:latin typeface="Calibri"/>
              </a:rPr>
              <a:t>[11] M. Tan and Q. V. Le, “EfficientNet: Rethinking model scaling for convolutional neural networks,” in Proc. ICML, 2019, pp. 6105–6114.</a:t>
            </a:r>
          </a:p>
          <a:p>
            <a:pPr algn="l">
              <a:spcAft>
                <a:spcPts val="330"/>
              </a:spcAft>
            </a:pPr>
            <a:r>
              <a:rPr sz="790" b="0" i="0">
                <a:solidFill>
                  <a:srgbClr val="1A2330"/>
                </a:solidFill>
                <a:latin typeface="Calibri"/>
              </a:rPr>
              <a:t>[13] Y. Wang et al., “EANN: Event adversarial neural networks for multimodal fake news detection,” in Proc. ACM SIGKDD, 2018, pp. 849–857.</a:t>
            </a:r>
          </a:p>
          <a:p>
            <a:pPr algn="l">
              <a:spcAft>
                <a:spcPts val="330"/>
              </a:spcAft>
            </a:pPr>
            <a:r>
              <a:rPr sz="790" b="0" i="0">
                <a:solidFill>
                  <a:srgbClr val="1A2330"/>
                </a:solidFill>
                <a:latin typeface="Calibri"/>
              </a:rPr>
              <a:t>[16] T. Baltrušaitis, C. Ahuja and L.-P. Morency, “Multimodal machine learning: A survey and taxonomy,” IEEE TPAMI, vol. 41, no. 2, pp. 423–443, 2019.</a:t>
            </a:r>
          </a:p>
          <a:p>
            <a:pPr algn="l">
              <a:spcAft>
                <a:spcPts val="330"/>
              </a:spcAft>
            </a:pPr>
            <a:r>
              <a:rPr sz="790" b="0" i="0">
                <a:solidFill>
                  <a:srgbClr val="1A2330"/>
                </a:solidFill>
                <a:latin typeface="Calibri"/>
              </a:rPr>
              <a:t>[20] M. Z. Hossain, M. A. Rahman, M. S. Islam and S. Kar, “BanFakeNews: A dataset for detecting fake news in Bangla,” in Proc. LREC, 2020, pp. 2862–2871.</a:t>
            </a:r>
          </a:p>
          <a:p>
            <a:pPr algn="l">
              <a:spcAft>
                <a:spcPts val="330"/>
              </a:spcAft>
            </a:pPr>
            <a:r>
              <a:rPr sz="790" b="0" i="0">
                <a:solidFill>
                  <a:srgbClr val="1A2330"/>
                </a:solidFill>
                <a:latin typeface="Calibri"/>
              </a:rPr>
              <a:t>[21] A. Bhattacharjee et al., “BanglaBERT: Language model pretraining and benchmarks for low-resource language understanding evaluation in Bangla,” in Findings of NAACL, 2022, pp. 1318–1327.</a:t>
            </a:r>
          </a:p>
          <a:p>
            <a:pPr algn="l">
              <a:spcAft>
                <a:spcPts val="330"/>
              </a:spcAft>
            </a:pPr>
            <a:r>
              <a:rPr sz="790" b="0" i="0">
                <a:solidFill>
                  <a:srgbClr val="1A2330"/>
                </a:solidFill>
                <a:latin typeface="Calibri"/>
              </a:rPr>
              <a:t>[28] R. Geirhos et al., “Shortcut learning in deep neural networks,” Nature Machine Intelligence, vol. 2, pp. 665–673, 2020.</a:t>
            </a:r>
          </a:p>
        </p:txBody>
      </p:sp>
      <p:sp>
        <p:nvSpPr>
          <p:cNvPr id="10" name="TextBox 9"/>
          <p:cNvSpPr txBox="1"/>
          <p:nvPr/>
        </p:nvSpPr>
        <p:spPr>
          <a:xfrm>
            <a:off x="566928" y="5486400"/>
            <a:ext cx="11057839" cy="329184"/>
          </a:xfrm>
          <a:prstGeom prst="rect">
            <a:avLst/>
          </a:prstGeom>
          <a:noFill/>
        </p:spPr>
        <p:txBody>
          <a:bodyPr wrap="square" anchor="t" lIns="0" rIns="0" tIns="0" bIns="0">
            <a:spAutoFit/>
          </a:bodyPr>
          <a:lstStyle/>
          <a:p>
            <a:pPr algn="l">
              <a:spcAft>
                <a:spcPts val="0"/>
              </a:spcAft>
            </a:pPr>
            <a:r>
              <a:rPr sz="900" b="0" i="1">
                <a:solidFill>
                  <a:srgbClr val="5B6B7C"/>
                </a:solidFill>
                <a:latin typeface="Calibri"/>
              </a:rPr>
              <a:t>Full 35-entry reference list appears in the accompanying IEEE double-column report. Reproducibility statement: every metric in this deck was extracted from a stored output cell of an executed notebook — no value was estimated, interpolated or copied from documentation.</a:t>
            </a:r>
          </a:p>
        </p:txBody>
      </p:sp>
      <p:sp>
        <p:nvSpPr>
          <p:cNvPr id="11" name="TextBox 10"/>
          <p:cNvSpPr txBox="1"/>
          <p:nvPr/>
        </p:nvSpPr>
        <p:spPr>
          <a:xfrm>
            <a:off x="566928" y="6419088"/>
            <a:ext cx="7680960" cy="237744"/>
          </a:xfrm>
          <a:prstGeom prst="rect">
            <a:avLst/>
          </a:prstGeom>
          <a:noFill/>
        </p:spPr>
        <p:txBody>
          <a:bodyPr wrap="square" anchor="t" lIns="0" rIns="0" tIns="0" bIns="0">
            <a:spAutoFit/>
          </a:bodyPr>
          <a:lstStyle/>
          <a:p>
            <a:pPr algn="l">
              <a:spcAft>
                <a:spcPts val="0"/>
              </a:spcAft>
            </a:pPr>
            <a:r>
              <a:rPr sz="850" b="0" i="0">
                <a:solidFill>
                  <a:srgbClr val="5B6B7C"/>
                </a:solidFill>
                <a:latin typeface="Calibri"/>
              </a:rPr>
              <a:t>TruthLens AR  |  CSE 499A Senior Design Capstone  |  Dept. of ECE, North South University</a:t>
            </a:r>
          </a:p>
        </p:txBody>
      </p:sp>
      <p:sp>
        <p:nvSpPr>
          <p:cNvPr id="12" name="TextBox 11"/>
          <p:cNvSpPr txBox="1"/>
          <p:nvPr/>
        </p:nvSpPr>
        <p:spPr>
          <a:xfrm>
            <a:off x="10710367" y="6419088"/>
            <a:ext cx="914400" cy="237744"/>
          </a:xfrm>
          <a:prstGeom prst="rect">
            <a:avLst/>
          </a:prstGeom>
          <a:noFill/>
        </p:spPr>
        <p:txBody>
          <a:bodyPr wrap="square" anchor="t" lIns="0" rIns="0" tIns="0" bIns="0">
            <a:spAutoFit/>
          </a:bodyPr>
          <a:lstStyle/>
          <a:p>
            <a:pPr algn="r">
              <a:spcAft>
                <a:spcPts val="0"/>
              </a:spcAft>
            </a:pPr>
            <a:r>
              <a:rPr sz="850" b="0" i="0">
                <a:solidFill>
                  <a:srgbClr val="5B6B7C"/>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33C"/>
          </a:solidFill>
          <a:ln>
            <a:noFill/>
          </a:ln>
          <a:effectLst/>
        </p:spPr>
        <p:txBody>
          <a:bodyPr rtlCol="0" anchor="ctr" wrap="square"/>
          <a:lstStyle/>
          <a:p>
            <a:pPr algn="ctr"/>
          </a:p>
        </p:txBody>
      </p:sp>
      <p:sp>
        <p:nvSpPr>
          <p:cNvPr id="3" name="Rectangle 2"/>
          <p:cNvSpPr/>
          <p:nvPr/>
        </p:nvSpPr>
        <p:spPr>
          <a:xfrm>
            <a:off x="0" y="0"/>
            <a:ext cx="384048" cy="6858000"/>
          </a:xfrm>
          <a:prstGeom prst="rect">
            <a:avLst/>
          </a:prstGeom>
          <a:solidFill>
            <a:srgbClr val="1E3A5F"/>
          </a:solidFill>
          <a:ln>
            <a:noFill/>
          </a:ln>
          <a:effectLst/>
        </p:spPr>
        <p:txBody>
          <a:bodyPr rtlCol="0" anchor="ctr" wrap="square"/>
          <a:lstStyle/>
          <a:p>
            <a:pPr algn="ctr"/>
          </a:p>
        </p:txBody>
      </p:sp>
      <p:sp>
        <p:nvSpPr>
          <p:cNvPr id="4" name="Rounded Rectangle 3"/>
          <p:cNvSpPr/>
          <p:nvPr/>
        </p:nvSpPr>
        <p:spPr>
          <a:xfrm>
            <a:off x="1051560" y="969264"/>
            <a:ext cx="1965960" cy="274320"/>
          </a:xfrm>
          <a:prstGeom prst="roundRect">
            <a:avLst>
              <a:gd name="adj" fmla="val 45000"/>
            </a:avLst>
          </a:prstGeom>
          <a:solidFill>
            <a:srgbClr val="0E7C7B"/>
          </a:solidFill>
          <a:ln>
            <a:noFill/>
          </a:ln>
          <a:effectLst/>
        </p:spPr>
        <p:txBody>
          <a:bodyPr rtlCol="0" anchor="ctr" wrap="none" lIns="54864" rIns="54864" tIns="0" bIns="0"/>
          <a:lstStyle/>
          <a:p>
            <a:pPr algn="ctr"/>
            <a:r>
              <a:rPr sz="1050" b="1">
                <a:solidFill>
                  <a:srgbClr val="FFFFFF"/>
                </a:solidFill>
                <a:latin typeface="Calibri"/>
              </a:rPr>
              <a:t>CSE 499A DEFENCE</a:t>
            </a:r>
          </a:p>
        </p:txBody>
      </p:sp>
      <p:sp>
        <p:nvSpPr>
          <p:cNvPr id="5" name="TextBox 4"/>
          <p:cNvSpPr txBox="1"/>
          <p:nvPr/>
        </p:nvSpPr>
        <p:spPr>
          <a:xfrm>
            <a:off x="1024128" y="1408176"/>
            <a:ext cx="5852160" cy="1371600"/>
          </a:xfrm>
          <a:prstGeom prst="rect">
            <a:avLst/>
          </a:prstGeom>
          <a:noFill/>
        </p:spPr>
        <p:txBody>
          <a:bodyPr wrap="square" anchor="t" lIns="0" rIns="0" tIns="0" bIns="0">
            <a:spAutoFit/>
          </a:bodyPr>
          <a:lstStyle/>
          <a:p>
            <a:pPr algn="l">
              <a:spcAft>
                <a:spcPts val="600"/>
              </a:spcAft>
            </a:pPr>
            <a:r>
              <a:rPr sz="5200" b="1" i="0">
                <a:solidFill>
                  <a:srgbClr val="FFFFFF"/>
                </a:solidFill>
                <a:latin typeface="Cambria"/>
              </a:rPr>
              <a:t>Questions</a:t>
            </a:r>
          </a:p>
          <a:p>
            <a:pPr algn="l">
              <a:spcAft>
                <a:spcPts val="0"/>
              </a:spcAft>
            </a:pPr>
            <a:r>
              <a:rPr sz="1300" b="0" i="0">
                <a:solidFill>
                  <a:srgbClr val="C9D6E4"/>
                </a:solidFill>
                <a:latin typeface="Calibri"/>
              </a:rPr>
              <a:t>Thank you. We are happy to defend any number in this deck against the cell that produced it.</a:t>
            </a:r>
          </a:p>
        </p:txBody>
      </p:sp>
      <p:sp>
        <p:nvSpPr>
          <p:cNvPr id="6" name="TextBox 5"/>
          <p:cNvSpPr txBox="1"/>
          <p:nvPr/>
        </p:nvSpPr>
        <p:spPr>
          <a:xfrm>
            <a:off x="1024128" y="3218688"/>
            <a:ext cx="5120640" cy="274320"/>
          </a:xfrm>
          <a:prstGeom prst="rect">
            <a:avLst/>
          </a:prstGeom>
          <a:noFill/>
        </p:spPr>
        <p:txBody>
          <a:bodyPr wrap="square" anchor="t" lIns="0" rIns="0" tIns="0" bIns="0">
            <a:spAutoFit/>
          </a:bodyPr>
          <a:lstStyle/>
          <a:p>
            <a:pPr algn="l">
              <a:spcAft>
                <a:spcPts val="0"/>
              </a:spcAft>
            </a:pPr>
            <a:r>
              <a:rPr sz="1050" b="1" i="0">
                <a:solidFill>
                  <a:srgbClr val="5FBFB8"/>
                </a:solidFill>
                <a:latin typeface="Calibri"/>
              </a:rPr>
              <a:t>Anticipated questions we have prepared for</a:t>
            </a:r>
          </a:p>
        </p:txBody>
      </p:sp>
      <p:sp>
        <p:nvSpPr>
          <p:cNvPr id="7" name="TextBox 6"/>
          <p:cNvSpPr txBox="1"/>
          <p:nvPr/>
        </p:nvSpPr>
        <p:spPr>
          <a:xfrm>
            <a:off x="1024128" y="3547872"/>
            <a:ext cx="5074920" cy="384048"/>
          </a:xfrm>
          <a:prstGeom prst="rect">
            <a:avLst/>
          </a:prstGeom>
          <a:noFill/>
        </p:spPr>
        <p:txBody>
          <a:bodyPr wrap="square" anchor="t" lIns="0" rIns="0" tIns="0" bIns="0">
            <a:spAutoFit/>
          </a:bodyPr>
          <a:lstStyle/>
          <a:p>
            <a:pPr algn="l" marL="146304" indent="-146304">
              <a:spcAft>
                <a:spcPts val="0"/>
              </a:spcAft>
              <a:buClr>
                <a:srgbClr val="5FBFB8"/>
              </a:buClr>
              <a:buFont typeface="Arial"/>
              <a:buChar char="•"/>
            </a:pPr>
            <a:r>
              <a:rPr sz="1019" b="0" i="0">
                <a:solidFill>
                  <a:srgbClr val="C9D6E4"/>
                </a:solidFill>
                <a:latin typeface="Calibri"/>
              </a:rPr>
              <a:t>Why is the reported fusion figure invalid, and what will the corrected run show?</a:t>
            </a:r>
          </a:p>
        </p:txBody>
      </p:sp>
      <p:sp>
        <p:nvSpPr>
          <p:cNvPr id="8" name="TextBox 7"/>
          <p:cNvSpPr txBox="1"/>
          <p:nvPr/>
        </p:nvSpPr>
        <p:spPr>
          <a:xfrm>
            <a:off x="1024128" y="3931920"/>
            <a:ext cx="5074920" cy="384048"/>
          </a:xfrm>
          <a:prstGeom prst="rect">
            <a:avLst/>
          </a:prstGeom>
          <a:noFill/>
        </p:spPr>
        <p:txBody>
          <a:bodyPr wrap="square" anchor="t" lIns="0" rIns="0" tIns="0" bIns="0">
            <a:spAutoFit/>
          </a:bodyPr>
          <a:lstStyle/>
          <a:p>
            <a:pPr algn="l" marL="146304" indent="-146304">
              <a:spcAft>
                <a:spcPts val="0"/>
              </a:spcAft>
              <a:buClr>
                <a:srgbClr val="5FBFB8"/>
              </a:buClr>
              <a:buFont typeface="Arial"/>
              <a:buChar char="•"/>
            </a:pPr>
            <a:r>
              <a:rPr sz="1019" b="0" i="0">
                <a:solidFill>
                  <a:srgbClr val="C9D6E4"/>
                </a:solidFill>
                <a:latin typeface="Calibri"/>
              </a:rPr>
              <a:t>Why deploy XLM-RoBERTa when BERT-base scored 0.83 points higher?</a:t>
            </a:r>
          </a:p>
        </p:txBody>
      </p:sp>
      <p:sp>
        <p:nvSpPr>
          <p:cNvPr id="9" name="TextBox 8"/>
          <p:cNvSpPr txBox="1"/>
          <p:nvPr/>
        </p:nvSpPr>
        <p:spPr>
          <a:xfrm>
            <a:off x="1024128" y="4315968"/>
            <a:ext cx="5074920" cy="384048"/>
          </a:xfrm>
          <a:prstGeom prst="rect">
            <a:avLst/>
          </a:prstGeom>
          <a:noFill/>
        </p:spPr>
        <p:txBody>
          <a:bodyPr wrap="square" anchor="t" lIns="0" rIns="0" tIns="0" bIns="0">
            <a:spAutoFit/>
          </a:bodyPr>
          <a:lstStyle/>
          <a:p>
            <a:pPr algn="l" marL="146304" indent="-146304">
              <a:spcAft>
                <a:spcPts val="0"/>
              </a:spcAft>
              <a:buClr>
                <a:srgbClr val="5FBFB8"/>
              </a:buClr>
              <a:buFont typeface="Arial"/>
              <a:buChar char="•"/>
            </a:pPr>
            <a:r>
              <a:rPr sz="1019" b="0" i="0">
                <a:solidFill>
                  <a:srgbClr val="C9D6E4"/>
                </a:solidFill>
                <a:latin typeface="Calibri"/>
              </a:rPr>
              <a:t>Why was ResNet-50 deployed rather than the stronger EfficientNet-B0?</a:t>
            </a:r>
          </a:p>
        </p:txBody>
      </p:sp>
      <p:sp>
        <p:nvSpPr>
          <p:cNvPr id="10" name="TextBox 9"/>
          <p:cNvSpPr txBox="1"/>
          <p:nvPr/>
        </p:nvSpPr>
        <p:spPr>
          <a:xfrm>
            <a:off x="1024128" y="4700016"/>
            <a:ext cx="5074920" cy="384048"/>
          </a:xfrm>
          <a:prstGeom prst="rect">
            <a:avLst/>
          </a:prstGeom>
          <a:noFill/>
        </p:spPr>
        <p:txBody>
          <a:bodyPr wrap="square" anchor="t" lIns="0" rIns="0" tIns="0" bIns="0">
            <a:spAutoFit/>
          </a:bodyPr>
          <a:lstStyle/>
          <a:p>
            <a:pPr algn="l" marL="146304" indent="-146304">
              <a:spcAft>
                <a:spcPts val="0"/>
              </a:spcAft>
              <a:buClr>
                <a:srgbClr val="5FBFB8"/>
              </a:buClr>
              <a:buFont typeface="Arial"/>
              <a:buChar char="•"/>
            </a:pPr>
            <a:r>
              <a:rPr sz="1019" b="0" i="0">
                <a:solidFill>
                  <a:srgbClr val="C9D6E4"/>
                </a:solidFill>
                <a:latin typeface="Calibri"/>
              </a:rPr>
              <a:t>How do you know label 1 is REAL and not FAKE?</a:t>
            </a:r>
          </a:p>
        </p:txBody>
      </p:sp>
      <p:sp>
        <p:nvSpPr>
          <p:cNvPr id="11" name="TextBox 10"/>
          <p:cNvSpPr txBox="1"/>
          <p:nvPr/>
        </p:nvSpPr>
        <p:spPr>
          <a:xfrm>
            <a:off x="1024128" y="5084064"/>
            <a:ext cx="5074920" cy="384048"/>
          </a:xfrm>
          <a:prstGeom prst="rect">
            <a:avLst/>
          </a:prstGeom>
          <a:noFill/>
        </p:spPr>
        <p:txBody>
          <a:bodyPr wrap="square" anchor="t" lIns="0" rIns="0" tIns="0" bIns="0">
            <a:spAutoFit/>
          </a:bodyPr>
          <a:lstStyle/>
          <a:p>
            <a:pPr algn="l" marL="146304" indent="-146304">
              <a:spcAft>
                <a:spcPts val="0"/>
              </a:spcAft>
              <a:buClr>
                <a:srgbClr val="5FBFB8"/>
              </a:buClr>
              <a:buFont typeface="Arial"/>
              <a:buChar char="•"/>
            </a:pPr>
            <a:r>
              <a:rPr sz="1019" b="0" i="0">
                <a:solidFill>
                  <a:srgbClr val="C9D6E4"/>
                </a:solidFill>
                <a:latin typeface="Calibri"/>
              </a:rPr>
              <a:t>Is the model detecting veracity, or just recognising a subreddit's register?</a:t>
            </a:r>
          </a:p>
        </p:txBody>
      </p:sp>
      <p:sp>
        <p:nvSpPr>
          <p:cNvPr id="12" name="TextBox 11"/>
          <p:cNvSpPr txBox="1"/>
          <p:nvPr/>
        </p:nvSpPr>
        <p:spPr>
          <a:xfrm>
            <a:off x="1024128" y="5468112"/>
            <a:ext cx="5074920" cy="384048"/>
          </a:xfrm>
          <a:prstGeom prst="rect">
            <a:avLst/>
          </a:prstGeom>
          <a:noFill/>
        </p:spPr>
        <p:txBody>
          <a:bodyPr wrap="square" anchor="t" lIns="0" rIns="0" tIns="0" bIns="0">
            <a:spAutoFit/>
          </a:bodyPr>
          <a:lstStyle/>
          <a:p>
            <a:pPr algn="l" marL="146304" indent="-146304">
              <a:spcAft>
                <a:spcPts val="0"/>
              </a:spcAft>
              <a:buClr>
                <a:srgbClr val="5FBFB8"/>
              </a:buClr>
              <a:buFont typeface="Arial"/>
              <a:buChar char="•"/>
            </a:pPr>
            <a:r>
              <a:rPr sz="1019" b="0" i="0">
                <a:solidFill>
                  <a:srgbClr val="C9D6E4"/>
                </a:solidFill>
                <a:latin typeface="Calibri"/>
              </a:rPr>
              <a:t>What exactly blocks the Bangla extension, and how will 499B unblock it?</a:t>
            </a:r>
          </a:p>
        </p:txBody>
      </p:sp>
      <p:sp>
        <p:nvSpPr>
          <p:cNvPr id="13" name="Rectangle 12"/>
          <p:cNvSpPr/>
          <p:nvPr/>
        </p:nvSpPr>
        <p:spPr>
          <a:xfrm>
            <a:off x="6812280" y="3145536"/>
            <a:ext cx="4315968" cy="2432304"/>
          </a:xfrm>
          <a:prstGeom prst="rect">
            <a:avLst/>
          </a:prstGeom>
          <a:solidFill>
            <a:srgbClr val="1A3050"/>
          </a:solidFill>
          <a:ln w="9525">
            <a:solidFill>
              <a:srgbClr val="2C4A6C"/>
            </a:solidFill>
          </a:ln>
          <a:effectLst/>
        </p:spPr>
        <p:txBody>
          <a:bodyPr rtlCol="0" anchor="ctr" wrap="square"/>
          <a:lstStyle/>
          <a:p>
            <a:pPr algn="ctr"/>
          </a:p>
        </p:txBody>
      </p:sp>
      <p:sp>
        <p:nvSpPr>
          <p:cNvPr id="14" name="TextBox 13"/>
          <p:cNvSpPr txBox="1"/>
          <p:nvPr/>
        </p:nvSpPr>
        <p:spPr>
          <a:xfrm>
            <a:off x="7022592" y="3310128"/>
            <a:ext cx="3931920" cy="2139696"/>
          </a:xfrm>
          <a:prstGeom prst="rect">
            <a:avLst/>
          </a:prstGeom>
          <a:noFill/>
        </p:spPr>
        <p:txBody>
          <a:bodyPr wrap="square" anchor="t" lIns="0" rIns="0" tIns="0" bIns="0">
            <a:spAutoFit/>
          </a:bodyPr>
          <a:lstStyle/>
          <a:p>
            <a:pPr algn="l">
              <a:spcAft>
                <a:spcPts val="700"/>
              </a:spcAft>
            </a:pPr>
            <a:r>
              <a:rPr sz="1200" b="1" i="0">
                <a:solidFill>
                  <a:srgbClr val="5FBFB8"/>
                </a:solidFill>
                <a:latin typeface="Cambria"/>
              </a:rPr>
              <a:t>Project artefacts</a:t>
            </a:r>
          </a:p>
          <a:p>
            <a:pPr algn="l">
              <a:spcAft>
                <a:spcPts val="100"/>
              </a:spcAft>
            </a:pPr>
            <a:r>
              <a:rPr sz="900" b="1" i="0">
                <a:solidFill>
                  <a:srgbClr val="8FA6BC"/>
                </a:solidFill>
                <a:latin typeface="Calibri"/>
              </a:rPr>
              <a:t>Repository</a:t>
            </a:r>
          </a:p>
          <a:p>
            <a:pPr algn="l">
              <a:spcAft>
                <a:spcPts val="700"/>
              </a:spcAft>
            </a:pPr>
            <a:r>
              <a:rPr sz="1050" b="0" i="0">
                <a:solidFill>
                  <a:srgbClr val="FFFFFF"/>
                </a:solidFill>
                <a:latin typeface="Calibri"/>
              </a:rPr>
              <a:t>github.com/joy-saha-ayan/CSE499-Project</a:t>
            </a:r>
          </a:p>
          <a:p>
            <a:pPr algn="l">
              <a:spcAft>
                <a:spcPts val="100"/>
              </a:spcAft>
            </a:pPr>
            <a:r>
              <a:rPr sz="900" b="1" i="0">
                <a:solidFill>
                  <a:srgbClr val="8FA6BC"/>
                </a:solidFill>
                <a:latin typeface="Calibri"/>
              </a:rPr>
              <a:t>Artefacts</a:t>
            </a:r>
          </a:p>
          <a:p>
            <a:pPr algn="l">
              <a:spcAft>
                <a:spcPts val="700"/>
              </a:spcAft>
            </a:pPr>
            <a:r>
              <a:rPr sz="1000" b="0" i="0">
                <a:solidFill>
                  <a:srgbClr val="FFFFFF"/>
                </a:solidFill>
                <a:latin typeface="Calibri"/>
              </a:rPr>
              <a:t>7 trained models  |  2 fusion designs  |  459-line Streamlit application  |  IEEE report with an 8-defect verification table</a:t>
            </a:r>
          </a:p>
          <a:p>
            <a:pPr algn="l">
              <a:spcAft>
                <a:spcPts val="100"/>
              </a:spcAft>
            </a:pPr>
            <a:r>
              <a:rPr sz="900" b="1" i="0">
                <a:solidFill>
                  <a:srgbClr val="8FA6BC"/>
                </a:solidFill>
                <a:latin typeface="Calibri"/>
              </a:rPr>
              <a:t>Advisor</a:t>
            </a:r>
          </a:p>
          <a:p>
            <a:pPr algn="l">
              <a:spcAft>
                <a:spcPts val="0"/>
              </a:spcAft>
            </a:pPr>
            <a:r>
              <a:rPr sz="1050" b="0" i="0">
                <a:solidFill>
                  <a:srgbClr val="FFFFFF"/>
                </a:solidFill>
                <a:latin typeface="Calibri"/>
              </a:rPr>
              <a:t>Dr. Mohammad Shifat-E-Rabbi (MSRB)</a:t>
            </a:r>
          </a:p>
        </p:txBody>
      </p:sp>
      <p:sp>
        <p:nvSpPr>
          <p:cNvPr id="15" name="TextBox 14"/>
          <p:cNvSpPr txBox="1"/>
          <p:nvPr/>
        </p:nvSpPr>
        <p:spPr>
          <a:xfrm>
            <a:off x="1024128" y="6053328"/>
            <a:ext cx="10058400" cy="274320"/>
          </a:xfrm>
          <a:prstGeom prst="rect">
            <a:avLst/>
          </a:prstGeom>
          <a:noFill/>
        </p:spPr>
        <p:txBody>
          <a:bodyPr wrap="square" anchor="t" lIns="0" rIns="0" tIns="0" bIns="0">
            <a:spAutoFit/>
          </a:bodyPr>
          <a:lstStyle/>
          <a:p>
            <a:pPr algn="l">
              <a:spcAft>
                <a:spcPts val="0"/>
              </a:spcAft>
            </a:pPr>
            <a:r>
              <a:rPr sz="950" b="0" i="0">
                <a:solidFill>
                  <a:srgbClr val="6E86A0"/>
                </a:solidFill>
                <a:latin typeface="Calibri"/>
              </a:rPr>
              <a:t>Department of Electrical and Computer Engineering  |  North South University, Dhaka, Bangladesh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