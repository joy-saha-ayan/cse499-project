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691" y="-9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layout/>
    </c:title>
    <c:plotArea>
      <c:layout/>
      <c:barChart>
        <c:barDir val="bar"/>
        <c:grouping val="clustered"/>
        <c:ser>
          <c:idx val="0"/>
          <c:order val="0"/>
          <c:tx>
            <c:v>Expected maturity by 499B</c:v>
          </c:tx>
          <c:spPr>
            <a:solidFill>
              <a:srgbClr val="0F766E"/>
            </a:solidFill>
          </c:spPr>
          <c:dLbls>
            <c:delete val="1"/>
          </c:dLbls>
          <c:cat>
            <c:strLit>
              <c:ptCount val="4"/>
              <c:pt idx="0">
                <c:v>Text</c:v>
              </c:pt>
              <c:pt idx="1">
                <c:v>Image</c:v>
              </c:pt>
              <c:pt idx="2">
                <c:v>Video</c:v>
              </c:pt>
              <c:pt idx="3">
                <c:v>Fusion</c:v>
              </c:pt>
            </c:strLit>
          </c:cat>
          <c:val>
            <c:numLit>
              <c:formatCode>General</c:formatCode>
              <c:ptCount val="4"/>
              <c:pt idx="0">
                <c:v>75</c:v>
              </c:pt>
              <c:pt idx="1">
                <c:v>70</c:v>
              </c:pt>
              <c:pt idx="2">
                <c:v>60</c:v>
              </c:pt>
              <c:pt idx="3">
                <c:v>85</c:v>
              </c:pt>
            </c:numLit>
          </c:val>
        </c:ser>
        <c:dLbls>
          <c:showVal val="1"/>
        </c:dLbls>
        <c:gapWidth val="42"/>
        <c:axId val="172431232"/>
        <c:axId val="172432768"/>
      </c:barChart>
      <c:catAx>
        <c:axId val="172431232"/>
        <c:scaling>
          <c:orientation val="minMax"/>
        </c:scaling>
        <c:axPos val="l"/>
        <c:numFmt formatCode="General" sourceLinked="0"/>
        <c:maj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172432768"/>
        <c:crosses val="autoZero"/>
        <c:lblAlgn val="ctr"/>
        <c:lblOffset val="100"/>
      </c:catAx>
      <c:valAx>
        <c:axId val="172432768"/>
        <c:scaling>
          <c:orientation val="minMax"/>
        </c:scaling>
        <c:axPos val="b"/>
        <c:numFmt formatCode="General" sourceLinked="0"/>
        <c:majorTickMark val="none"/>
        <c:tickLblPos val="nextTo"/>
        <c:spPr>
          <a:ln w="9525">
            <a:solidFill>
              <a:srgbClr val="D6E2DF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334155"/>
                </a:solidFill>
              </a:defRPr>
            </a:pPr>
            <a:endParaRPr lang="en-US"/>
          </a:p>
        </c:txPr>
        <c:crossAx val="172431232"/>
        <c:crosses val="autoZero"/>
        <c:crossBetween val="between"/>
      </c:valAx>
    </c:plotArea>
    <c:plotVisOnly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4294967295">
            <a:extLst>
              <a:ext uri="{FF2B5EF4-FFF2-40B4-BE49-F238E27FC236}">
                <a16:creationId xmlns="" xmlns:a16="http://schemas.microsoft.com/office/drawing/2014/main" id="{917A8AB2-0F21-468C-8B14-88F37D2D51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7EF"/>
          </a:solidFill>
          <a:ln w="0">
            <a:solidFill>
              <a:srgbClr val="FAF7E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2CA8D212-6E5D-4C1B-B55D-D8CDE50AA6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905250" cy="6858000"/>
          </a:xfrm>
          <a:prstGeom prst="rect">
            <a:avLst/>
          </a:prstGeom>
          <a:solidFill>
            <a:srgbClr val="064E4A"/>
          </a:solidFill>
          <a:ln w="0">
            <a:solidFill>
              <a:srgbClr val="064E4A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="" xmlns:a16="http://schemas.microsoft.com/office/drawing/2014/main" id="{C3B00FA4-4344-4030-B757-CAD4CD8B1B20}"/>
              </a:ext>
            </a:extLst>
          </p:cNvPr>
          <p:cNvSpPr>
            <a:spLocks noGrp="1"/>
          </p:cNvSpPr>
          <p:nvPr/>
        </p:nvSpPr>
        <p:spPr>
          <a:xfrm>
            <a:off x="2809875" y="762000"/>
            <a:ext cx="2095500" cy="2095500"/>
          </a:xfrm>
          <a:prstGeom prst="ellipse">
            <a:avLst/>
          </a:prstGeom>
          <a:solidFill>
            <a:srgbClr val="D8F3EC"/>
          </a:solidFill>
          <a:ln w="0">
            <a:solidFill>
              <a:srgbClr val="D8F3EC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="" xmlns:a16="http://schemas.microsoft.com/office/drawing/2014/main" id="{FDA3C344-BECE-4D26-AE1D-EBC5D531F6DF}"/>
              </a:ext>
            </a:extLst>
          </p:cNvPr>
          <p:cNvSpPr>
            <a:spLocks noGrp="1"/>
          </p:cNvSpPr>
          <p:nvPr/>
        </p:nvSpPr>
        <p:spPr>
          <a:xfrm>
            <a:off x="3257550" y="1200150"/>
            <a:ext cx="1219200" cy="121920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921D11A4-84C8-4467-9CEE-447D89C0FDE1}"/>
              </a:ext>
            </a:extLst>
          </p:cNvPr>
          <p:cNvSpPr>
            <a:spLocks noGrp="1"/>
          </p:cNvSpPr>
          <p:nvPr/>
        </p:nvSpPr>
        <p:spPr>
          <a:xfrm>
            <a:off x="3676650" y="1609725"/>
            <a:ext cx="381000" cy="381000"/>
          </a:xfrm>
          <a:prstGeom prst="ellipse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6" name="Straight Connector 5">
            <a:extLst>
              <a:ext uri="{FF2B5EF4-FFF2-40B4-BE49-F238E27FC236}">
                <a16:creationId xmlns="" xmlns:a16="http://schemas.microsoft.com/office/drawing/2014/main" id="{ED6927E9-2813-437E-ADBF-09518A65D0CE}"/>
              </a:ext>
            </a:extLst>
          </p:cNvPr>
          <p:cNvSpPr>
            <a:spLocks noGrp="1"/>
          </p:cNvSpPr>
          <p:nvPr/>
        </p:nvSpPr>
        <p:spPr>
          <a:xfrm>
            <a:off x="4305300" y="2247900"/>
            <a:ext cx="1619250" cy="9525"/>
          </a:xfrm>
          <a:prstGeom prst="line">
            <a:avLst/>
          </a:prstGeom>
          <a:noFill/>
          <a:ln w="76200">
            <a:solidFill>
              <a:srgbClr val="E85D4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688B4CD1-DA74-4C4E-BE16-8FBE55497A43}"/>
              </a:ext>
            </a:extLst>
          </p:cNvPr>
          <p:cNvSpPr>
            <a:spLocks noGrp="1"/>
          </p:cNvSpPr>
          <p:nvPr/>
        </p:nvSpPr>
        <p:spPr>
          <a:xfrm>
            <a:off x="4476750" y="666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CSE 499 CAPSTONE PROJECT PROPOSAL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4E6CE8C0-5110-4121-B017-23CB2AC4948A}"/>
              </a:ext>
            </a:extLst>
          </p:cNvPr>
          <p:cNvSpPr>
            <a:spLocks noGrp="1"/>
          </p:cNvSpPr>
          <p:nvPr/>
        </p:nvSpPr>
        <p:spPr>
          <a:xfrm>
            <a:off x="4476750" y="1200150"/>
            <a:ext cx="5334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1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10272B"/>
                </a:solidFill>
                <a:latin typeface="Aptos Display"/>
                <a:ea typeface="Aptos Display"/>
                <a:cs typeface="Aptos Display"/>
              </a:rPr>
              <a:t>TruthLens AR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F4BE8C41-4EED-4449-B5DC-D295FF3190B5}"/>
              </a:ext>
            </a:extLst>
          </p:cNvPr>
          <p:cNvSpPr>
            <a:spLocks noGrp="1"/>
          </p:cNvSpPr>
          <p:nvPr/>
        </p:nvSpPr>
        <p:spPr>
          <a:xfrm>
            <a:off x="4476750" y="1905000"/>
            <a:ext cx="5905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Bangla Multimodal Fake News, Image &amp; Deepfake Detection using Vision-Language Models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7B2D4A21-A948-48D1-9DB6-0FA63EF123E9}"/>
              </a:ext>
            </a:extLst>
          </p:cNvPr>
          <p:cNvSpPr>
            <a:spLocks noGrp="1"/>
          </p:cNvSpPr>
          <p:nvPr/>
        </p:nvSpPr>
        <p:spPr>
          <a:xfrm>
            <a:off x="4476750" y="3028950"/>
            <a:ext cx="6096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 practical research system that scans text, screenshots, images and videos, then explains credibility through reports, dashboard, and AR overlay.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="" xmlns:a16="http://schemas.microsoft.com/office/drawing/2014/main" id="{7020D76B-5F04-45AA-A8CA-C11E361F3A9E}"/>
              </a:ext>
            </a:extLst>
          </p:cNvPr>
          <p:cNvSpPr>
            <a:spLocks noGrp="1"/>
          </p:cNvSpPr>
          <p:nvPr/>
        </p:nvSpPr>
        <p:spPr>
          <a:xfrm>
            <a:off x="4495800" y="4343400"/>
            <a:ext cx="2000250" cy="1123950"/>
          </a:xfrm>
          <a:prstGeom prst="roundRect">
            <a:avLst>
              <a:gd name="adj" fmla="val 678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31886E37-32F4-4CEA-B6B8-B85DF169A874}"/>
              </a:ext>
            </a:extLst>
          </p:cNvPr>
          <p:cNvSpPr>
            <a:spLocks noGrp="1"/>
          </p:cNvSpPr>
          <p:nvPr/>
        </p:nvSpPr>
        <p:spPr>
          <a:xfrm>
            <a:off x="4648200" y="4524375"/>
            <a:ext cx="1657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VLM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F0767817-8372-4588-9837-52F7918B2689}"/>
              </a:ext>
            </a:extLst>
          </p:cNvPr>
          <p:cNvSpPr>
            <a:spLocks noGrp="1"/>
          </p:cNvSpPr>
          <p:nvPr/>
        </p:nvSpPr>
        <p:spPr>
          <a:xfrm>
            <a:off x="4629150" y="5019675"/>
            <a:ext cx="1695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vision + language reasoning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="" xmlns:a16="http://schemas.microsoft.com/office/drawing/2014/main" id="{8FD67EBE-0132-49D7-A109-3653E283C292}"/>
              </a:ext>
            </a:extLst>
          </p:cNvPr>
          <p:cNvSpPr>
            <a:spLocks noGrp="1"/>
          </p:cNvSpPr>
          <p:nvPr/>
        </p:nvSpPr>
        <p:spPr>
          <a:xfrm>
            <a:off x="6629400" y="4343400"/>
            <a:ext cx="2000250" cy="1123950"/>
          </a:xfrm>
          <a:prstGeom prst="roundRect">
            <a:avLst>
              <a:gd name="adj" fmla="val 6780"/>
            </a:avLst>
          </a:prstGeom>
          <a:solidFill>
            <a:srgbClr val="E85D4F"/>
          </a:solidFill>
          <a:ln w="0">
            <a:solidFill>
              <a:srgbClr val="E85D4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89206D8A-CF46-4ABB-8E00-DD231A7EE886}"/>
              </a:ext>
            </a:extLst>
          </p:cNvPr>
          <p:cNvSpPr>
            <a:spLocks noGrp="1"/>
          </p:cNvSpPr>
          <p:nvPr/>
        </p:nvSpPr>
        <p:spPr>
          <a:xfrm>
            <a:off x="6838950" y="4524375"/>
            <a:ext cx="1657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5C37BFC9-11E1-44C1-AF10-33C172E107F4}"/>
              </a:ext>
            </a:extLst>
          </p:cNvPr>
          <p:cNvSpPr>
            <a:spLocks noGrp="1"/>
          </p:cNvSpPr>
          <p:nvPr/>
        </p:nvSpPr>
        <p:spPr>
          <a:xfrm>
            <a:off x="6819900" y="5019675"/>
            <a:ext cx="1695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camera-based verification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="" xmlns:a16="http://schemas.microsoft.com/office/drawing/2014/main" id="{36994188-4FC3-4D5B-B91F-EAC5C34DE7E2}"/>
              </a:ext>
            </a:extLst>
          </p:cNvPr>
          <p:cNvSpPr>
            <a:spLocks noGrp="1"/>
          </p:cNvSpPr>
          <p:nvPr/>
        </p:nvSpPr>
        <p:spPr>
          <a:xfrm>
            <a:off x="8763000" y="4343400"/>
            <a:ext cx="2000250" cy="1123950"/>
          </a:xfrm>
          <a:prstGeom prst="roundRect">
            <a:avLst>
              <a:gd name="adj" fmla="val 6780"/>
            </a:avLst>
          </a:prstGeom>
          <a:solidFill>
            <a:srgbClr val="D99A2B"/>
          </a:solidFill>
          <a:ln w="0">
            <a:solidFill>
              <a:srgbClr val="D99A2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A9779167-1FA1-426F-908F-7A1A17CEBD5D}"/>
              </a:ext>
            </a:extLst>
          </p:cNvPr>
          <p:cNvSpPr>
            <a:spLocks noGrp="1"/>
          </p:cNvSpPr>
          <p:nvPr/>
        </p:nvSpPr>
        <p:spPr>
          <a:xfrm>
            <a:off x="9029700" y="4524375"/>
            <a:ext cx="1657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499A/B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12DB14DC-416E-4770-9E11-80438C38BB6D}"/>
              </a:ext>
            </a:extLst>
          </p:cNvPr>
          <p:cNvSpPr>
            <a:spLocks noGrp="1"/>
          </p:cNvSpPr>
          <p:nvPr/>
        </p:nvSpPr>
        <p:spPr>
          <a:xfrm>
            <a:off x="9010650" y="5019675"/>
            <a:ext cx="1695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phased delivery plan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E1096903-F373-443E-B207-5D5969EC791B}"/>
              </a:ext>
            </a:extLst>
          </p:cNvPr>
          <p:cNvSpPr>
            <a:spLocks noGrp="1"/>
          </p:cNvSpPr>
          <p:nvPr/>
        </p:nvSpPr>
        <p:spPr>
          <a:xfrm>
            <a:off x="4476750" y="5638800"/>
            <a:ext cx="45910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endParaRPr sz="975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1203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667000" y="457200"/>
            <a:ext cx="861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	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</a:rPr>
              <a:t>Project Title: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</a:rPr>
              <a:t>TruthLens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</a:rPr>
              <a:t> AR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entury Gothic"/>
                <a:ea typeface="Aptos"/>
                <a:cs typeface="Aptos"/>
              </a:rPr>
              <a:t>Bangla Multimodal Fake News, Image &amp; </a:t>
            </a:r>
            <a:r>
              <a:rPr kumimoji="0" lang="en-US" sz="1600" b="0" i="1" u="none" strike="noStrike" kern="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entury Gothic"/>
                <a:ea typeface="Aptos"/>
                <a:cs typeface="Aptos"/>
              </a:rPr>
              <a:t>Deepfake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entury Gothic"/>
                <a:ea typeface="Aptos"/>
                <a:cs typeface="Aptos"/>
              </a:rPr>
              <a:t> Detection</a:t>
            </a:r>
            <a:endParaRPr kumimoji="0" lang="en-US" sz="1600" b="0" i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entury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81200" y="1676400"/>
            <a:ext cx="17123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Submitted By: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79884133"/>
              </p:ext>
            </p:extLst>
          </p:nvPr>
        </p:nvGraphicFramePr>
        <p:xfrm>
          <a:off x="2057400" y="2133601"/>
          <a:ext cx="8128000" cy="1981200"/>
        </p:xfrm>
        <a:graphic>
          <a:graphicData uri="http://schemas.openxmlformats.org/drawingml/2006/table">
            <a:tbl>
              <a:tblPr firstRow="1" bandRow="1"/>
              <a:tblGrid>
                <a:gridCol w="4064000"/>
                <a:gridCol w="4064000"/>
              </a:tblGrid>
              <a:tr h="518160">
                <a:tc>
                  <a:txBody>
                    <a:bodyPr/>
                    <a:lstStyle>
                      <a:lvl1pPr marL="0" algn="l">
                        <a:buNone/>
                        <a:defRPr sz="1800" b="1">
                          <a:solidFill>
                            <a:schemeClr val="lt1"/>
                          </a:solidFill>
                          <a:latin typeface="Century Gothic"/>
                        </a:defRPr>
                      </a:lvl1pPr>
                      <a:lvl2pPr marL="457200" algn="l">
                        <a:buNone/>
                        <a:defRPr sz="1800" b="1">
                          <a:solidFill>
                            <a:schemeClr val="lt1"/>
                          </a:solidFill>
                          <a:latin typeface="Century Gothic"/>
                        </a:defRPr>
                      </a:lvl2pPr>
                      <a:lvl3pPr marL="914400" algn="l">
                        <a:buNone/>
                        <a:defRPr sz="1800" b="1">
                          <a:solidFill>
                            <a:schemeClr val="lt1"/>
                          </a:solidFill>
                          <a:latin typeface="Century Gothic"/>
                        </a:defRPr>
                      </a:lvl3pPr>
                      <a:lvl4pPr marL="1371600" algn="l">
                        <a:buNone/>
                        <a:defRPr sz="1800" b="1">
                          <a:solidFill>
                            <a:schemeClr val="lt1"/>
                          </a:solidFill>
                          <a:latin typeface="Century Gothic"/>
                        </a:defRPr>
                      </a:lvl4pPr>
                      <a:lvl5pPr marL="1828800" algn="l">
                        <a:buNone/>
                        <a:defRPr sz="1800" b="1">
                          <a:solidFill>
                            <a:schemeClr val="lt1"/>
                          </a:solidFill>
                          <a:latin typeface="Century Gothic"/>
                        </a:defRPr>
                      </a:lvl5pPr>
                      <a:lvl6pPr marL="2286000" algn="l">
                        <a:buNone/>
                        <a:defRPr sz="1800" b="1">
                          <a:solidFill>
                            <a:schemeClr val="lt1"/>
                          </a:solidFill>
                          <a:latin typeface="Century Gothic"/>
                        </a:defRPr>
                      </a:lvl6pPr>
                      <a:lvl7pPr marL="2743200" algn="l">
                        <a:buNone/>
                        <a:defRPr sz="1800" b="1">
                          <a:solidFill>
                            <a:schemeClr val="lt1"/>
                          </a:solidFill>
                          <a:latin typeface="Century Gothic"/>
                        </a:defRPr>
                      </a:lvl7pPr>
                      <a:lvl8pPr marL="3200400" algn="l">
                        <a:buNone/>
                        <a:defRPr sz="1800" b="1">
                          <a:solidFill>
                            <a:schemeClr val="lt1"/>
                          </a:solidFill>
                          <a:latin typeface="Century Gothic"/>
                        </a:defRPr>
                      </a:lvl8pPr>
                      <a:lvl9pPr marL="3657600" algn="l">
                        <a:buNone/>
                        <a:defRPr sz="1800" b="1">
                          <a:solidFill>
                            <a:schemeClr val="lt1"/>
                          </a:solidFill>
                          <a:latin typeface="Century Gothic"/>
                        </a:defRPr>
                      </a:lvl9pPr>
                    </a:lstStyle>
                    <a:p>
                      <a:pPr algn="ctr"/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>
                      <a:lvl1pPr marL="0" algn="l">
                        <a:buNone/>
                        <a:defRPr sz="1800" b="1">
                          <a:solidFill>
                            <a:schemeClr val="lt1"/>
                          </a:solidFill>
                          <a:latin typeface="Century Gothic"/>
                        </a:defRPr>
                      </a:lvl1pPr>
                      <a:lvl2pPr marL="457200" algn="l">
                        <a:buNone/>
                        <a:defRPr sz="1800" b="1">
                          <a:solidFill>
                            <a:schemeClr val="lt1"/>
                          </a:solidFill>
                          <a:latin typeface="Century Gothic"/>
                        </a:defRPr>
                      </a:lvl2pPr>
                      <a:lvl3pPr marL="914400" algn="l">
                        <a:buNone/>
                        <a:defRPr sz="1800" b="1">
                          <a:solidFill>
                            <a:schemeClr val="lt1"/>
                          </a:solidFill>
                          <a:latin typeface="Century Gothic"/>
                        </a:defRPr>
                      </a:lvl3pPr>
                      <a:lvl4pPr marL="1371600" algn="l">
                        <a:buNone/>
                        <a:defRPr sz="1800" b="1">
                          <a:solidFill>
                            <a:schemeClr val="lt1"/>
                          </a:solidFill>
                          <a:latin typeface="Century Gothic"/>
                        </a:defRPr>
                      </a:lvl4pPr>
                      <a:lvl5pPr marL="1828800" algn="l">
                        <a:buNone/>
                        <a:defRPr sz="1800" b="1">
                          <a:solidFill>
                            <a:schemeClr val="lt1"/>
                          </a:solidFill>
                          <a:latin typeface="Century Gothic"/>
                        </a:defRPr>
                      </a:lvl5pPr>
                      <a:lvl6pPr marL="2286000" algn="l">
                        <a:buNone/>
                        <a:defRPr sz="1800" b="1">
                          <a:solidFill>
                            <a:schemeClr val="lt1"/>
                          </a:solidFill>
                          <a:latin typeface="Century Gothic"/>
                        </a:defRPr>
                      </a:lvl6pPr>
                      <a:lvl7pPr marL="2743200" algn="l">
                        <a:buNone/>
                        <a:defRPr sz="1800" b="1">
                          <a:solidFill>
                            <a:schemeClr val="lt1"/>
                          </a:solidFill>
                          <a:latin typeface="Century Gothic"/>
                        </a:defRPr>
                      </a:lvl7pPr>
                      <a:lvl8pPr marL="3200400" algn="l">
                        <a:buNone/>
                        <a:defRPr sz="1800" b="1">
                          <a:solidFill>
                            <a:schemeClr val="lt1"/>
                          </a:solidFill>
                          <a:latin typeface="Century Gothic"/>
                        </a:defRPr>
                      </a:lvl8pPr>
                      <a:lvl9pPr marL="3657600" algn="l">
                        <a:buNone/>
                        <a:defRPr sz="1800" b="1">
                          <a:solidFill>
                            <a:schemeClr val="lt1"/>
                          </a:solidFill>
                          <a:latin typeface="Century Gothic"/>
                        </a:defRPr>
                      </a:lvl9pPr>
                    </a:lstStyle>
                    <a:p>
                      <a:pPr algn="ctr"/>
                      <a:r>
                        <a:rPr lang="en-US" dirty="0" smtClean="0"/>
                        <a:t>ID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3010"/>
                    </a:solidFill>
                  </a:tcPr>
                </a:tc>
              </a:tr>
              <a:tr h="251734">
                <a:tc>
                  <a:txBody>
                    <a:bodyPr/>
                    <a:lstStyle>
                      <a:lvl1pPr marL="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72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44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16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88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60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32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2004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76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dirty="0" err="1" smtClean="0"/>
                        <a:t>Subroto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Ghosh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301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72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44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16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88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60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32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2004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76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2212150642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3010">
                        <a:tint val="40000"/>
                      </a:srgbClr>
                    </a:solidFill>
                  </a:tcPr>
                </a:tc>
              </a:tr>
              <a:tr h="251734">
                <a:tc>
                  <a:txBody>
                    <a:bodyPr/>
                    <a:lstStyle>
                      <a:lvl1pPr marL="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72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44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16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88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60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32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2004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76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Joy </a:t>
                      </a:r>
                      <a:r>
                        <a:rPr lang="en-US" dirty="0" err="1" smtClean="0"/>
                        <a:t>Saha</a:t>
                      </a:r>
                      <a:endParaRPr lang="en-US" dirty="0" smtClean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301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72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44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16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88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60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32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2004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76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2312466042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3010">
                        <a:tint val="20000"/>
                      </a:srgbClr>
                    </a:solidFill>
                  </a:tcPr>
                </a:tc>
              </a:tr>
              <a:tr h="251734">
                <a:tc>
                  <a:txBody>
                    <a:bodyPr/>
                    <a:lstStyle>
                      <a:lvl1pPr marL="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72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44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16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88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60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32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2004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76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dirty="0" smtClean="0"/>
                        <a:t>MD. Abu </a:t>
                      </a:r>
                      <a:r>
                        <a:rPr lang="en-US" dirty="0" err="1" smtClean="0"/>
                        <a:t>Sufian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Protik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301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72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44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16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88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60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32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2004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76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dirty="0" smtClean="0"/>
                        <a:t>2312234042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3010">
                        <a:tint val="40000"/>
                      </a:srgbClr>
                    </a:solidFill>
                  </a:tcPr>
                </a:tc>
              </a:tr>
              <a:tr h="251734">
                <a:tc>
                  <a:txBody>
                    <a:bodyPr/>
                    <a:lstStyle>
                      <a:lvl1pPr marL="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72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44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16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88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60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32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2004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76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dirty="0" smtClean="0"/>
                        <a:t>Anas Ahmed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301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72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44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16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88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60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32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2004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7600" algn="l">
                        <a:buNone/>
                        <a:defRPr sz="18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dirty="0" smtClean="0"/>
                        <a:t>2121264042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3010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057400" y="4099804"/>
            <a:ext cx="48061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Submitted to : Mohammad 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Shifat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-E-Rabbi(MSRB)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57400" y="4648200"/>
            <a:ext cx="42114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Course: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     CSE 499A-Senior Design Project I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      CSE 499B-Senior Design Project II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33600" y="5750594"/>
            <a:ext cx="28200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Department: ECE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Semester: Summer 2026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4294967295">
            <a:extLst>
              <a:ext uri="{FF2B5EF4-FFF2-40B4-BE49-F238E27FC236}">
                <a16:creationId xmlns="" xmlns:a16="http://schemas.microsoft.com/office/drawing/2014/main" id="{BCFB5435-2787-4D7F-8081-5F08ADA144A6}"/>
              </a:ext>
            </a:extLst>
          </p:cNvPr>
          <p:cNvSpPr>
            <a:spLocks noGrp="1"/>
          </p:cNvSpPr>
          <p:nvPr/>
        </p:nvSpPr>
        <p:spPr>
          <a:xfrm>
            <a:off x="666750" y="4762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PROBLEM MOTIVATION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06469A25-40DC-4B47-9549-E9F5AE107F19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7810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72B"/>
                </a:solidFill>
                <a:latin typeface="Aptos Display"/>
                <a:ea typeface="Aptos Display"/>
                <a:cs typeface="Aptos Display"/>
              </a:rPr>
              <a:t>Why TruthLens AR matters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F0BA3259-7F9F-4AED-A278-32CE7F857B39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857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Misinformation is no longer only text. People consume viral claims as screenshots, thumbnails, edited images, short videos and reposted content.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="" xmlns:a16="http://schemas.microsoft.com/office/drawing/2014/main" id="{EDFE4400-5095-4DE2-B886-BB862B7617BB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31432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12651267-215F-4C3E-ACAB-CA6F3A874631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66675" cy="20955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2EF1FAA8-A2BA-4FBD-A88E-B7012F7019A6}"/>
              </a:ext>
            </a:extLst>
          </p:cNvPr>
          <p:cNvSpPr>
            <a:spLocks noGrp="1"/>
          </p:cNvSpPr>
          <p:nvPr/>
        </p:nvSpPr>
        <p:spPr>
          <a:xfrm>
            <a:off x="895350" y="2571750"/>
            <a:ext cx="2705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Content is multimodal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E12EF0E-F3D3-48B7-9765-1F1AFC90B7E1}"/>
              </a:ext>
            </a:extLst>
          </p:cNvPr>
          <p:cNvSpPr>
            <a:spLocks noGrp="1"/>
          </p:cNvSpPr>
          <p:nvPr/>
        </p:nvSpPr>
        <p:spPr>
          <a:xfrm>
            <a:off x="895350" y="2933700"/>
            <a:ext cx="27051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 claim may be in Bangla text, inside an image, attached to an old photo, or delivered as a video clip.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="" xmlns:a16="http://schemas.microsoft.com/office/drawing/2014/main" id="{38CB0CFD-5F29-41A0-AFE4-F2358D39836A}"/>
              </a:ext>
            </a:extLst>
          </p:cNvPr>
          <p:cNvSpPr>
            <a:spLocks noGrp="1"/>
          </p:cNvSpPr>
          <p:nvPr/>
        </p:nvSpPr>
        <p:spPr>
          <a:xfrm>
            <a:off x="4524375" y="2381250"/>
            <a:ext cx="31432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5E62B0E8-E51B-422C-8855-67CFF9B58528}"/>
              </a:ext>
            </a:extLst>
          </p:cNvPr>
          <p:cNvSpPr>
            <a:spLocks noGrp="1"/>
          </p:cNvSpPr>
          <p:nvPr/>
        </p:nvSpPr>
        <p:spPr>
          <a:xfrm>
            <a:off x="4524375" y="2381250"/>
            <a:ext cx="66675" cy="2095500"/>
          </a:xfrm>
          <a:prstGeom prst="rect">
            <a:avLst/>
          </a:prstGeom>
          <a:solidFill>
            <a:srgbClr val="E85D4F"/>
          </a:solidFill>
          <a:ln w="0">
            <a:solidFill>
              <a:srgbClr val="E85D4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E4CA2AC7-A5A5-4900-AEFD-826872635113}"/>
              </a:ext>
            </a:extLst>
          </p:cNvPr>
          <p:cNvSpPr>
            <a:spLocks noGrp="1"/>
          </p:cNvSpPr>
          <p:nvPr/>
        </p:nvSpPr>
        <p:spPr>
          <a:xfrm>
            <a:off x="4752975" y="2571750"/>
            <a:ext cx="2705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Users need explanations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00414FB6-9457-46DA-913B-64137518897C}"/>
              </a:ext>
            </a:extLst>
          </p:cNvPr>
          <p:cNvSpPr>
            <a:spLocks noGrp="1"/>
          </p:cNvSpPr>
          <p:nvPr/>
        </p:nvSpPr>
        <p:spPr>
          <a:xfrm>
            <a:off x="4752975" y="2933700"/>
            <a:ext cx="27051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Binary fake/real output is weak for trust. The system should show evidence, suspicious regions, and reasoning.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="" xmlns:a16="http://schemas.microsoft.com/office/drawing/2014/main" id="{E0D49780-7C70-4F4F-8835-7196C2E896FA}"/>
              </a:ext>
            </a:extLst>
          </p:cNvPr>
          <p:cNvSpPr>
            <a:spLocks noGrp="1"/>
          </p:cNvSpPr>
          <p:nvPr/>
        </p:nvSpPr>
        <p:spPr>
          <a:xfrm>
            <a:off x="8382000" y="2381250"/>
            <a:ext cx="31432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A4EF4037-D744-4200-A192-4C584FC5CD0E}"/>
              </a:ext>
            </a:extLst>
          </p:cNvPr>
          <p:cNvSpPr>
            <a:spLocks noGrp="1"/>
          </p:cNvSpPr>
          <p:nvPr/>
        </p:nvSpPr>
        <p:spPr>
          <a:xfrm>
            <a:off x="8382000" y="2381250"/>
            <a:ext cx="66675" cy="2095500"/>
          </a:xfrm>
          <a:prstGeom prst="rect">
            <a:avLst/>
          </a:prstGeom>
          <a:solidFill>
            <a:srgbClr val="D99A2B"/>
          </a:solidFill>
          <a:ln w="0">
            <a:solidFill>
              <a:srgbClr val="D99A2B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AE5B71ED-26A7-4CAD-9C87-0E3AFBE5BD8C}"/>
              </a:ext>
            </a:extLst>
          </p:cNvPr>
          <p:cNvSpPr>
            <a:spLocks noGrp="1"/>
          </p:cNvSpPr>
          <p:nvPr/>
        </p:nvSpPr>
        <p:spPr>
          <a:xfrm>
            <a:off x="8610600" y="2571750"/>
            <a:ext cx="2705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Bangla is under-served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A872AC2-AED2-4B4F-BFE6-CE98A0F7722F}"/>
              </a:ext>
            </a:extLst>
          </p:cNvPr>
          <p:cNvSpPr>
            <a:spLocks noGrp="1"/>
          </p:cNvSpPr>
          <p:nvPr/>
        </p:nvSpPr>
        <p:spPr>
          <a:xfrm>
            <a:off x="8610600" y="2933700"/>
            <a:ext cx="27051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Most benchmark systems focus on English datasets. Bangladesh-specific screenshots and rumors are not well covered.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="" xmlns:a16="http://schemas.microsoft.com/office/drawing/2014/main" id="{53214DC0-7EBB-448C-8886-3633908733E5}"/>
              </a:ext>
            </a:extLst>
          </p:cNvPr>
          <p:cNvSpPr>
            <a:spLocks noGrp="1"/>
          </p:cNvSpPr>
          <p:nvPr/>
        </p:nvSpPr>
        <p:spPr>
          <a:xfrm>
            <a:off x="2095500" y="5219700"/>
            <a:ext cx="8001000" cy="9525"/>
          </a:xfrm>
          <a:prstGeom prst="line">
            <a:avLst/>
          </a:prstGeom>
          <a:noFill/>
          <a:ln w="19050">
            <a:solidFill>
              <a:srgbClr val="D6E2DF"/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BCF89E87-B9EA-4482-97AE-11F037C18659}"/>
              </a:ext>
            </a:extLst>
          </p:cNvPr>
          <p:cNvSpPr>
            <a:spLocks noGrp="1"/>
          </p:cNvSpPr>
          <p:nvPr/>
        </p:nvSpPr>
        <p:spPr>
          <a:xfrm>
            <a:off x="2095500" y="5476875"/>
            <a:ext cx="514350" cy="5143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3CDCED4E-E0E7-484C-91B3-468672BD3E56}"/>
              </a:ext>
            </a:extLst>
          </p:cNvPr>
          <p:cNvSpPr>
            <a:spLocks noGrp="1"/>
          </p:cNvSpPr>
          <p:nvPr/>
        </p:nvSpPr>
        <p:spPr>
          <a:xfrm>
            <a:off x="2219325" y="56007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847FCE90-9912-45EC-BA8E-86974F834E95}"/>
              </a:ext>
            </a:extLst>
          </p:cNvPr>
          <p:cNvSpPr>
            <a:spLocks noGrp="1"/>
          </p:cNvSpPr>
          <p:nvPr/>
        </p:nvSpPr>
        <p:spPr>
          <a:xfrm>
            <a:off x="2724150" y="5514975"/>
            <a:ext cx="2333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Scan news, screenshot, poster, thumbnail or video</a:t>
            </a:r>
          </a:p>
        </p:txBody>
      </p: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FE627C6C-413C-43BE-AF64-9F7F0B117CE8}"/>
              </a:ext>
            </a:extLst>
          </p:cNvPr>
          <p:cNvSpPr>
            <a:spLocks noGrp="1"/>
          </p:cNvSpPr>
          <p:nvPr/>
        </p:nvSpPr>
        <p:spPr>
          <a:xfrm>
            <a:off x="5143500" y="5476875"/>
            <a:ext cx="514350" cy="514350"/>
          </a:xfrm>
          <a:prstGeom prst="ellipse">
            <a:avLst/>
          </a:prstGeom>
          <a:solidFill>
            <a:srgbClr val="E85D4F"/>
          </a:solidFill>
          <a:ln w="0">
            <a:solidFill>
              <a:srgbClr val="E85D4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6050FEF1-88B0-4DCC-BBCB-3346C29B4F99}"/>
              </a:ext>
            </a:extLst>
          </p:cNvPr>
          <p:cNvSpPr>
            <a:spLocks noGrp="1"/>
          </p:cNvSpPr>
          <p:nvPr/>
        </p:nvSpPr>
        <p:spPr>
          <a:xfrm>
            <a:off x="5267325" y="56007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959962A1-28AD-4D5A-972D-C46EB3B61480}"/>
              </a:ext>
            </a:extLst>
          </p:cNvPr>
          <p:cNvSpPr>
            <a:spLocks noGrp="1"/>
          </p:cNvSpPr>
          <p:nvPr/>
        </p:nvSpPr>
        <p:spPr>
          <a:xfrm>
            <a:off x="5772150" y="5514975"/>
            <a:ext cx="2333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Analyze text-image-video consistency and evidence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BB371EDC-54D1-4D37-8768-4EF970893439}"/>
              </a:ext>
            </a:extLst>
          </p:cNvPr>
          <p:cNvSpPr>
            <a:spLocks noGrp="1"/>
          </p:cNvSpPr>
          <p:nvPr/>
        </p:nvSpPr>
        <p:spPr>
          <a:xfrm>
            <a:off x="8286750" y="5476875"/>
            <a:ext cx="514350" cy="514350"/>
          </a:xfrm>
          <a:prstGeom prst="ellipse">
            <a:avLst/>
          </a:prstGeom>
          <a:solidFill>
            <a:srgbClr val="D99A2B"/>
          </a:solidFill>
          <a:ln w="0">
            <a:solidFill>
              <a:srgbClr val="D99A2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A82D4129-610C-4B81-9A79-10DE6629523C}"/>
              </a:ext>
            </a:extLst>
          </p:cNvPr>
          <p:cNvSpPr>
            <a:spLocks noGrp="1"/>
          </p:cNvSpPr>
          <p:nvPr/>
        </p:nvSpPr>
        <p:spPr>
          <a:xfrm>
            <a:off x="8410575" y="56007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AC9C8969-553B-4FA5-AD1D-289DBA06A1A8}"/>
              </a:ext>
            </a:extLst>
          </p:cNvPr>
          <p:cNvSpPr>
            <a:spLocks noGrp="1"/>
          </p:cNvSpPr>
          <p:nvPr/>
        </p:nvSpPr>
        <p:spPr>
          <a:xfrm>
            <a:off x="8915400" y="5514975"/>
            <a:ext cx="2333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Show credibility score and explanation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="" xmlns:a16="http://schemas.microsoft.com/office/drawing/2014/main" id="{80256E22-65D0-47D9-8EC5-488BABB21A9D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10858500" cy="9525"/>
          </a:xfrm>
          <a:prstGeom prst="line">
            <a:avLst/>
          </a:prstGeom>
          <a:noFill/>
          <a:ln w="9525">
            <a:solidFill>
              <a:srgbClr val="D6E2D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36BD7A63-9E34-4A99-B894-BFCF0B17340B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endParaRPr sz="750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A3F51BD9-0FF9-40ED-9FB3-F11A0F985B21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="" xmlns:p14="http://schemas.microsoft.com/office/powerpoint/2010/main" val="923393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294967295">
            <a:extLst>
              <a:ext uri="{FF2B5EF4-FFF2-40B4-BE49-F238E27FC236}">
                <a16:creationId xmlns="" xmlns:a16="http://schemas.microsoft.com/office/drawing/2014/main" id="{4D053F98-AD74-4E67-8988-67A975284B83}"/>
              </a:ext>
            </a:extLst>
          </p:cNvPr>
          <p:cNvSpPr>
            <a:spLocks noGrp="1"/>
          </p:cNvSpPr>
          <p:nvPr/>
        </p:nvSpPr>
        <p:spPr>
          <a:xfrm>
            <a:off x="666750" y="4762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RESEARCH LANDSCAPE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0E77109B-D09F-46B4-89BF-B50C8B119636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7810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72B"/>
                </a:solidFill>
                <a:latin typeface="Aptos Display"/>
                <a:ea typeface="Aptos Display"/>
                <a:cs typeface="Aptos Display"/>
              </a:rPr>
              <a:t>What already exists, and where the gap 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16F526AD-9DF5-45D2-9DB1-97D5AC37C466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857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Existing research is strong, but most work is separated by modality, language, or lab dataset setting.</a:t>
            </a:r>
          </a:p>
        </p:txBody>
      </p:sp>
      <p:graphicFrame>
        <p:nvGraphicFramePr>
          <p:cNvPr id="13" name="Table 12"/>
          <p:cNvGraphicFramePr/>
          <p:nvPr/>
        </p:nvGraphicFramePr>
        <p:xfrm>
          <a:off x="666750" y="2095500"/>
          <a:ext cx="10858500" cy="3333750"/>
        </p:xfrm>
        <a:graphic>
          <a:graphicData uri="http://schemas.openxmlformats.org/drawingml/2006/table">
            <a:tbl>
              <a:tblPr firstRow="1" bandRow="1"/>
              <a:tblGrid>
                <a:gridCol w="3619500"/>
                <a:gridCol w="3619500"/>
                <a:gridCol w="3619500"/>
              </a:tblGrid>
              <a:tr h="5556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Area</a:t>
                      </a:r>
                    </a:p>
                  </a:txBody>
                  <a:tcPr>
                    <a:solidFill>
                      <a:srgbClr val="064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Already done</a:t>
                      </a:r>
                    </a:p>
                  </a:txBody>
                  <a:tcPr>
                    <a:solidFill>
                      <a:srgbClr val="064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Remaining gap for this project</a:t>
                      </a:r>
                    </a:p>
                  </a:txBody>
                  <a:tcPr>
                    <a:solidFill>
                      <a:srgbClr val="064E4A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Text fake 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BERT/RoBERTa style classifiers on LIAR, FakeNewsNet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Bangla + screenshot OCR + source evidence</a:t>
                      </a:r>
                    </a:p>
                  </a:txBody>
                  <a:tcPr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Multimodal 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Text + image datasets such as Fakeddit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Unified Bangla text-image-video workflow</a:t>
                      </a:r>
                    </a:p>
                  </a:txBody>
                  <a:tcPr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Deepfake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FaceForensics++ and DFDC style benchmarks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Social-media-compressed real videos</a:t>
                      </a:r>
                    </a:p>
                  </a:txBody>
                  <a:tcPr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Explainability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Recent VLM reasoning work such as M-DRUM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User-friendly report and AR explanation</a:t>
                      </a:r>
                    </a:p>
                  </a:txBody>
                  <a:tcPr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AR/wearable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Early wearable fact-checking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Camera-based Bangla content scanner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E1B3D32D-9D73-4532-BDC6-AF01EC8EFC7F}"/>
              </a:ext>
            </a:extLst>
          </p:cNvPr>
          <p:cNvSpPr>
            <a:spLocks noGrp="1"/>
          </p:cNvSpPr>
          <p:nvPr/>
        </p:nvSpPr>
        <p:spPr>
          <a:xfrm>
            <a:off x="1238250" y="5772150"/>
            <a:ext cx="962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64E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64E4A"/>
                </a:solidFill>
                <a:latin typeface="Aptos"/>
                <a:ea typeface="Aptos"/>
                <a:cs typeface="Aptos"/>
              </a:rPr>
              <a:t>Research gap: a Bangla-focused, explainable, AR-assisted multimodal verification system.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="" xmlns:a16="http://schemas.microsoft.com/office/drawing/2014/main" id="{39FF2F8F-BBB2-45C2-8428-EAB7CD83FE2C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10858500" cy="9525"/>
          </a:xfrm>
          <a:prstGeom prst="line">
            <a:avLst/>
          </a:prstGeom>
          <a:noFill/>
          <a:ln w="9525">
            <a:solidFill>
              <a:srgbClr val="D6E2D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49303E45-622F-4036-BEDF-AA4AE940F28C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endParaRPr sz="750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32724D56-DA84-4144-9030-1B306F3F77C3}"/>
              </a:ext>
            </a:extLst>
          </p:cNvPr>
          <p:cNvSpPr>
            <a:spLocks noGrp="1"/>
          </p:cNvSpPr>
          <p:nvPr/>
        </p:nvSpPr>
        <p:spPr>
          <a:xfrm>
            <a:off x="4381500" y="6515100"/>
            <a:ext cx="542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Sources: FakeNewsNet, Fakeddit, FaceForensics++, M-DRUM, Factually papers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FB1BA0D9-DD37-4968-B355-E20484C13843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="" xmlns:p14="http://schemas.microsoft.com/office/powerpoint/2010/main" val="900111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4294967295">
            <a:extLst>
              <a:ext uri="{FF2B5EF4-FFF2-40B4-BE49-F238E27FC236}">
                <a16:creationId xmlns="" xmlns:a16="http://schemas.microsoft.com/office/drawing/2014/main" id="{D9028FB9-0863-41E9-88EE-A0BA0B3F479D}"/>
              </a:ext>
            </a:extLst>
          </p:cNvPr>
          <p:cNvSpPr>
            <a:spLocks noGrp="1"/>
          </p:cNvSpPr>
          <p:nvPr/>
        </p:nvSpPr>
        <p:spPr>
          <a:xfrm>
            <a:off x="666750" y="4762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PROPOSED 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983E772-AB22-4F57-8829-2A0068207290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7810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72B"/>
                </a:solidFill>
                <a:latin typeface="Aptos Display"/>
                <a:ea typeface="Aptos Display"/>
                <a:cs typeface="Aptos Display"/>
              </a:rPr>
              <a:t>TruthLens AR: scan, analyze, explain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77ED5F89-431D-43B7-A44E-7E95C11D415D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857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 complete capstone system, not only a standalone classifier.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="" xmlns:a16="http://schemas.microsoft.com/office/drawing/2014/main" id="{469899EF-6FE0-49DA-B244-19574A35CC8D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2238375" cy="1619250"/>
          </a:xfrm>
          <a:prstGeom prst="roundRect">
            <a:avLst>
              <a:gd name="adj" fmla="val 4706"/>
            </a:avLst>
          </a:prstGeom>
          <a:solidFill>
            <a:srgbClr val="FAF7E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561E9078-C9C4-49E1-A098-646249E35DA1}"/>
              </a:ext>
            </a:extLst>
          </p:cNvPr>
          <p:cNvSpPr>
            <a:spLocks noGrp="1"/>
          </p:cNvSpPr>
          <p:nvPr/>
        </p:nvSpPr>
        <p:spPr>
          <a:xfrm>
            <a:off x="971550" y="2990850"/>
            <a:ext cx="400050" cy="4000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61516989-39EE-4E4D-BAE6-DFAE573537E8}"/>
              </a:ext>
            </a:extLst>
          </p:cNvPr>
          <p:cNvSpPr>
            <a:spLocks noGrp="1"/>
          </p:cNvSpPr>
          <p:nvPr/>
        </p:nvSpPr>
        <p:spPr>
          <a:xfrm>
            <a:off x="1085850" y="3076575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827927FA-6067-4343-A3AD-02E561149729}"/>
              </a:ext>
            </a:extLst>
          </p:cNvPr>
          <p:cNvSpPr>
            <a:spLocks noGrp="1"/>
          </p:cNvSpPr>
          <p:nvPr/>
        </p:nvSpPr>
        <p:spPr>
          <a:xfrm>
            <a:off x="1504950" y="30099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197DB33-A662-408D-8450-2BD8D9C8D8ED}"/>
              </a:ext>
            </a:extLst>
          </p:cNvPr>
          <p:cNvSpPr>
            <a:spLocks noGrp="1"/>
          </p:cNvSpPr>
          <p:nvPr/>
        </p:nvSpPr>
        <p:spPr>
          <a:xfrm>
            <a:off x="990600" y="3543300"/>
            <a:ext cx="1762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Article, screenshot, poster, image or video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="" xmlns:a16="http://schemas.microsoft.com/office/drawing/2014/main" id="{EEA04661-4C3D-4D71-955E-1FC25516A5DA}"/>
              </a:ext>
            </a:extLst>
          </p:cNvPr>
          <p:cNvSpPr>
            <a:spLocks noGrp="1"/>
          </p:cNvSpPr>
          <p:nvPr/>
        </p:nvSpPr>
        <p:spPr>
          <a:xfrm>
            <a:off x="3105150" y="3448050"/>
            <a:ext cx="533400" cy="247650"/>
          </a:xfrm>
          <a:prstGeom prst="rightArrow">
            <a:avLst/>
          </a:prstGeom>
          <a:solidFill>
            <a:srgbClr val="D99A2B"/>
          </a:solidFill>
          <a:ln w="0">
            <a:solidFill>
              <a:srgbClr val="D99A2B"/>
            </a:solidFill>
            <a:prstDash val="solid"/>
          </a:ln>
        </p:spPr>
      </p:sp>
      <p:sp>
        <p:nvSpPr>
          <p:cNvPr id="10" name="Rounded Rectangle 9">
            <a:extLst>
              <a:ext uri="{FF2B5EF4-FFF2-40B4-BE49-F238E27FC236}">
                <a16:creationId xmlns="" xmlns:a16="http://schemas.microsoft.com/office/drawing/2014/main" id="{089FAB37-210C-414D-B31D-B4B70EADC5ED}"/>
              </a:ext>
            </a:extLst>
          </p:cNvPr>
          <p:cNvSpPr>
            <a:spLocks noGrp="1"/>
          </p:cNvSpPr>
          <p:nvPr/>
        </p:nvSpPr>
        <p:spPr>
          <a:xfrm>
            <a:off x="3524250" y="2781300"/>
            <a:ext cx="2238375" cy="1619250"/>
          </a:xfrm>
          <a:prstGeom prst="roundRect">
            <a:avLst>
              <a:gd name="adj" fmla="val 4706"/>
            </a:avLst>
          </a:prstGeom>
          <a:solidFill>
            <a:srgbClr val="FAF7E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F45BF1C1-85C9-467F-B759-B1CE69520D3C}"/>
              </a:ext>
            </a:extLst>
          </p:cNvPr>
          <p:cNvSpPr>
            <a:spLocks noGrp="1"/>
          </p:cNvSpPr>
          <p:nvPr/>
        </p:nvSpPr>
        <p:spPr>
          <a:xfrm>
            <a:off x="3733800" y="2990850"/>
            <a:ext cx="400050" cy="400050"/>
          </a:xfrm>
          <a:prstGeom prst="ellipse">
            <a:avLst/>
          </a:prstGeom>
          <a:solidFill>
            <a:srgbClr val="E85D4F"/>
          </a:solidFill>
          <a:ln w="0">
            <a:solidFill>
              <a:srgbClr val="E85D4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F0E46639-41C4-4873-880D-29346C5ABEB7}"/>
              </a:ext>
            </a:extLst>
          </p:cNvPr>
          <p:cNvSpPr>
            <a:spLocks noGrp="1"/>
          </p:cNvSpPr>
          <p:nvPr/>
        </p:nvSpPr>
        <p:spPr>
          <a:xfrm>
            <a:off x="3848100" y="3076575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FD1602E7-6B7C-48AE-81C2-CBA7468A7BAE}"/>
              </a:ext>
            </a:extLst>
          </p:cNvPr>
          <p:cNvSpPr>
            <a:spLocks noGrp="1"/>
          </p:cNvSpPr>
          <p:nvPr/>
        </p:nvSpPr>
        <p:spPr>
          <a:xfrm>
            <a:off x="4267200" y="30099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AI analysis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C2958AF0-DAC9-499F-90DE-7E182C2367C3}"/>
              </a:ext>
            </a:extLst>
          </p:cNvPr>
          <p:cNvSpPr>
            <a:spLocks noGrp="1"/>
          </p:cNvSpPr>
          <p:nvPr/>
        </p:nvSpPr>
        <p:spPr>
          <a:xfrm>
            <a:off x="3752850" y="3543300"/>
            <a:ext cx="1762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OCR, pattern recognition, VLM and evidence retrieval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="" xmlns:a16="http://schemas.microsoft.com/office/drawing/2014/main" id="{A479CCE3-8F5A-4A5D-9BA0-C13C7516EDCC}"/>
              </a:ext>
            </a:extLst>
          </p:cNvPr>
          <p:cNvSpPr>
            <a:spLocks noGrp="1"/>
          </p:cNvSpPr>
          <p:nvPr/>
        </p:nvSpPr>
        <p:spPr>
          <a:xfrm>
            <a:off x="5867400" y="3448050"/>
            <a:ext cx="533400" cy="247650"/>
          </a:xfrm>
          <a:prstGeom prst="rightArrow">
            <a:avLst/>
          </a:prstGeom>
          <a:solidFill>
            <a:srgbClr val="D99A2B"/>
          </a:solidFill>
          <a:ln w="0">
            <a:solidFill>
              <a:srgbClr val="D99A2B"/>
            </a:solidFill>
            <a:prstDash val="solid"/>
          </a:ln>
        </p:spPr>
      </p:sp>
      <p:sp>
        <p:nvSpPr>
          <p:cNvPr id="16" name="Rounded Rectangle 15">
            <a:extLst>
              <a:ext uri="{FF2B5EF4-FFF2-40B4-BE49-F238E27FC236}">
                <a16:creationId xmlns="" xmlns:a16="http://schemas.microsoft.com/office/drawing/2014/main" id="{2856B005-5DB9-40CE-B090-7BDAE7860B25}"/>
              </a:ext>
            </a:extLst>
          </p:cNvPr>
          <p:cNvSpPr>
            <a:spLocks noGrp="1"/>
          </p:cNvSpPr>
          <p:nvPr/>
        </p:nvSpPr>
        <p:spPr>
          <a:xfrm>
            <a:off x="6286500" y="2781300"/>
            <a:ext cx="2238375" cy="1619250"/>
          </a:xfrm>
          <a:prstGeom prst="roundRect">
            <a:avLst>
              <a:gd name="adj" fmla="val 4706"/>
            </a:avLst>
          </a:prstGeom>
          <a:solidFill>
            <a:srgbClr val="FAF7E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C244E474-E4F2-4A1A-A623-4F0A8B226BE7}"/>
              </a:ext>
            </a:extLst>
          </p:cNvPr>
          <p:cNvSpPr>
            <a:spLocks noGrp="1"/>
          </p:cNvSpPr>
          <p:nvPr/>
        </p:nvSpPr>
        <p:spPr>
          <a:xfrm>
            <a:off x="6496050" y="2990850"/>
            <a:ext cx="400050" cy="400050"/>
          </a:xfrm>
          <a:prstGeom prst="ellipse">
            <a:avLst/>
          </a:prstGeom>
          <a:solidFill>
            <a:srgbClr val="D99A2B"/>
          </a:solidFill>
          <a:ln w="0">
            <a:solidFill>
              <a:srgbClr val="D99A2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D7DCD1BA-76C8-445C-8E7C-338BD1BA2A40}"/>
              </a:ext>
            </a:extLst>
          </p:cNvPr>
          <p:cNvSpPr>
            <a:spLocks noGrp="1"/>
          </p:cNvSpPr>
          <p:nvPr/>
        </p:nvSpPr>
        <p:spPr>
          <a:xfrm>
            <a:off x="6610350" y="3076575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F9453EAF-9C1A-446D-8D57-FF47140BD5BF}"/>
              </a:ext>
            </a:extLst>
          </p:cNvPr>
          <p:cNvSpPr>
            <a:spLocks noGrp="1"/>
          </p:cNvSpPr>
          <p:nvPr/>
        </p:nvSpPr>
        <p:spPr>
          <a:xfrm>
            <a:off x="7029450" y="30099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Credibility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080F2962-A9E4-4122-88A2-FE10F2A62BBB}"/>
              </a:ext>
            </a:extLst>
          </p:cNvPr>
          <p:cNvSpPr>
            <a:spLocks noGrp="1"/>
          </p:cNvSpPr>
          <p:nvPr/>
        </p:nvSpPr>
        <p:spPr>
          <a:xfrm>
            <a:off x="6515100" y="3543300"/>
            <a:ext cx="1762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0-100 score with risk category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="" xmlns:a16="http://schemas.microsoft.com/office/drawing/2014/main" id="{7E2768B4-1919-4D9F-8548-A97B787904D5}"/>
              </a:ext>
            </a:extLst>
          </p:cNvPr>
          <p:cNvSpPr>
            <a:spLocks noGrp="1"/>
          </p:cNvSpPr>
          <p:nvPr/>
        </p:nvSpPr>
        <p:spPr>
          <a:xfrm>
            <a:off x="8629650" y="3448050"/>
            <a:ext cx="533400" cy="247650"/>
          </a:xfrm>
          <a:prstGeom prst="rightArrow">
            <a:avLst/>
          </a:prstGeom>
          <a:solidFill>
            <a:srgbClr val="D99A2B"/>
          </a:solidFill>
          <a:ln w="0">
            <a:solidFill>
              <a:srgbClr val="D99A2B"/>
            </a:solidFill>
            <a:prstDash val="solid"/>
          </a:ln>
        </p:spPr>
      </p:sp>
      <p:sp>
        <p:nvSpPr>
          <p:cNvPr id="22" name="Rounded Rectangle 21">
            <a:extLst>
              <a:ext uri="{FF2B5EF4-FFF2-40B4-BE49-F238E27FC236}">
                <a16:creationId xmlns="" xmlns:a16="http://schemas.microsoft.com/office/drawing/2014/main" id="{8B005355-CB84-4315-BD3D-E431D00BE570}"/>
              </a:ext>
            </a:extLst>
          </p:cNvPr>
          <p:cNvSpPr>
            <a:spLocks noGrp="1"/>
          </p:cNvSpPr>
          <p:nvPr/>
        </p:nvSpPr>
        <p:spPr>
          <a:xfrm>
            <a:off x="9048750" y="2781300"/>
            <a:ext cx="2238375" cy="1619250"/>
          </a:xfrm>
          <a:prstGeom prst="roundRect">
            <a:avLst>
              <a:gd name="adj" fmla="val 4706"/>
            </a:avLst>
          </a:prstGeom>
          <a:solidFill>
            <a:srgbClr val="FAF7E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A25FAF35-4E92-4916-8E30-E73A90F94AD2}"/>
              </a:ext>
            </a:extLst>
          </p:cNvPr>
          <p:cNvSpPr>
            <a:spLocks noGrp="1"/>
          </p:cNvSpPr>
          <p:nvPr/>
        </p:nvSpPr>
        <p:spPr>
          <a:xfrm>
            <a:off x="9258300" y="2990850"/>
            <a:ext cx="400050" cy="400050"/>
          </a:xfrm>
          <a:prstGeom prst="ellipse">
            <a:avLst/>
          </a:prstGeom>
          <a:solidFill>
            <a:srgbClr val="1B8A5A"/>
          </a:solidFill>
          <a:ln w="0">
            <a:solidFill>
              <a:srgbClr val="1B8A5A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29F30AB4-F49C-4828-ACCC-915A6B061CA4}"/>
              </a:ext>
            </a:extLst>
          </p:cNvPr>
          <p:cNvSpPr>
            <a:spLocks noGrp="1"/>
          </p:cNvSpPr>
          <p:nvPr/>
        </p:nvSpPr>
        <p:spPr>
          <a:xfrm>
            <a:off x="9372600" y="3076575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4033D9EC-E7C4-4154-985D-2A8F050F59D9}"/>
              </a:ext>
            </a:extLst>
          </p:cNvPr>
          <p:cNvSpPr>
            <a:spLocks noGrp="1"/>
          </p:cNvSpPr>
          <p:nvPr/>
        </p:nvSpPr>
        <p:spPr>
          <a:xfrm>
            <a:off x="9791700" y="30099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42F34976-6510-4FB0-9B77-F6BFD45B6855}"/>
              </a:ext>
            </a:extLst>
          </p:cNvPr>
          <p:cNvSpPr>
            <a:spLocks noGrp="1"/>
          </p:cNvSpPr>
          <p:nvPr/>
        </p:nvSpPr>
        <p:spPr>
          <a:xfrm>
            <a:off x="9277350" y="3543300"/>
            <a:ext cx="1762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Report, dashboard and AR overlay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6CFB82A5-1A5A-4BA7-851C-913B055FEAEA}"/>
              </a:ext>
            </a:extLst>
          </p:cNvPr>
          <p:cNvSpPr>
            <a:spLocks noGrp="1"/>
          </p:cNvSpPr>
          <p:nvPr/>
        </p:nvSpPr>
        <p:spPr>
          <a:xfrm>
            <a:off x="1381125" y="5143500"/>
            <a:ext cx="942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0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72B"/>
                </a:solidFill>
                <a:latin typeface="Aptos"/>
                <a:ea typeface="Aptos"/>
                <a:cs typeface="Aptos"/>
              </a:rPr>
              <a:t>Key idea: pattern recognition detects visible traces; VLM explains cross-modal inconsistency; AR makes the result understandable at the moment of viewing.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="" xmlns:a16="http://schemas.microsoft.com/office/drawing/2014/main" id="{74A32941-9F99-42F8-8758-4D6E19131A14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10858500" cy="9525"/>
          </a:xfrm>
          <a:prstGeom prst="line">
            <a:avLst/>
          </a:prstGeom>
          <a:noFill/>
          <a:ln w="9525">
            <a:solidFill>
              <a:srgbClr val="D6E2DF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580E7F52-B56F-4D89-B107-1D9CD24EEA37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endParaRPr sz="750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="" xmlns:a16="http://schemas.microsoft.com/office/drawing/2014/main" id="{F7A3FE04-4763-4683-962D-DA559CC828EC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="" xmlns:p14="http://schemas.microsoft.com/office/powerpoint/2010/main" val="712620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4294967295">
            <a:extLst>
              <a:ext uri="{FF2B5EF4-FFF2-40B4-BE49-F238E27FC236}">
                <a16:creationId xmlns="" xmlns:a16="http://schemas.microsoft.com/office/drawing/2014/main" id="{60EC13AF-1C1D-4921-9EBE-A296B9898FC2}"/>
              </a:ext>
            </a:extLst>
          </p:cNvPr>
          <p:cNvSpPr>
            <a:spLocks noGrp="1"/>
          </p:cNvSpPr>
          <p:nvPr/>
        </p:nvSpPr>
        <p:spPr>
          <a:xfrm>
            <a:off x="666750" y="4762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FEATURE SET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D6A018F9-ADEE-4A00-BBD0-3FBF85B2A82C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7810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72B"/>
                </a:solidFill>
                <a:latin typeface="Aptos Display"/>
                <a:ea typeface="Aptos Display"/>
                <a:cs typeface="Aptos Display"/>
              </a:rPr>
              <a:t>What the final system can include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4820A640-5FA3-4B75-B4F7-722B3F68AEC8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857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features are grouped into core capstone scope and optional advanced scope, so the project stays realistic.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="" xmlns:a16="http://schemas.microsoft.com/office/drawing/2014/main" id="{BC6F654E-4C71-47D7-9A49-6334F311296F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3238500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9EE26961-177D-4F72-B72E-3B013621FAC8}"/>
              </a:ext>
            </a:extLst>
          </p:cNvPr>
          <p:cNvSpPr>
            <a:spLocks noGrp="1"/>
          </p:cNvSpPr>
          <p:nvPr/>
        </p:nvSpPr>
        <p:spPr>
          <a:xfrm>
            <a:off x="876300" y="2419350"/>
            <a:ext cx="323850" cy="3238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D9CE2A77-80F4-430B-A0DC-3A83C2C83BA2}"/>
              </a:ext>
            </a:extLst>
          </p:cNvPr>
          <p:cNvSpPr>
            <a:spLocks noGrp="1"/>
          </p:cNvSpPr>
          <p:nvPr/>
        </p:nvSpPr>
        <p:spPr>
          <a:xfrm>
            <a:off x="981075" y="2486025"/>
            <a:ext cx="1143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B9EE600F-EE59-47A2-AA9E-62F4C991DC62}"/>
              </a:ext>
            </a:extLst>
          </p:cNvPr>
          <p:cNvSpPr>
            <a:spLocks noGrp="1"/>
          </p:cNvSpPr>
          <p:nvPr/>
        </p:nvSpPr>
        <p:spPr>
          <a:xfrm>
            <a:off x="1333500" y="2400300"/>
            <a:ext cx="2238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Fake news article detection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E747776-BFDF-4E4D-BE1F-72CD8C70562F}"/>
              </a:ext>
            </a:extLst>
          </p:cNvPr>
          <p:cNvSpPr>
            <a:spLocks noGrp="1"/>
          </p:cNvSpPr>
          <p:nvPr/>
        </p:nvSpPr>
        <p:spPr>
          <a:xfrm>
            <a:off x="895350" y="2857500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Classify Bangla/English headline and body text with credibility score.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="" xmlns:a16="http://schemas.microsoft.com/office/drawing/2014/main" id="{77B0A785-1B85-45B6-8239-E3A89F82E57A}"/>
              </a:ext>
            </a:extLst>
          </p:cNvPr>
          <p:cNvSpPr>
            <a:spLocks noGrp="1"/>
          </p:cNvSpPr>
          <p:nvPr/>
        </p:nvSpPr>
        <p:spPr>
          <a:xfrm>
            <a:off x="4381500" y="2190750"/>
            <a:ext cx="3238500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B3121F5-140D-45BE-92B9-32774B3D6649}"/>
              </a:ext>
            </a:extLst>
          </p:cNvPr>
          <p:cNvSpPr>
            <a:spLocks noGrp="1"/>
          </p:cNvSpPr>
          <p:nvPr/>
        </p:nvSpPr>
        <p:spPr>
          <a:xfrm>
            <a:off x="4591050" y="2419350"/>
            <a:ext cx="323850" cy="323850"/>
          </a:xfrm>
          <a:prstGeom prst="ellipse">
            <a:avLst/>
          </a:prstGeom>
          <a:solidFill>
            <a:srgbClr val="E85D4F"/>
          </a:solidFill>
          <a:ln w="0">
            <a:solidFill>
              <a:srgbClr val="E85D4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691FAD9-D05E-4CA2-95BA-039165739960}"/>
              </a:ext>
            </a:extLst>
          </p:cNvPr>
          <p:cNvSpPr>
            <a:spLocks noGrp="1"/>
          </p:cNvSpPr>
          <p:nvPr/>
        </p:nvSpPr>
        <p:spPr>
          <a:xfrm>
            <a:off x="4695825" y="2486025"/>
            <a:ext cx="1143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51C1A308-2E89-4508-ADC5-86562690F276}"/>
              </a:ext>
            </a:extLst>
          </p:cNvPr>
          <p:cNvSpPr>
            <a:spLocks noGrp="1"/>
          </p:cNvSpPr>
          <p:nvPr/>
        </p:nvSpPr>
        <p:spPr>
          <a:xfrm>
            <a:off x="5048250" y="2400300"/>
            <a:ext cx="2238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Screenshot &amp; post verification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6B88CA5-DBC7-4F8A-832D-9375D7F7531E}"/>
              </a:ext>
            </a:extLst>
          </p:cNvPr>
          <p:cNvSpPr>
            <a:spLocks noGrp="1"/>
          </p:cNvSpPr>
          <p:nvPr/>
        </p:nvSpPr>
        <p:spPr>
          <a:xfrm>
            <a:off x="4610100" y="2857500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OCR social-media screenshots, thumbnails and news cards, then verify the claim.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="" xmlns:a16="http://schemas.microsoft.com/office/drawing/2014/main" id="{D614F7D6-5D47-4B04-BDD6-F61663839150}"/>
              </a:ext>
            </a:extLst>
          </p:cNvPr>
          <p:cNvSpPr>
            <a:spLocks noGrp="1"/>
          </p:cNvSpPr>
          <p:nvPr/>
        </p:nvSpPr>
        <p:spPr>
          <a:xfrm>
            <a:off x="8096250" y="2190750"/>
            <a:ext cx="3238500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F3D13C0E-0FDE-4532-BD21-BC0C1088F09A}"/>
              </a:ext>
            </a:extLst>
          </p:cNvPr>
          <p:cNvSpPr>
            <a:spLocks noGrp="1"/>
          </p:cNvSpPr>
          <p:nvPr/>
        </p:nvSpPr>
        <p:spPr>
          <a:xfrm>
            <a:off x="8305800" y="2419350"/>
            <a:ext cx="323850" cy="323850"/>
          </a:xfrm>
          <a:prstGeom prst="ellipse">
            <a:avLst/>
          </a:prstGeom>
          <a:solidFill>
            <a:srgbClr val="D99A2B"/>
          </a:solidFill>
          <a:ln w="0">
            <a:solidFill>
              <a:srgbClr val="D99A2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A3DBFB07-F47B-48D3-9894-69791E663476}"/>
              </a:ext>
            </a:extLst>
          </p:cNvPr>
          <p:cNvSpPr>
            <a:spLocks noGrp="1"/>
          </p:cNvSpPr>
          <p:nvPr/>
        </p:nvSpPr>
        <p:spPr>
          <a:xfrm>
            <a:off x="8410575" y="2486025"/>
            <a:ext cx="1143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0F49A05-92E7-4407-B33D-780E74A38918}"/>
              </a:ext>
            </a:extLst>
          </p:cNvPr>
          <p:cNvSpPr>
            <a:spLocks noGrp="1"/>
          </p:cNvSpPr>
          <p:nvPr/>
        </p:nvSpPr>
        <p:spPr>
          <a:xfrm>
            <a:off x="8763000" y="2400300"/>
            <a:ext cx="2238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AI-generated image detection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70A85775-7ACA-4E88-8790-72F02E719542}"/>
              </a:ext>
            </a:extLst>
          </p:cNvPr>
          <p:cNvSpPr>
            <a:spLocks noGrp="1"/>
          </p:cNvSpPr>
          <p:nvPr/>
        </p:nvSpPr>
        <p:spPr>
          <a:xfrm>
            <a:off x="8324850" y="2857500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Detect synthetic images using visual artifacts and model confidence.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="" xmlns:a16="http://schemas.microsoft.com/office/drawing/2014/main" id="{0DEBB0AB-60AA-4F13-B7A7-15EF0C2456F9}"/>
              </a:ext>
            </a:extLst>
          </p:cNvPr>
          <p:cNvSpPr>
            <a:spLocks noGrp="1"/>
          </p:cNvSpPr>
          <p:nvPr/>
        </p:nvSpPr>
        <p:spPr>
          <a:xfrm>
            <a:off x="666750" y="4000500"/>
            <a:ext cx="3238500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0C90BB32-61A2-44DC-8960-F0B2BE3ECBC2}"/>
              </a:ext>
            </a:extLst>
          </p:cNvPr>
          <p:cNvSpPr>
            <a:spLocks noGrp="1"/>
          </p:cNvSpPr>
          <p:nvPr/>
        </p:nvSpPr>
        <p:spPr>
          <a:xfrm>
            <a:off x="876300" y="4229100"/>
            <a:ext cx="323850" cy="323850"/>
          </a:xfrm>
          <a:prstGeom prst="ellipse">
            <a:avLst/>
          </a:prstGeom>
          <a:solidFill>
            <a:srgbClr val="1B8A5A"/>
          </a:solidFill>
          <a:ln w="0">
            <a:solidFill>
              <a:srgbClr val="1B8A5A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1F726141-4537-462B-9E9F-9A2D55B2C94F}"/>
              </a:ext>
            </a:extLst>
          </p:cNvPr>
          <p:cNvSpPr>
            <a:spLocks noGrp="1"/>
          </p:cNvSpPr>
          <p:nvPr/>
        </p:nvSpPr>
        <p:spPr>
          <a:xfrm>
            <a:off x="981075" y="4295775"/>
            <a:ext cx="1143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9592478D-7512-458B-B8DD-9526480A6C90}"/>
              </a:ext>
            </a:extLst>
          </p:cNvPr>
          <p:cNvSpPr>
            <a:spLocks noGrp="1"/>
          </p:cNvSpPr>
          <p:nvPr/>
        </p:nvSpPr>
        <p:spPr>
          <a:xfrm>
            <a:off x="1333500" y="4210050"/>
            <a:ext cx="2238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Deepfake video analysis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E6C801F9-DC0E-4714-8B36-4ED346930519}"/>
              </a:ext>
            </a:extLst>
          </p:cNvPr>
          <p:cNvSpPr>
            <a:spLocks noGrp="1"/>
          </p:cNvSpPr>
          <p:nvPr/>
        </p:nvSpPr>
        <p:spPr>
          <a:xfrm>
            <a:off x="895350" y="4667250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Sample frames, detect face regions and classify suspicious manipulation.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="" xmlns:a16="http://schemas.microsoft.com/office/drawing/2014/main" id="{E97ADA2D-231F-4569-988E-9B531E1BE041}"/>
              </a:ext>
            </a:extLst>
          </p:cNvPr>
          <p:cNvSpPr>
            <a:spLocks noGrp="1"/>
          </p:cNvSpPr>
          <p:nvPr/>
        </p:nvSpPr>
        <p:spPr>
          <a:xfrm>
            <a:off x="4381500" y="4000500"/>
            <a:ext cx="3238500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Oval 24">
            <a:extLst>
              <a:ext uri="{FF2B5EF4-FFF2-40B4-BE49-F238E27FC236}">
                <a16:creationId xmlns="" xmlns:a16="http://schemas.microsoft.com/office/drawing/2014/main" id="{860A56C1-6E31-4EB2-BF29-2C136EE1759E}"/>
              </a:ext>
            </a:extLst>
          </p:cNvPr>
          <p:cNvSpPr>
            <a:spLocks noGrp="1"/>
          </p:cNvSpPr>
          <p:nvPr/>
        </p:nvSpPr>
        <p:spPr>
          <a:xfrm>
            <a:off x="4591050" y="4229100"/>
            <a:ext cx="323850" cy="323850"/>
          </a:xfrm>
          <a:prstGeom prst="ellipse">
            <a:avLst/>
          </a:prstGeom>
          <a:solidFill>
            <a:srgbClr val="064E4A"/>
          </a:solidFill>
          <a:ln w="0">
            <a:solidFill>
              <a:srgbClr val="064E4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036D11E4-6F59-407B-8E3B-99BAA8F4F72F}"/>
              </a:ext>
            </a:extLst>
          </p:cNvPr>
          <p:cNvSpPr>
            <a:spLocks noGrp="1"/>
          </p:cNvSpPr>
          <p:nvPr/>
        </p:nvSpPr>
        <p:spPr>
          <a:xfrm>
            <a:off x="4695825" y="4295775"/>
            <a:ext cx="1143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1DDDFB7A-07B6-4943-87FA-3D47EAB03287}"/>
              </a:ext>
            </a:extLst>
          </p:cNvPr>
          <p:cNvSpPr>
            <a:spLocks noGrp="1"/>
          </p:cNvSpPr>
          <p:nvPr/>
        </p:nvSpPr>
        <p:spPr>
          <a:xfrm>
            <a:off x="5048250" y="4210050"/>
            <a:ext cx="2238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Evidence-based report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2E15743D-0AE7-4057-8842-AC7987153C1E}"/>
              </a:ext>
            </a:extLst>
          </p:cNvPr>
          <p:cNvSpPr>
            <a:spLocks noGrp="1"/>
          </p:cNvSpPr>
          <p:nvPr/>
        </p:nvSpPr>
        <p:spPr>
          <a:xfrm>
            <a:off x="4610100" y="4667250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Explain suspicious cues, source mismatch and related fact-check references.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="" xmlns:a16="http://schemas.microsoft.com/office/drawing/2014/main" id="{C1C5B387-782B-4A60-9612-BF9DE76E1CBC}"/>
              </a:ext>
            </a:extLst>
          </p:cNvPr>
          <p:cNvSpPr>
            <a:spLocks noGrp="1"/>
          </p:cNvSpPr>
          <p:nvPr/>
        </p:nvSpPr>
        <p:spPr>
          <a:xfrm>
            <a:off x="8096250" y="4000500"/>
            <a:ext cx="3238500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0" name="Oval 29">
            <a:extLst>
              <a:ext uri="{FF2B5EF4-FFF2-40B4-BE49-F238E27FC236}">
                <a16:creationId xmlns="" xmlns:a16="http://schemas.microsoft.com/office/drawing/2014/main" id="{3F8F1213-B44A-4235-BF57-1094729324E0}"/>
              </a:ext>
            </a:extLst>
          </p:cNvPr>
          <p:cNvSpPr>
            <a:spLocks noGrp="1"/>
          </p:cNvSpPr>
          <p:nvPr/>
        </p:nvSpPr>
        <p:spPr>
          <a:xfrm>
            <a:off x="8305800" y="4229100"/>
            <a:ext cx="323850" cy="323850"/>
          </a:xfrm>
          <a:prstGeom prst="ellipse">
            <a:avLst/>
          </a:prstGeom>
          <a:solidFill>
            <a:srgbClr val="E85D4F"/>
          </a:solidFill>
          <a:ln w="0">
            <a:solidFill>
              <a:srgbClr val="E85D4F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35345597-6564-4A7F-87B8-65F478A7DE6B}"/>
              </a:ext>
            </a:extLst>
          </p:cNvPr>
          <p:cNvSpPr>
            <a:spLocks noGrp="1"/>
          </p:cNvSpPr>
          <p:nvPr/>
        </p:nvSpPr>
        <p:spPr>
          <a:xfrm>
            <a:off x="8410575" y="4295775"/>
            <a:ext cx="1143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="" xmlns:a16="http://schemas.microsoft.com/office/drawing/2014/main" id="{66F3F4EF-9D7D-4F3E-8C16-CD42ECCA32C3}"/>
              </a:ext>
            </a:extLst>
          </p:cNvPr>
          <p:cNvSpPr>
            <a:spLocks noGrp="1"/>
          </p:cNvSpPr>
          <p:nvPr/>
        </p:nvSpPr>
        <p:spPr>
          <a:xfrm>
            <a:off x="8763000" y="4210050"/>
            <a:ext cx="2238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AR credibility overlay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="" xmlns:a16="http://schemas.microsoft.com/office/drawing/2014/main" id="{BBD06A4E-5281-48B0-A1AD-66694C4FFBFA}"/>
              </a:ext>
            </a:extLst>
          </p:cNvPr>
          <p:cNvSpPr>
            <a:spLocks noGrp="1"/>
          </p:cNvSpPr>
          <p:nvPr/>
        </p:nvSpPr>
        <p:spPr>
          <a:xfrm>
            <a:off x="8324850" y="4667250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Scan content with camera and show risk badge directly on the screen.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4174A7A3-37CD-4685-ADEC-763C6E2B5A28}"/>
              </a:ext>
            </a:extLst>
          </p:cNvPr>
          <p:cNvSpPr>
            <a:spLocks noGrp="1"/>
          </p:cNvSpPr>
          <p:nvPr/>
        </p:nvSpPr>
        <p:spPr>
          <a:xfrm>
            <a:off x="1285875" y="5772150"/>
            <a:ext cx="962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64E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4E4A"/>
                </a:solidFill>
                <a:latin typeface="Aptos"/>
                <a:ea typeface="Aptos"/>
                <a:cs typeface="Aptos"/>
              </a:rPr>
              <a:t>499A focus: first two features + baseline credibility score. 499B focus: VLM explanation, deepfake module, dashboard and AR overlay.</a:t>
            </a:r>
          </a:p>
        </p:txBody>
      </p:sp>
      <p:sp>
        <p:nvSpPr>
          <p:cNvPr id="35" name="Straight Connector 34">
            <a:extLst>
              <a:ext uri="{FF2B5EF4-FFF2-40B4-BE49-F238E27FC236}">
                <a16:creationId xmlns="" xmlns:a16="http://schemas.microsoft.com/office/drawing/2014/main" id="{5D51AD3B-B68C-44C9-A478-8F2A26A82B29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10858500" cy="9525"/>
          </a:xfrm>
          <a:prstGeom prst="line">
            <a:avLst/>
          </a:prstGeom>
          <a:noFill/>
          <a:ln w="9525">
            <a:solidFill>
              <a:srgbClr val="D6E2DF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="" xmlns:a16="http://schemas.microsoft.com/office/drawing/2014/main" id="{7E3900CD-3E93-484E-9B81-5D98E66724B3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endParaRPr sz="750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="" xmlns:a16="http://schemas.microsoft.com/office/drawing/2014/main" id="{0D21A81A-BED0-4AF2-BE4E-537FA576E8DF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="" xmlns:p14="http://schemas.microsoft.com/office/powerpoint/2010/main" val="238744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4294967295">
            <a:extLst>
              <a:ext uri="{FF2B5EF4-FFF2-40B4-BE49-F238E27FC236}">
                <a16:creationId xmlns="" xmlns:a16="http://schemas.microsoft.com/office/drawing/2014/main" id="{76678112-3296-4DB5-A3E4-EDEC8FB3D255}"/>
              </a:ext>
            </a:extLst>
          </p:cNvPr>
          <p:cNvSpPr>
            <a:spLocks noGrp="1"/>
          </p:cNvSpPr>
          <p:nvPr/>
        </p:nvSpPr>
        <p:spPr>
          <a:xfrm>
            <a:off x="666750" y="4762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ORIGINAL CONTRIBUTION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960847D1-1C4E-4A86-913E-C832BAA421AD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7810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72B"/>
                </a:solidFill>
                <a:latin typeface="Aptos Display"/>
                <a:ea typeface="Aptos Display"/>
                <a:cs typeface="Aptos Display"/>
              </a:rPr>
              <a:t>How this becomes research, not just an app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2A1DA8B1-2766-4BCE-82FB-D3FEE0D135B8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857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novelty is the combination of low-resource Bangla data, multimodal reasoning, pattern recognition and AR feedback.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="" xmlns:a16="http://schemas.microsoft.com/office/drawing/2014/main" id="{4E292F1D-378B-489E-A79E-5CB6D4D9E1FA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771C6A5-062F-4819-B424-12A2F9E14E60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66675" cy="13144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4B933653-9CEA-4BFE-8DBA-5412251CF94C}"/>
              </a:ext>
            </a:extLst>
          </p:cNvPr>
          <p:cNvSpPr>
            <a:spLocks noGrp="1"/>
          </p:cNvSpPr>
          <p:nvPr/>
        </p:nvSpPr>
        <p:spPr>
          <a:xfrm>
            <a:off x="895350" y="2305050"/>
            <a:ext cx="4514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C1. Bangla multimodal dataset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77E199B8-CCF3-4929-A00C-9E4A2C8968C0}"/>
              </a:ext>
            </a:extLst>
          </p:cNvPr>
          <p:cNvSpPr>
            <a:spLocks noGrp="1"/>
          </p:cNvSpPr>
          <p:nvPr/>
        </p:nvSpPr>
        <p:spPr>
          <a:xfrm>
            <a:off x="895350" y="2667000"/>
            <a:ext cx="4514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Collect and annotate Bangla fake/real claims from fact-check sites, news portals, screenshots and social posts.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="" xmlns:a16="http://schemas.microsoft.com/office/drawing/2014/main" id="{4315ED31-8888-420D-B733-40B793DF4791}"/>
              </a:ext>
            </a:extLst>
          </p:cNvPr>
          <p:cNvSpPr>
            <a:spLocks noGrp="1"/>
          </p:cNvSpPr>
          <p:nvPr/>
        </p:nvSpPr>
        <p:spPr>
          <a:xfrm>
            <a:off x="6572250" y="2114550"/>
            <a:ext cx="49530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88E32C1C-6095-424E-B517-985699108FBD}"/>
              </a:ext>
            </a:extLst>
          </p:cNvPr>
          <p:cNvSpPr>
            <a:spLocks noGrp="1"/>
          </p:cNvSpPr>
          <p:nvPr/>
        </p:nvSpPr>
        <p:spPr>
          <a:xfrm>
            <a:off x="6572250" y="2114550"/>
            <a:ext cx="66675" cy="1314450"/>
          </a:xfrm>
          <a:prstGeom prst="rect">
            <a:avLst/>
          </a:prstGeom>
          <a:solidFill>
            <a:srgbClr val="E85D4F"/>
          </a:solidFill>
          <a:ln w="0">
            <a:solidFill>
              <a:srgbClr val="E85D4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0E4379F-8137-4AC1-99AA-C4B11E88D44C}"/>
              </a:ext>
            </a:extLst>
          </p:cNvPr>
          <p:cNvSpPr>
            <a:spLocks noGrp="1"/>
          </p:cNvSpPr>
          <p:nvPr/>
        </p:nvSpPr>
        <p:spPr>
          <a:xfrm>
            <a:off x="6800850" y="2305050"/>
            <a:ext cx="4514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C2. Fusion-based credibility engine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B7C33ED5-686E-46BB-A4FA-3922F8E654BD}"/>
              </a:ext>
            </a:extLst>
          </p:cNvPr>
          <p:cNvSpPr>
            <a:spLocks noGrp="1"/>
          </p:cNvSpPr>
          <p:nvPr/>
        </p:nvSpPr>
        <p:spPr>
          <a:xfrm>
            <a:off x="6800850" y="2667000"/>
            <a:ext cx="4514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Combine Bangla text model, image/deepfake detector, OCR, metadata and VLM explanation into one score.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="" xmlns:a16="http://schemas.microsoft.com/office/drawing/2014/main" id="{ACDB1E8B-536B-4BC3-9504-7D087562D609}"/>
              </a:ext>
            </a:extLst>
          </p:cNvPr>
          <p:cNvSpPr>
            <a:spLocks noGrp="1"/>
          </p:cNvSpPr>
          <p:nvPr/>
        </p:nvSpPr>
        <p:spPr>
          <a:xfrm>
            <a:off x="666750" y="3810000"/>
            <a:ext cx="49530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691C241C-7D69-40DC-8FD1-68A7BA3AFA1E}"/>
              </a:ext>
            </a:extLst>
          </p:cNvPr>
          <p:cNvSpPr>
            <a:spLocks noGrp="1"/>
          </p:cNvSpPr>
          <p:nvPr/>
        </p:nvSpPr>
        <p:spPr>
          <a:xfrm>
            <a:off x="666750" y="3810000"/>
            <a:ext cx="66675" cy="1314450"/>
          </a:xfrm>
          <a:prstGeom prst="rect">
            <a:avLst/>
          </a:prstGeom>
          <a:solidFill>
            <a:srgbClr val="D99A2B"/>
          </a:solidFill>
          <a:ln w="0">
            <a:solidFill>
              <a:srgbClr val="D99A2B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AFA112F5-4FF3-4046-98F4-2DD98A72ADF8}"/>
              </a:ext>
            </a:extLst>
          </p:cNvPr>
          <p:cNvSpPr>
            <a:spLocks noGrp="1"/>
          </p:cNvSpPr>
          <p:nvPr/>
        </p:nvSpPr>
        <p:spPr>
          <a:xfrm>
            <a:off x="895350" y="4000500"/>
            <a:ext cx="4514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C3. Explainable verification report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9B5A0802-2A7E-4BB6-80A8-E1204CF57351}"/>
              </a:ext>
            </a:extLst>
          </p:cNvPr>
          <p:cNvSpPr>
            <a:spLocks noGrp="1"/>
          </p:cNvSpPr>
          <p:nvPr/>
        </p:nvSpPr>
        <p:spPr>
          <a:xfrm>
            <a:off x="895350" y="4362450"/>
            <a:ext cx="4514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Generate natural-language reasons, suspicious cues, source comparison and evidence links.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="" xmlns:a16="http://schemas.microsoft.com/office/drawing/2014/main" id="{C3DDFD5A-3CCB-44FB-A776-6A1AB5A1B94D}"/>
              </a:ext>
            </a:extLst>
          </p:cNvPr>
          <p:cNvSpPr>
            <a:spLocks noGrp="1"/>
          </p:cNvSpPr>
          <p:nvPr/>
        </p:nvSpPr>
        <p:spPr>
          <a:xfrm>
            <a:off x="6572250" y="3810000"/>
            <a:ext cx="49530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F87E31DA-E25B-4E10-B77F-8E5240BA3ED4}"/>
              </a:ext>
            </a:extLst>
          </p:cNvPr>
          <p:cNvSpPr>
            <a:spLocks noGrp="1"/>
          </p:cNvSpPr>
          <p:nvPr/>
        </p:nvSpPr>
        <p:spPr>
          <a:xfrm>
            <a:off x="6572250" y="3810000"/>
            <a:ext cx="66675" cy="1314450"/>
          </a:xfrm>
          <a:prstGeom prst="rect">
            <a:avLst/>
          </a:prstGeom>
          <a:solidFill>
            <a:srgbClr val="1B8A5A"/>
          </a:solidFill>
          <a:ln w="0">
            <a:solidFill>
              <a:srgbClr val="1B8A5A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1D3486DA-8443-43D5-9F98-649ED9BDEE2F}"/>
              </a:ext>
            </a:extLst>
          </p:cNvPr>
          <p:cNvSpPr>
            <a:spLocks noGrp="1"/>
          </p:cNvSpPr>
          <p:nvPr/>
        </p:nvSpPr>
        <p:spPr>
          <a:xfrm>
            <a:off x="6800850" y="4000500"/>
            <a:ext cx="4514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C4. AR-assisted presentation layer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DC9AC014-73BB-44B7-AF83-B7AC00C74963}"/>
              </a:ext>
            </a:extLst>
          </p:cNvPr>
          <p:cNvSpPr>
            <a:spLocks noGrp="1"/>
          </p:cNvSpPr>
          <p:nvPr/>
        </p:nvSpPr>
        <p:spPr>
          <a:xfrm>
            <a:off x="6800850" y="4362450"/>
            <a:ext cx="4514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Camera scan shows credibility badge and evidence overlay directly on screenshot/poster/news content.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="" xmlns:a16="http://schemas.microsoft.com/office/drawing/2014/main" id="{FFD88ED9-FCEA-4FDE-AC36-D15734012B52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10858500" cy="9525"/>
          </a:xfrm>
          <a:prstGeom prst="line">
            <a:avLst/>
          </a:prstGeom>
          <a:noFill/>
          <a:ln w="9525">
            <a:solidFill>
              <a:srgbClr val="D6E2D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BF978EED-B099-4FB1-9FA0-C836ED83CF44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endParaRPr sz="750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B90946E8-668B-4740-857F-7FA42469979D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="" xmlns:p14="http://schemas.microsoft.com/office/powerpoint/2010/main" val="80270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4294967295">
            <a:extLst>
              <a:ext uri="{FF2B5EF4-FFF2-40B4-BE49-F238E27FC236}">
                <a16:creationId xmlns="" xmlns:a16="http://schemas.microsoft.com/office/drawing/2014/main" id="{08DFCCAA-3F3E-4434-8641-50D89A691362}"/>
              </a:ext>
            </a:extLst>
          </p:cNvPr>
          <p:cNvSpPr>
            <a:spLocks noGrp="1"/>
          </p:cNvSpPr>
          <p:nvPr/>
        </p:nvSpPr>
        <p:spPr>
          <a:xfrm>
            <a:off x="666750" y="4762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RESEARCH QUESTIONS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0CE24D4B-2E1B-4DAC-B007-396FCF13D566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7810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72B"/>
                </a:solidFill>
                <a:latin typeface="Aptos Display"/>
                <a:ea typeface="Aptos Display"/>
                <a:cs typeface="Aptos Display"/>
              </a:rPr>
              <a:t>Questions the project will answer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70B61128-E3CC-4B92-B38B-3BD6893B41B0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857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These questions make the work measurable and defensible.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="" xmlns:a16="http://schemas.microsoft.com/office/drawing/2014/main" id="{E8CDC5E3-9CF8-4BF2-9282-57C35611A02E}"/>
              </a:ext>
            </a:extLst>
          </p:cNvPr>
          <p:cNvSpPr>
            <a:spLocks noGrp="1"/>
          </p:cNvSpPr>
          <p:nvPr/>
        </p:nvSpPr>
        <p:spPr>
          <a:xfrm>
            <a:off x="1047750" y="2047875"/>
            <a:ext cx="1714500" cy="590550"/>
          </a:xfrm>
          <a:prstGeom prst="roundRect">
            <a:avLst>
              <a:gd name="adj" fmla="val 12903"/>
            </a:avLst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EC7E0F8-CB74-49E7-B79C-05D19BDFAF60}"/>
              </a:ext>
            </a:extLst>
          </p:cNvPr>
          <p:cNvSpPr>
            <a:spLocks noGrp="1"/>
          </p:cNvSpPr>
          <p:nvPr/>
        </p:nvSpPr>
        <p:spPr>
          <a:xfrm>
            <a:off x="1352550" y="220027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RQ1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="" xmlns:a16="http://schemas.microsoft.com/office/drawing/2014/main" id="{914FDEA7-684F-426F-BA1C-70C093A4B1E3}"/>
              </a:ext>
            </a:extLst>
          </p:cNvPr>
          <p:cNvSpPr>
            <a:spLocks noGrp="1"/>
          </p:cNvSpPr>
          <p:nvPr/>
        </p:nvSpPr>
        <p:spPr>
          <a:xfrm>
            <a:off x="2952750" y="2047875"/>
            <a:ext cx="8191500" cy="590550"/>
          </a:xfrm>
          <a:prstGeom prst="roundRect">
            <a:avLst>
              <a:gd name="adj" fmla="val 12903"/>
            </a:avLst>
          </a:prstGeom>
          <a:solidFill>
            <a:srgbClr val="FAF7EF"/>
          </a:solidFill>
          <a:ln w="9525">
            <a:solidFill>
              <a:srgbClr val="D6E2D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744E658-78DC-46A4-AFAC-69F5BB288B7A}"/>
              </a:ext>
            </a:extLst>
          </p:cNvPr>
          <p:cNvSpPr>
            <a:spLocks noGrp="1"/>
          </p:cNvSpPr>
          <p:nvPr/>
        </p:nvSpPr>
        <p:spPr>
          <a:xfrm>
            <a:off x="3200400" y="2181225"/>
            <a:ext cx="771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72B"/>
                </a:solidFill>
                <a:latin typeface="Aptos"/>
                <a:ea typeface="Aptos"/>
                <a:cs typeface="Aptos"/>
              </a:rPr>
              <a:t>Can Bangla OCR + text models identify fake or misleading claims from social-media screenshots?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="" xmlns:a16="http://schemas.microsoft.com/office/drawing/2014/main" id="{75EED0E0-D155-4240-90F3-FDEEAD935A89}"/>
              </a:ext>
            </a:extLst>
          </p:cNvPr>
          <p:cNvSpPr>
            <a:spLocks noGrp="1"/>
          </p:cNvSpPr>
          <p:nvPr/>
        </p:nvSpPr>
        <p:spPr>
          <a:xfrm>
            <a:off x="1047750" y="2924175"/>
            <a:ext cx="1714500" cy="590550"/>
          </a:xfrm>
          <a:prstGeom prst="roundRect">
            <a:avLst>
              <a:gd name="adj" fmla="val 12903"/>
            </a:avLst>
          </a:prstGeom>
          <a:solidFill>
            <a:srgbClr val="E85D4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26ADC27B-DBC6-44D5-8D8D-4534D94B0B78}"/>
              </a:ext>
            </a:extLst>
          </p:cNvPr>
          <p:cNvSpPr>
            <a:spLocks noGrp="1"/>
          </p:cNvSpPr>
          <p:nvPr/>
        </p:nvSpPr>
        <p:spPr>
          <a:xfrm>
            <a:off x="1352550" y="307657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RQ2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="" xmlns:a16="http://schemas.microsoft.com/office/drawing/2014/main" id="{1563627D-A509-4D76-86E9-F76B6A27E8D4}"/>
              </a:ext>
            </a:extLst>
          </p:cNvPr>
          <p:cNvSpPr>
            <a:spLocks noGrp="1"/>
          </p:cNvSpPr>
          <p:nvPr/>
        </p:nvSpPr>
        <p:spPr>
          <a:xfrm>
            <a:off x="2952750" y="2924175"/>
            <a:ext cx="8191500" cy="590550"/>
          </a:xfrm>
          <a:prstGeom prst="roundRect">
            <a:avLst>
              <a:gd name="adj" fmla="val 12903"/>
            </a:avLst>
          </a:prstGeom>
          <a:solidFill>
            <a:srgbClr val="FAF7EF"/>
          </a:solidFill>
          <a:ln w="9525">
            <a:solidFill>
              <a:srgbClr val="D6E2D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4DDAF820-7340-4280-872E-48D12987AB3A}"/>
              </a:ext>
            </a:extLst>
          </p:cNvPr>
          <p:cNvSpPr>
            <a:spLocks noGrp="1"/>
          </p:cNvSpPr>
          <p:nvPr/>
        </p:nvSpPr>
        <p:spPr>
          <a:xfrm>
            <a:off x="3200400" y="3057525"/>
            <a:ext cx="771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72B"/>
                </a:solidFill>
                <a:latin typeface="Aptos"/>
                <a:ea typeface="Aptos"/>
                <a:cs typeface="Aptos"/>
              </a:rPr>
              <a:t>Does combining text, image and video cues improve credibility assessment over single-modality baselines?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="" xmlns:a16="http://schemas.microsoft.com/office/drawing/2014/main" id="{A7BCC3A4-56B1-4E00-A348-8B554D6161A9}"/>
              </a:ext>
            </a:extLst>
          </p:cNvPr>
          <p:cNvSpPr>
            <a:spLocks noGrp="1"/>
          </p:cNvSpPr>
          <p:nvPr/>
        </p:nvSpPr>
        <p:spPr>
          <a:xfrm>
            <a:off x="1047750" y="3800475"/>
            <a:ext cx="1714500" cy="590550"/>
          </a:xfrm>
          <a:prstGeom prst="roundRect">
            <a:avLst>
              <a:gd name="adj" fmla="val 12903"/>
            </a:avLst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8A947EBF-007A-42C8-920C-3EA18D425B15}"/>
              </a:ext>
            </a:extLst>
          </p:cNvPr>
          <p:cNvSpPr>
            <a:spLocks noGrp="1"/>
          </p:cNvSpPr>
          <p:nvPr/>
        </p:nvSpPr>
        <p:spPr>
          <a:xfrm>
            <a:off x="1352550" y="395287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RQ3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="" xmlns:a16="http://schemas.microsoft.com/office/drawing/2014/main" id="{DAE1157D-5E12-4D5A-A29B-B699A2519050}"/>
              </a:ext>
            </a:extLst>
          </p:cNvPr>
          <p:cNvSpPr>
            <a:spLocks noGrp="1"/>
          </p:cNvSpPr>
          <p:nvPr/>
        </p:nvSpPr>
        <p:spPr>
          <a:xfrm>
            <a:off x="2952750" y="3800475"/>
            <a:ext cx="8191500" cy="590550"/>
          </a:xfrm>
          <a:prstGeom prst="roundRect">
            <a:avLst>
              <a:gd name="adj" fmla="val 12903"/>
            </a:avLst>
          </a:prstGeom>
          <a:solidFill>
            <a:srgbClr val="FAF7EF"/>
          </a:solidFill>
          <a:ln w="9525">
            <a:solidFill>
              <a:srgbClr val="D6E2D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7A5F357F-C8F0-4C74-A0FE-9BC98760CD2B}"/>
              </a:ext>
            </a:extLst>
          </p:cNvPr>
          <p:cNvSpPr>
            <a:spLocks noGrp="1"/>
          </p:cNvSpPr>
          <p:nvPr/>
        </p:nvSpPr>
        <p:spPr>
          <a:xfrm>
            <a:off x="3200400" y="3933825"/>
            <a:ext cx="771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72B"/>
                </a:solidFill>
                <a:latin typeface="Aptos"/>
                <a:ea typeface="Aptos"/>
                <a:cs typeface="Aptos"/>
              </a:rPr>
              <a:t>Can VLM-based explanations help users understand why content is suspicious?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="" xmlns:a16="http://schemas.microsoft.com/office/drawing/2014/main" id="{149ECA5C-CCB9-40A1-B4DE-F8310C4DD33D}"/>
              </a:ext>
            </a:extLst>
          </p:cNvPr>
          <p:cNvSpPr>
            <a:spLocks noGrp="1"/>
          </p:cNvSpPr>
          <p:nvPr/>
        </p:nvSpPr>
        <p:spPr>
          <a:xfrm>
            <a:off x="1047750" y="4676775"/>
            <a:ext cx="1714500" cy="590550"/>
          </a:xfrm>
          <a:prstGeom prst="roundRect">
            <a:avLst>
              <a:gd name="adj" fmla="val 12903"/>
            </a:avLst>
          </a:prstGeom>
          <a:solidFill>
            <a:srgbClr val="E85D4F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1AF79F95-2A42-4BC1-AFE6-54FB4943154C}"/>
              </a:ext>
            </a:extLst>
          </p:cNvPr>
          <p:cNvSpPr>
            <a:spLocks noGrp="1"/>
          </p:cNvSpPr>
          <p:nvPr/>
        </p:nvSpPr>
        <p:spPr>
          <a:xfrm>
            <a:off x="1352550" y="482917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RQ4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="" xmlns:a16="http://schemas.microsoft.com/office/drawing/2014/main" id="{C25722AB-6F19-490F-9A86-C3481D04E59F}"/>
              </a:ext>
            </a:extLst>
          </p:cNvPr>
          <p:cNvSpPr>
            <a:spLocks noGrp="1"/>
          </p:cNvSpPr>
          <p:nvPr/>
        </p:nvSpPr>
        <p:spPr>
          <a:xfrm>
            <a:off x="2952750" y="4676775"/>
            <a:ext cx="8191500" cy="590550"/>
          </a:xfrm>
          <a:prstGeom prst="roundRect">
            <a:avLst>
              <a:gd name="adj" fmla="val 12903"/>
            </a:avLst>
          </a:prstGeom>
          <a:solidFill>
            <a:srgbClr val="FAF7EF"/>
          </a:solidFill>
          <a:ln w="9525">
            <a:solidFill>
              <a:srgbClr val="D6E2DF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836CC16-C8D9-4BBE-8004-32ECEEBE53F2}"/>
              </a:ext>
            </a:extLst>
          </p:cNvPr>
          <p:cNvSpPr>
            <a:spLocks noGrp="1"/>
          </p:cNvSpPr>
          <p:nvPr/>
        </p:nvSpPr>
        <p:spPr>
          <a:xfrm>
            <a:off x="3200400" y="4810125"/>
            <a:ext cx="771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72B"/>
                </a:solidFill>
                <a:latin typeface="Aptos"/>
                <a:ea typeface="Aptos"/>
                <a:cs typeface="Aptos"/>
              </a:rPr>
              <a:t>Can AR overlay make verification faster and more usable than a dashboard-only workflow?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="" xmlns:a16="http://schemas.microsoft.com/office/drawing/2014/main" id="{8B23A727-AD0C-43B5-9D35-B4F91370224D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10858500" cy="9525"/>
          </a:xfrm>
          <a:prstGeom prst="line">
            <a:avLst/>
          </a:prstGeom>
          <a:noFill/>
          <a:ln w="9525">
            <a:solidFill>
              <a:srgbClr val="D6E2D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EC98163F-5924-4A13-85EC-5B146338CDD9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endParaRPr sz="750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24C0E890-A080-4D04-91D6-DB9C2C8D4AC9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="" xmlns:p14="http://schemas.microsoft.com/office/powerpoint/2010/main" val="1040386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4294967295">
            <a:extLst>
              <a:ext uri="{FF2B5EF4-FFF2-40B4-BE49-F238E27FC236}">
                <a16:creationId xmlns="" xmlns:a16="http://schemas.microsoft.com/office/drawing/2014/main" id="{C766D7C6-5688-476B-8632-89A350A1B12C}"/>
              </a:ext>
            </a:extLst>
          </p:cNvPr>
          <p:cNvSpPr>
            <a:spLocks noGrp="1"/>
          </p:cNvSpPr>
          <p:nvPr/>
        </p:nvSpPr>
        <p:spPr>
          <a:xfrm>
            <a:off x="666750" y="4762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6239187-EF4C-4E8F-87AA-18F9AF3388CE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7810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72B"/>
                </a:solidFill>
                <a:latin typeface="Aptos Display"/>
                <a:ea typeface="Aptos Display"/>
                <a:cs typeface="Aptos Display"/>
              </a:rPr>
              <a:t>End-to-end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13D27734-824C-4140-9507-38385FF2D694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857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Each module can be built and tested separately, then integrated in 499B.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="" xmlns:a16="http://schemas.microsoft.com/office/drawing/2014/main" id="{51A8CC3D-1EE9-47EF-BF2F-842DDC055B21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18097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D47DAC5A-E67A-41AD-B87A-058AD4E17FD3}"/>
              </a:ext>
            </a:extLst>
          </p:cNvPr>
          <p:cNvSpPr>
            <a:spLocks noGrp="1"/>
          </p:cNvSpPr>
          <p:nvPr/>
        </p:nvSpPr>
        <p:spPr>
          <a:xfrm>
            <a:off x="838200" y="278130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Input layer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C5C579F2-82AE-4D09-88E1-FA7B70D40A0D}"/>
              </a:ext>
            </a:extLst>
          </p:cNvPr>
          <p:cNvSpPr>
            <a:spLocks noGrp="1"/>
          </p:cNvSpPr>
          <p:nvPr/>
        </p:nvSpPr>
        <p:spPr>
          <a:xfrm>
            <a:off x="857250" y="3257550"/>
            <a:ext cx="1428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Article</a:t>
            </a:r>
          </a:p>
          <a:p>
            <a:pPr algn="ctr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Screenshot</a:t>
            </a:r>
          </a:p>
          <a:p>
            <a:pPr algn="ctr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Image</a:t>
            </a:r>
          </a:p>
          <a:p>
            <a:pPr algn="ctr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Video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="" xmlns:a16="http://schemas.microsoft.com/office/drawing/2014/main" id="{4679F8CA-A256-4BC2-8A80-E9307EDF0B35}"/>
              </a:ext>
            </a:extLst>
          </p:cNvPr>
          <p:cNvSpPr>
            <a:spLocks noGrp="1"/>
          </p:cNvSpPr>
          <p:nvPr/>
        </p:nvSpPr>
        <p:spPr>
          <a:xfrm>
            <a:off x="2543175" y="3333750"/>
            <a:ext cx="400050" cy="247650"/>
          </a:xfrm>
          <a:prstGeom prst="rightArrow">
            <a:avLst/>
          </a:prstGeom>
          <a:solidFill>
            <a:srgbClr val="D99A2B"/>
          </a:solidFill>
          <a:ln w="0">
            <a:solidFill>
              <a:srgbClr val="D99A2B"/>
            </a:solidFill>
            <a:prstDash val="solid"/>
          </a:ln>
        </p:spPr>
      </p:sp>
      <p:sp>
        <p:nvSpPr>
          <p:cNvPr id="8" name="Rounded Rectangle 7">
            <a:extLst>
              <a:ext uri="{FF2B5EF4-FFF2-40B4-BE49-F238E27FC236}">
                <a16:creationId xmlns="" xmlns:a16="http://schemas.microsoft.com/office/drawing/2014/main" id="{0967FD40-E32C-44EF-B752-21E80E60BA4A}"/>
              </a:ext>
            </a:extLst>
          </p:cNvPr>
          <p:cNvSpPr>
            <a:spLocks noGrp="1"/>
          </p:cNvSpPr>
          <p:nvPr/>
        </p:nvSpPr>
        <p:spPr>
          <a:xfrm>
            <a:off x="2857500" y="2571750"/>
            <a:ext cx="18097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28B45DDA-9A96-4F21-BB04-24E190CE55F7}"/>
              </a:ext>
            </a:extLst>
          </p:cNvPr>
          <p:cNvSpPr>
            <a:spLocks noGrp="1"/>
          </p:cNvSpPr>
          <p:nvPr/>
        </p:nvSpPr>
        <p:spPr>
          <a:xfrm>
            <a:off x="3028950" y="278130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Preprocess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6FAD212-96F6-4DBD-99D7-BE53FCCA17AF}"/>
              </a:ext>
            </a:extLst>
          </p:cNvPr>
          <p:cNvSpPr>
            <a:spLocks noGrp="1"/>
          </p:cNvSpPr>
          <p:nvPr/>
        </p:nvSpPr>
        <p:spPr>
          <a:xfrm>
            <a:off x="3048000" y="3257550"/>
            <a:ext cx="1428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OCR</a:t>
            </a:r>
          </a:p>
          <a:p>
            <a:pPr algn="ctr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Frame sampling</a:t>
            </a:r>
          </a:p>
          <a:p>
            <a:pPr algn="ctr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Face crop</a:t>
            </a:r>
          </a:p>
          <a:p>
            <a:pPr algn="ctr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Metadata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="" xmlns:a16="http://schemas.microsoft.com/office/drawing/2014/main" id="{86878E96-7503-44E3-8744-88A8A88D23E1}"/>
              </a:ext>
            </a:extLst>
          </p:cNvPr>
          <p:cNvSpPr>
            <a:spLocks noGrp="1"/>
          </p:cNvSpPr>
          <p:nvPr/>
        </p:nvSpPr>
        <p:spPr>
          <a:xfrm>
            <a:off x="4733925" y="3333750"/>
            <a:ext cx="400050" cy="247650"/>
          </a:xfrm>
          <a:prstGeom prst="rightArrow">
            <a:avLst/>
          </a:prstGeom>
          <a:solidFill>
            <a:srgbClr val="D99A2B"/>
          </a:solidFill>
          <a:ln w="0">
            <a:solidFill>
              <a:srgbClr val="D99A2B"/>
            </a:solidFill>
            <a:prstDash val="solid"/>
          </a:ln>
        </p:spPr>
      </p:sp>
      <p:sp>
        <p:nvSpPr>
          <p:cNvPr id="12" name="Rounded Rectangle 11">
            <a:extLst>
              <a:ext uri="{FF2B5EF4-FFF2-40B4-BE49-F238E27FC236}">
                <a16:creationId xmlns="" xmlns:a16="http://schemas.microsoft.com/office/drawing/2014/main" id="{7F396C03-1847-483B-B05C-AC5056CBB0DE}"/>
              </a:ext>
            </a:extLst>
          </p:cNvPr>
          <p:cNvSpPr>
            <a:spLocks noGrp="1"/>
          </p:cNvSpPr>
          <p:nvPr/>
        </p:nvSpPr>
        <p:spPr>
          <a:xfrm>
            <a:off x="5048250" y="2571750"/>
            <a:ext cx="18097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F486A1A-DB82-4D7D-BEC5-FEBAC619618E}"/>
              </a:ext>
            </a:extLst>
          </p:cNvPr>
          <p:cNvSpPr>
            <a:spLocks noGrp="1"/>
          </p:cNvSpPr>
          <p:nvPr/>
        </p:nvSpPr>
        <p:spPr>
          <a:xfrm>
            <a:off x="5219700" y="278130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Detection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AB2080BC-04D7-41E1-ACC4-D9E2DE8A2CEA}"/>
              </a:ext>
            </a:extLst>
          </p:cNvPr>
          <p:cNvSpPr>
            <a:spLocks noGrp="1"/>
          </p:cNvSpPr>
          <p:nvPr/>
        </p:nvSpPr>
        <p:spPr>
          <a:xfrm>
            <a:off x="5238750" y="3257550"/>
            <a:ext cx="1428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BanglaBERT</a:t>
            </a:r>
          </a:p>
          <a:p>
            <a:pPr algn="ctr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CLIP/VLM</a:t>
            </a:r>
          </a:p>
          <a:p>
            <a:pPr algn="ctr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CNN</a:t>
            </a:r>
          </a:p>
          <a:p>
            <a:pPr algn="ctr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Deepfake model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="" xmlns:a16="http://schemas.microsoft.com/office/drawing/2014/main" id="{CBA9E221-F5F5-4EA8-8DB9-2F31C7D8E36F}"/>
              </a:ext>
            </a:extLst>
          </p:cNvPr>
          <p:cNvSpPr>
            <a:spLocks noGrp="1"/>
          </p:cNvSpPr>
          <p:nvPr/>
        </p:nvSpPr>
        <p:spPr>
          <a:xfrm>
            <a:off x="6924675" y="3333750"/>
            <a:ext cx="400050" cy="247650"/>
          </a:xfrm>
          <a:prstGeom prst="rightArrow">
            <a:avLst/>
          </a:prstGeom>
          <a:solidFill>
            <a:srgbClr val="D99A2B"/>
          </a:solidFill>
          <a:ln w="0">
            <a:solidFill>
              <a:srgbClr val="D99A2B"/>
            </a:solidFill>
            <a:prstDash val="solid"/>
          </a:ln>
        </p:spPr>
      </p:sp>
      <p:sp>
        <p:nvSpPr>
          <p:cNvPr id="16" name="Rounded Rectangle 15">
            <a:extLst>
              <a:ext uri="{FF2B5EF4-FFF2-40B4-BE49-F238E27FC236}">
                <a16:creationId xmlns="" xmlns:a16="http://schemas.microsoft.com/office/drawing/2014/main" id="{F2323749-5442-4FF3-8AC3-D0C318799C4D}"/>
              </a:ext>
            </a:extLst>
          </p:cNvPr>
          <p:cNvSpPr>
            <a:spLocks noGrp="1"/>
          </p:cNvSpPr>
          <p:nvPr/>
        </p:nvSpPr>
        <p:spPr>
          <a:xfrm>
            <a:off x="7239000" y="2571750"/>
            <a:ext cx="18097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E57326BB-ABDC-4CE4-B58D-8D1D8CE9532B}"/>
              </a:ext>
            </a:extLst>
          </p:cNvPr>
          <p:cNvSpPr>
            <a:spLocks noGrp="1"/>
          </p:cNvSpPr>
          <p:nvPr/>
        </p:nvSpPr>
        <p:spPr>
          <a:xfrm>
            <a:off x="7410450" y="278130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Reasoning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0D98E592-7DD0-4FC7-8086-E440D5651390}"/>
              </a:ext>
            </a:extLst>
          </p:cNvPr>
          <p:cNvSpPr>
            <a:spLocks noGrp="1"/>
          </p:cNvSpPr>
          <p:nvPr/>
        </p:nvSpPr>
        <p:spPr>
          <a:xfrm>
            <a:off x="7429500" y="3257550"/>
            <a:ext cx="1428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Evidence retrieval</a:t>
            </a:r>
          </a:p>
          <a:p>
            <a:pPr algn="ctr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Cross-modal check</a:t>
            </a:r>
          </a:p>
          <a:p>
            <a:pPr algn="ctr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Uncertainty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="" xmlns:a16="http://schemas.microsoft.com/office/drawing/2014/main" id="{0C2AF43C-2B46-444F-9DFD-C7ADDF20106B}"/>
              </a:ext>
            </a:extLst>
          </p:cNvPr>
          <p:cNvSpPr>
            <a:spLocks noGrp="1"/>
          </p:cNvSpPr>
          <p:nvPr/>
        </p:nvSpPr>
        <p:spPr>
          <a:xfrm>
            <a:off x="9115425" y="3333750"/>
            <a:ext cx="400050" cy="247650"/>
          </a:xfrm>
          <a:prstGeom prst="rightArrow">
            <a:avLst/>
          </a:prstGeom>
          <a:solidFill>
            <a:srgbClr val="D99A2B"/>
          </a:solidFill>
          <a:ln w="0">
            <a:solidFill>
              <a:srgbClr val="D99A2B"/>
            </a:solidFill>
            <a:prstDash val="solid"/>
          </a:ln>
        </p:spPr>
      </p:sp>
      <p:sp>
        <p:nvSpPr>
          <p:cNvPr id="20" name="Rounded Rectangle 19">
            <a:extLst>
              <a:ext uri="{FF2B5EF4-FFF2-40B4-BE49-F238E27FC236}">
                <a16:creationId xmlns="" xmlns:a16="http://schemas.microsoft.com/office/drawing/2014/main" id="{D619BCAD-F4AC-44B5-8808-8B295EBCE25D}"/>
              </a:ext>
            </a:extLst>
          </p:cNvPr>
          <p:cNvSpPr>
            <a:spLocks noGrp="1"/>
          </p:cNvSpPr>
          <p:nvPr/>
        </p:nvSpPr>
        <p:spPr>
          <a:xfrm>
            <a:off x="9429750" y="2571750"/>
            <a:ext cx="18097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14D48F63-E06B-4BE4-BA64-FCF05D129A45}"/>
              </a:ext>
            </a:extLst>
          </p:cNvPr>
          <p:cNvSpPr>
            <a:spLocks noGrp="1"/>
          </p:cNvSpPr>
          <p:nvPr/>
        </p:nvSpPr>
        <p:spPr>
          <a:xfrm>
            <a:off x="9601200" y="278130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E85D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5D4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8489AD4E-1D45-49BF-9880-66EEB32F0391}"/>
              </a:ext>
            </a:extLst>
          </p:cNvPr>
          <p:cNvSpPr>
            <a:spLocks noGrp="1"/>
          </p:cNvSpPr>
          <p:nvPr/>
        </p:nvSpPr>
        <p:spPr>
          <a:xfrm>
            <a:off x="9620250" y="3257550"/>
            <a:ext cx="1428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Score</a:t>
            </a:r>
          </a:p>
          <a:p>
            <a:pPr algn="ctr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Report</a:t>
            </a:r>
          </a:p>
          <a:p>
            <a:pPr algn="ctr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Dashboard</a:t>
            </a:r>
          </a:p>
          <a:p>
            <a:pPr algn="ctr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AR overlay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="" xmlns:a16="http://schemas.microsoft.com/office/drawing/2014/main" id="{91C8EF29-FD42-4FE1-8B23-00CB4A87491E}"/>
              </a:ext>
            </a:extLst>
          </p:cNvPr>
          <p:cNvSpPr>
            <a:spLocks noGrp="1"/>
          </p:cNvSpPr>
          <p:nvPr/>
        </p:nvSpPr>
        <p:spPr>
          <a:xfrm>
            <a:off x="1952625" y="4953000"/>
            <a:ext cx="8286750" cy="704850"/>
          </a:xfrm>
          <a:prstGeom prst="roundRect">
            <a:avLst>
              <a:gd name="adj" fmla="val 10811"/>
            </a:avLst>
          </a:prstGeom>
          <a:solidFill>
            <a:srgbClr val="064E4A"/>
          </a:solidFill>
          <a:ln w="0">
            <a:solidFill>
              <a:srgbClr val="064E4A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43B7FF00-F706-4847-827C-7425DCFB1DA4}"/>
              </a:ext>
            </a:extLst>
          </p:cNvPr>
          <p:cNvSpPr>
            <a:spLocks noGrp="1"/>
          </p:cNvSpPr>
          <p:nvPr/>
        </p:nvSpPr>
        <p:spPr>
          <a:xfrm>
            <a:off x="2238375" y="5162550"/>
            <a:ext cx="771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Credibility Engine = weighted fusion of model confidence, source evidence, visual manipulation cues and explanation quality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="" xmlns:a16="http://schemas.microsoft.com/office/drawing/2014/main" id="{BF2E6AAF-63A8-4380-A285-F5FEE01FCB95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10858500" cy="9525"/>
          </a:xfrm>
          <a:prstGeom prst="line">
            <a:avLst/>
          </a:prstGeom>
          <a:noFill/>
          <a:ln w="9525">
            <a:solidFill>
              <a:srgbClr val="D6E2D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8CC745D6-6CD2-408C-B837-0C4912ACA628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="" xmlns:p14="http://schemas.microsoft.com/office/powerpoint/2010/main" val="2129499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294967295">
            <a:extLst>
              <a:ext uri="{FF2B5EF4-FFF2-40B4-BE49-F238E27FC236}">
                <a16:creationId xmlns="" xmlns:a16="http://schemas.microsoft.com/office/drawing/2014/main" id="{1531BE42-1D9E-4B29-946D-C5D3B0555B8F}"/>
              </a:ext>
            </a:extLst>
          </p:cNvPr>
          <p:cNvSpPr>
            <a:spLocks noGrp="1"/>
          </p:cNvSpPr>
          <p:nvPr/>
        </p:nvSpPr>
        <p:spPr>
          <a:xfrm>
            <a:off x="666750" y="4762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TECHNOLOGY STACK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1A2A4AB-A97D-426F-8BA5-700668C5B93C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7810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72B"/>
                </a:solidFill>
                <a:latin typeface="Aptos Display"/>
                <a:ea typeface="Aptos Display"/>
                <a:cs typeface="Aptos Display"/>
              </a:rPr>
              <a:t>Which technology will be used for which task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58E6A6DD-0ED7-461B-BFE0-02CE907C2545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857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This is the practical build plan for 499A and 499B.</a:t>
            </a:r>
          </a:p>
        </p:txBody>
      </p:sp>
      <p:graphicFrame>
        <p:nvGraphicFramePr>
          <p:cNvPr id="13" name="Table 12"/>
          <p:cNvGraphicFramePr/>
          <p:nvPr/>
        </p:nvGraphicFramePr>
        <p:xfrm>
          <a:off x="552450" y="1952625"/>
          <a:ext cx="11087100" cy="3810000"/>
        </p:xfrm>
        <a:graphic>
          <a:graphicData uri="http://schemas.openxmlformats.org/drawingml/2006/table">
            <a:tbl>
              <a:tblPr firstRow="1" bandRow="1"/>
              <a:tblGrid>
                <a:gridCol w="3695700"/>
                <a:gridCol w="3695700"/>
                <a:gridCol w="3695700"/>
              </a:tblGrid>
              <a:tr h="3810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Work module</a:t>
                      </a:r>
                    </a:p>
                  </a:txBody>
                  <a:tcPr>
                    <a:solidFill>
                      <a:srgbClr val="064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Technology</a:t>
                      </a:r>
                    </a:p>
                  </a:txBody>
                  <a:tcPr>
                    <a:solidFill>
                      <a:srgbClr val="064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Why / use</a:t>
                      </a:r>
                    </a:p>
                  </a:txBody>
                  <a:tcPr>
                    <a:solidFill>
                      <a:srgbClr val="064E4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Text fake news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Python, PyTorch, Hugging Face, BanglaBERT / mBERT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Train and fine-tune claim/headline/body classifier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Screenshot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EasyOCR or Tesseract, OpenCV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Extract Bangla/English text and detect screenshot regions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Image &amp; pattern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OpenCV, CLIP, CNN / EfficientNet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Detect manipulation cues, reused images, AI-generated images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Deepfake video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OpenCV, MediaPipe, PyTorch, FaceForensics++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Sample frames, crop faces, check facial artifacts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VLM explanation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LLaVA / BLIP / CLIP + lightweight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Generate reason: why suspicious and what evidence matched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Backend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FastAPI, Uvicorn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Serve detection models and return score/report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React, Tailwind CSS, Chart.js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Analysis history, upload UI, report view, credibility chart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Database &amp;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PostgreSQL or Firebase, local/cloud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Save users, reports, uploaded media and labels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AR scanner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Unity + AR Foundation / ARCore, or Flutter + ARCore plugin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0272B"/>
                          </a:solidFill>
                          <a:latin typeface="Aptos"/>
                          <a:ea typeface="Aptos"/>
                          <a:cs typeface="Aptos"/>
                        </a:rPr>
                        <a:t>Camera scan, target tracking and credibility overlay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D494F51D-89F8-4564-BADA-1C1F057B6E02}"/>
              </a:ext>
            </a:extLst>
          </p:cNvPr>
          <p:cNvSpPr>
            <a:spLocks noGrp="1"/>
          </p:cNvSpPr>
          <p:nvPr/>
        </p:nvSpPr>
        <p:spPr>
          <a:xfrm>
            <a:off x="1333500" y="598170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64E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4E4A"/>
                </a:solidFill>
                <a:latin typeface="Aptos"/>
                <a:ea typeface="Aptos"/>
                <a:cs typeface="Aptos"/>
              </a:rPr>
              <a:t>Recommended 499A stack: Python + PyTorch + Hugging Face + OpenCV + FastAPI + simple React dashboard.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="" xmlns:a16="http://schemas.microsoft.com/office/drawing/2014/main" id="{EC37B9F7-6A2E-497C-90CD-B6C1F2D61134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10858500" cy="9525"/>
          </a:xfrm>
          <a:prstGeom prst="line">
            <a:avLst/>
          </a:prstGeom>
          <a:noFill/>
          <a:ln w="9525">
            <a:solidFill>
              <a:srgbClr val="D6E2D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651E3D46-CA8C-4FFE-AE6D-445C23A0151A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="" xmlns:p14="http://schemas.microsoft.com/office/powerpoint/2010/main" val="133478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4294967295">
            <a:extLst>
              <a:ext uri="{FF2B5EF4-FFF2-40B4-BE49-F238E27FC236}">
                <a16:creationId xmlns="" xmlns:a16="http://schemas.microsoft.com/office/drawing/2014/main" id="{4DE1CFF8-0649-44DB-9399-A16CA4038828}"/>
              </a:ext>
            </a:extLst>
          </p:cNvPr>
          <p:cNvSpPr>
            <a:spLocks noGrp="1"/>
          </p:cNvSpPr>
          <p:nvPr/>
        </p:nvSpPr>
        <p:spPr>
          <a:xfrm>
            <a:off x="666750" y="4762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AR AND PATTERN RECOGNITION EXTENSION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9F93C1F1-48B6-40DC-90A6-4E13319458CF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7810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72B"/>
                </a:solidFill>
                <a:latin typeface="Aptos Display"/>
                <a:ea typeface="Aptos Display"/>
                <a:cs typeface="Aptos Display"/>
              </a:rPr>
              <a:t>Where the project becomes visually impressive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044B693C-85F1-47CA-9E0E-DCE8BE613CF1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857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AR is the interaction layer; pattern recognition is the computer-vision layer behind it.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="" xmlns:a16="http://schemas.microsoft.com/office/drawing/2014/main" id="{59082852-5333-4F48-8EFF-100BE29ADFAA}"/>
              </a:ext>
            </a:extLst>
          </p:cNvPr>
          <p:cNvSpPr>
            <a:spLocks noGrp="1"/>
          </p:cNvSpPr>
          <p:nvPr/>
        </p:nvSpPr>
        <p:spPr>
          <a:xfrm>
            <a:off x="904875" y="2238375"/>
            <a:ext cx="3857625" cy="2905125"/>
          </a:xfrm>
          <a:prstGeom prst="roundRect">
            <a:avLst>
              <a:gd name="adj" fmla="val 2623"/>
            </a:avLst>
          </a:prstGeom>
          <a:solidFill>
            <a:srgbClr val="10272B"/>
          </a:solidFill>
          <a:ln w="0">
            <a:solidFill>
              <a:srgbClr val="10272B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="" xmlns:a16="http://schemas.microsoft.com/office/drawing/2014/main" id="{24EF0A33-6C90-4E0E-A247-CDB6BC1F1C6A}"/>
              </a:ext>
            </a:extLst>
          </p:cNvPr>
          <p:cNvSpPr>
            <a:spLocks noGrp="1"/>
          </p:cNvSpPr>
          <p:nvPr/>
        </p:nvSpPr>
        <p:spPr>
          <a:xfrm>
            <a:off x="1333500" y="2619375"/>
            <a:ext cx="3000375" cy="2143125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C8891F4C-2C5A-45B9-955E-25C699B681D6}"/>
              </a:ext>
            </a:extLst>
          </p:cNvPr>
          <p:cNvSpPr>
            <a:spLocks noGrp="1"/>
          </p:cNvSpPr>
          <p:nvPr/>
        </p:nvSpPr>
        <p:spPr>
          <a:xfrm>
            <a:off x="1619250" y="2905125"/>
            <a:ext cx="2428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Viral screenshot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="" xmlns:a16="http://schemas.microsoft.com/office/drawing/2014/main" id="{59DAA069-4541-4F40-B69F-332041B22625}"/>
              </a:ext>
            </a:extLst>
          </p:cNvPr>
          <p:cNvSpPr>
            <a:spLocks noGrp="1"/>
          </p:cNvSpPr>
          <p:nvPr/>
        </p:nvSpPr>
        <p:spPr>
          <a:xfrm>
            <a:off x="1714500" y="3429000"/>
            <a:ext cx="2238375" cy="9525"/>
          </a:xfrm>
          <a:prstGeom prst="line">
            <a:avLst/>
          </a:prstGeom>
          <a:noFill/>
          <a:ln w="28575">
            <a:solidFill>
              <a:srgbClr val="D6E2DF"/>
            </a:solidFill>
            <a:prstDash val="solid"/>
          </a:ln>
        </p:spPr>
      </p:sp>
      <p:sp>
        <p:nvSpPr>
          <p:cNvPr id="8" name="Straight Connector 7">
            <a:extLst>
              <a:ext uri="{FF2B5EF4-FFF2-40B4-BE49-F238E27FC236}">
                <a16:creationId xmlns="" xmlns:a16="http://schemas.microsoft.com/office/drawing/2014/main" id="{5A998017-63AC-42FB-88A5-CD2EB1CE8F7D}"/>
              </a:ext>
            </a:extLst>
          </p:cNvPr>
          <p:cNvSpPr>
            <a:spLocks noGrp="1"/>
          </p:cNvSpPr>
          <p:nvPr/>
        </p:nvSpPr>
        <p:spPr>
          <a:xfrm>
            <a:off x="1714500" y="3762375"/>
            <a:ext cx="1762125" cy="9525"/>
          </a:xfrm>
          <a:prstGeom prst="line">
            <a:avLst/>
          </a:prstGeom>
          <a:noFill/>
          <a:ln w="28575">
            <a:solidFill>
              <a:srgbClr val="D6E2DF"/>
            </a:solidFill>
            <a:prstDash val="solid"/>
          </a:ln>
        </p:spPr>
      </p:sp>
      <p:sp>
        <p:nvSpPr>
          <p:cNvPr id="9" name="Rounded Rectangle 8">
            <a:extLst>
              <a:ext uri="{FF2B5EF4-FFF2-40B4-BE49-F238E27FC236}">
                <a16:creationId xmlns="" xmlns:a16="http://schemas.microsoft.com/office/drawing/2014/main" id="{5DAF9D99-EF57-40B3-80C8-8E715BB9E25F}"/>
              </a:ext>
            </a:extLst>
          </p:cNvPr>
          <p:cNvSpPr>
            <a:spLocks noGrp="1"/>
          </p:cNvSpPr>
          <p:nvPr/>
        </p:nvSpPr>
        <p:spPr>
          <a:xfrm>
            <a:off x="2524125" y="417195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E85D4F"/>
          </a:solidFill>
          <a:ln w="0">
            <a:solidFill>
              <a:srgbClr val="E85D4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C2219CF9-A479-4EB2-AEFC-D7DCD6A8B4FD}"/>
              </a:ext>
            </a:extLst>
          </p:cNvPr>
          <p:cNvSpPr>
            <a:spLocks noGrp="1"/>
          </p:cNvSpPr>
          <p:nvPr/>
        </p:nvSpPr>
        <p:spPr>
          <a:xfrm>
            <a:off x="2686050" y="4276725"/>
            <a:ext cx="1200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Suspicious 78%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="" xmlns:a16="http://schemas.microsoft.com/office/drawing/2014/main" id="{B64DCF86-0C75-40B4-9C07-0686EBA0792A}"/>
              </a:ext>
            </a:extLst>
          </p:cNvPr>
          <p:cNvSpPr>
            <a:spLocks noGrp="1"/>
          </p:cNvSpPr>
          <p:nvPr/>
        </p:nvSpPr>
        <p:spPr>
          <a:xfrm>
            <a:off x="5000625" y="3476625"/>
            <a:ext cx="762000" cy="400050"/>
          </a:xfrm>
          <a:prstGeom prst="rightArrow">
            <a:avLst/>
          </a:prstGeom>
          <a:solidFill>
            <a:srgbClr val="D99A2B"/>
          </a:solidFill>
          <a:ln w="0">
            <a:solidFill>
              <a:srgbClr val="D99A2B"/>
            </a:solidFill>
            <a:prstDash val="solid"/>
          </a:ln>
        </p:spPr>
      </p:sp>
      <p:sp>
        <p:nvSpPr>
          <p:cNvPr id="12" name="Rounded Rectangle 11">
            <a:extLst>
              <a:ext uri="{FF2B5EF4-FFF2-40B4-BE49-F238E27FC236}">
                <a16:creationId xmlns="" xmlns:a16="http://schemas.microsoft.com/office/drawing/2014/main" id="{B12185B8-79C4-4466-8CF5-DE10E5676C97}"/>
              </a:ext>
            </a:extLst>
          </p:cNvPr>
          <p:cNvSpPr>
            <a:spLocks noGrp="1"/>
          </p:cNvSpPr>
          <p:nvPr/>
        </p:nvSpPr>
        <p:spPr>
          <a:xfrm>
            <a:off x="6096000" y="2114550"/>
            <a:ext cx="49530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2917B9C3-6988-4A08-8B28-67DB9605C25E}"/>
              </a:ext>
            </a:extLst>
          </p:cNvPr>
          <p:cNvSpPr>
            <a:spLocks noGrp="1"/>
          </p:cNvSpPr>
          <p:nvPr/>
        </p:nvSpPr>
        <p:spPr>
          <a:xfrm>
            <a:off x="6096000" y="2114550"/>
            <a:ext cx="66675" cy="100012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1DBB3511-821F-4EBA-9E09-659CDA1E5E92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4514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Pattern recognition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BFBFA323-E06B-4E27-8106-C83935545E52}"/>
              </a:ext>
            </a:extLst>
          </p:cNvPr>
          <p:cNvSpPr>
            <a:spLocks noGrp="1"/>
          </p:cNvSpPr>
          <p:nvPr/>
        </p:nvSpPr>
        <p:spPr>
          <a:xfrm>
            <a:off x="6324600" y="2667000"/>
            <a:ext cx="4514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OCR, template/logo matching, face landmarks, compression artifacts, feature matching for old-image reuse.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="" xmlns:a16="http://schemas.microsoft.com/office/drawing/2014/main" id="{81FCE705-8E29-4D02-B62B-342F255013C6}"/>
              </a:ext>
            </a:extLst>
          </p:cNvPr>
          <p:cNvSpPr>
            <a:spLocks noGrp="1"/>
          </p:cNvSpPr>
          <p:nvPr/>
        </p:nvSpPr>
        <p:spPr>
          <a:xfrm>
            <a:off x="6096000" y="3400425"/>
            <a:ext cx="49530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E9498E6A-EBE4-4E5E-9583-D7862EDD80DC}"/>
              </a:ext>
            </a:extLst>
          </p:cNvPr>
          <p:cNvSpPr>
            <a:spLocks noGrp="1"/>
          </p:cNvSpPr>
          <p:nvPr/>
        </p:nvSpPr>
        <p:spPr>
          <a:xfrm>
            <a:off x="6096000" y="3400425"/>
            <a:ext cx="66675" cy="1000125"/>
          </a:xfrm>
          <a:prstGeom prst="rect">
            <a:avLst/>
          </a:prstGeom>
          <a:solidFill>
            <a:srgbClr val="E85D4F"/>
          </a:solidFill>
          <a:ln w="0">
            <a:solidFill>
              <a:srgbClr val="E85D4F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833DE605-335F-474C-B7B3-AFC71F9CD2EA}"/>
              </a:ext>
            </a:extLst>
          </p:cNvPr>
          <p:cNvSpPr>
            <a:spLocks noGrp="1"/>
          </p:cNvSpPr>
          <p:nvPr/>
        </p:nvSpPr>
        <p:spPr>
          <a:xfrm>
            <a:off x="6324600" y="3590925"/>
            <a:ext cx="4514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AR output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4A146535-DDCA-4404-AA22-528D3D263E4B}"/>
              </a:ext>
            </a:extLst>
          </p:cNvPr>
          <p:cNvSpPr>
            <a:spLocks noGrp="1"/>
          </p:cNvSpPr>
          <p:nvPr/>
        </p:nvSpPr>
        <p:spPr>
          <a:xfrm>
            <a:off x="6324600" y="3952875"/>
            <a:ext cx="4514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Overlay credibility badge, highlight suspicious region, show evidence summary and tap-to-open verification report.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50645BB9-7EB7-44A7-B222-4E9EBA0B0647}"/>
              </a:ext>
            </a:extLst>
          </p:cNvPr>
          <p:cNvSpPr>
            <a:spLocks noGrp="1"/>
          </p:cNvSpPr>
          <p:nvPr/>
        </p:nvSpPr>
        <p:spPr>
          <a:xfrm>
            <a:off x="6076950" y="4810125"/>
            <a:ext cx="5000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64E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4E4A"/>
                </a:solidFill>
                <a:latin typeface="Aptos"/>
                <a:ea typeface="Aptos"/>
                <a:cs typeface="Aptos"/>
              </a:rPr>
              <a:t>Defense demo: point camera at a screenshot/poster -&gt; TruthLens shows score and explanation on screen.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="" xmlns:a16="http://schemas.microsoft.com/office/drawing/2014/main" id="{D557BAAF-D0A4-4CC4-A4E6-95F42AA58B78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10858500" cy="9525"/>
          </a:xfrm>
          <a:prstGeom prst="line">
            <a:avLst/>
          </a:prstGeom>
          <a:noFill/>
          <a:ln w="9525">
            <a:solidFill>
              <a:srgbClr val="D6E2DF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A5E80699-8B5E-4B25-816E-21E50DDBD621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="" xmlns:p14="http://schemas.microsoft.com/office/powerpoint/2010/main" val="639503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294967295">
            <a:extLst>
              <a:ext uri="{FF2B5EF4-FFF2-40B4-BE49-F238E27FC236}">
                <a16:creationId xmlns="" xmlns:a16="http://schemas.microsoft.com/office/drawing/2014/main" id="{6DB24BF6-6CE5-45E9-8DE3-36486F941ABC}"/>
              </a:ext>
            </a:extLst>
          </p:cNvPr>
          <p:cNvSpPr>
            <a:spLocks noGrp="1"/>
          </p:cNvSpPr>
          <p:nvPr/>
        </p:nvSpPr>
        <p:spPr>
          <a:xfrm>
            <a:off x="666750" y="4762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EVALUATION PLAN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B45B0A6-79B2-41EF-9D02-93F42CD4223E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7810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72B"/>
                </a:solidFill>
                <a:latin typeface="Aptos Display"/>
                <a:ea typeface="Aptos Display"/>
                <a:cs typeface="Aptos Display"/>
              </a:rPr>
              <a:t>How success will be measured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17109BC4-A146-4DD1-BFF5-49556C0CCBF9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857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Evaluation covers model accuracy, explanation quality, robustness and usability.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="714375" y="2190750"/>
          <a:ext cx="495300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ounded Rectangle 4">
            <a:extLst>
              <a:ext uri="{FF2B5EF4-FFF2-40B4-BE49-F238E27FC236}">
                <a16:creationId xmlns="" xmlns:a16="http://schemas.microsoft.com/office/drawing/2014/main" id="{A61AE3FE-744B-4C34-9D60-239551EB75F6}"/>
              </a:ext>
            </a:extLst>
          </p:cNvPr>
          <p:cNvSpPr>
            <a:spLocks noGrp="1"/>
          </p:cNvSpPr>
          <p:nvPr/>
        </p:nvSpPr>
        <p:spPr>
          <a:xfrm>
            <a:off x="6381750" y="2143125"/>
            <a:ext cx="44767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4E33EAC9-685D-480E-BDE8-85C6D3F9DE35}"/>
              </a:ext>
            </a:extLst>
          </p:cNvPr>
          <p:cNvSpPr>
            <a:spLocks noGrp="1"/>
          </p:cNvSpPr>
          <p:nvPr/>
        </p:nvSpPr>
        <p:spPr>
          <a:xfrm>
            <a:off x="6381750" y="2143125"/>
            <a:ext cx="66675" cy="8763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0681385-04EB-4FD9-8218-529DD1104E4A}"/>
              </a:ext>
            </a:extLst>
          </p:cNvPr>
          <p:cNvSpPr>
            <a:spLocks noGrp="1"/>
          </p:cNvSpPr>
          <p:nvPr/>
        </p:nvSpPr>
        <p:spPr>
          <a:xfrm>
            <a:off x="6610350" y="2333625"/>
            <a:ext cx="403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Classification metrics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8CA6DD70-E081-4227-9DAD-EB8F5B9E5A3F}"/>
              </a:ext>
            </a:extLst>
          </p:cNvPr>
          <p:cNvSpPr>
            <a:spLocks noGrp="1"/>
          </p:cNvSpPr>
          <p:nvPr/>
        </p:nvSpPr>
        <p:spPr>
          <a:xfrm>
            <a:off x="6610350" y="2695575"/>
            <a:ext cx="403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Accuracy, precision, recall, F1-score, ROC-AUC, confusion matrix.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="" xmlns:a16="http://schemas.microsoft.com/office/drawing/2014/main" id="{F4657105-0B4C-43DD-A394-17DF9AC4C6DF}"/>
              </a:ext>
            </a:extLst>
          </p:cNvPr>
          <p:cNvSpPr>
            <a:spLocks noGrp="1"/>
          </p:cNvSpPr>
          <p:nvPr/>
        </p:nvSpPr>
        <p:spPr>
          <a:xfrm>
            <a:off x="6324600" y="3352800"/>
            <a:ext cx="44767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5A21E6A-1690-40CC-81B8-324A53E9915A}"/>
              </a:ext>
            </a:extLst>
          </p:cNvPr>
          <p:cNvSpPr>
            <a:spLocks noGrp="1"/>
          </p:cNvSpPr>
          <p:nvPr/>
        </p:nvSpPr>
        <p:spPr>
          <a:xfrm>
            <a:off x="6381750" y="3238500"/>
            <a:ext cx="66675" cy="876300"/>
          </a:xfrm>
          <a:prstGeom prst="rect">
            <a:avLst/>
          </a:prstGeom>
          <a:solidFill>
            <a:srgbClr val="E85D4F"/>
          </a:solidFill>
          <a:ln w="0">
            <a:solidFill>
              <a:srgbClr val="E85D4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99043FB9-7548-4F21-9BAC-DE333F2602BB}"/>
              </a:ext>
            </a:extLst>
          </p:cNvPr>
          <p:cNvSpPr>
            <a:spLocks noGrp="1"/>
          </p:cNvSpPr>
          <p:nvPr/>
        </p:nvSpPr>
        <p:spPr>
          <a:xfrm>
            <a:off x="6610350" y="3429000"/>
            <a:ext cx="403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Robustness tests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33F0BCD-6641-458B-9ECA-339B13056CDC}"/>
              </a:ext>
            </a:extLst>
          </p:cNvPr>
          <p:cNvSpPr>
            <a:spLocks noGrp="1"/>
          </p:cNvSpPr>
          <p:nvPr/>
        </p:nvSpPr>
        <p:spPr>
          <a:xfrm>
            <a:off x="6610350" y="3790950"/>
            <a:ext cx="403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Cross-source test, compressed images/videos, unseen claim categories.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="" xmlns:a16="http://schemas.microsoft.com/office/drawing/2014/main" id="{A02BF2CF-6455-41AC-8972-C78EAFA39133}"/>
              </a:ext>
            </a:extLst>
          </p:cNvPr>
          <p:cNvSpPr>
            <a:spLocks noGrp="1"/>
          </p:cNvSpPr>
          <p:nvPr/>
        </p:nvSpPr>
        <p:spPr>
          <a:xfrm>
            <a:off x="6381750" y="4333875"/>
            <a:ext cx="44767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274B410C-72E1-43BB-92F2-9703CED35375}"/>
              </a:ext>
            </a:extLst>
          </p:cNvPr>
          <p:cNvSpPr>
            <a:spLocks noGrp="1"/>
          </p:cNvSpPr>
          <p:nvPr/>
        </p:nvSpPr>
        <p:spPr>
          <a:xfrm>
            <a:off x="6381750" y="4333875"/>
            <a:ext cx="66675" cy="876300"/>
          </a:xfrm>
          <a:prstGeom prst="rect">
            <a:avLst/>
          </a:prstGeom>
          <a:solidFill>
            <a:srgbClr val="D99A2B"/>
          </a:solidFill>
          <a:ln w="0">
            <a:solidFill>
              <a:srgbClr val="D99A2B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2BA2291C-83C1-4F1B-B918-15E842F86610}"/>
              </a:ext>
            </a:extLst>
          </p:cNvPr>
          <p:cNvSpPr>
            <a:spLocks noGrp="1"/>
          </p:cNvSpPr>
          <p:nvPr/>
        </p:nvSpPr>
        <p:spPr>
          <a:xfrm>
            <a:off x="6610350" y="4524375"/>
            <a:ext cx="403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Human-centered evaluation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A613E259-CF05-4826-BF9F-EC2BEEE017AB}"/>
              </a:ext>
            </a:extLst>
          </p:cNvPr>
          <p:cNvSpPr>
            <a:spLocks noGrp="1"/>
          </p:cNvSpPr>
          <p:nvPr/>
        </p:nvSpPr>
        <p:spPr>
          <a:xfrm>
            <a:off x="6610350" y="4886325"/>
            <a:ext cx="403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Small user study: does explanation/AR improve user understanding?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C8B4F254-9381-466B-BB3C-A93643B549F3}"/>
              </a:ext>
            </a:extLst>
          </p:cNvPr>
          <p:cNvSpPr>
            <a:spLocks noGrp="1"/>
          </p:cNvSpPr>
          <p:nvPr/>
        </p:nvSpPr>
        <p:spPr>
          <a:xfrm>
            <a:off x="857250" y="5619750"/>
            <a:ext cx="447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Chart values are planning targets for module readiness, not promised benchmark accuracy.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="" xmlns:a16="http://schemas.microsoft.com/office/drawing/2014/main" id="{0E94519A-45F5-4857-B4FC-968CD15DA5D2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10858500" cy="9525"/>
          </a:xfrm>
          <a:prstGeom prst="line">
            <a:avLst/>
          </a:prstGeom>
          <a:noFill/>
          <a:ln w="9525">
            <a:solidFill>
              <a:srgbClr val="D6E2DF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990AD543-D5E4-4234-B6FF-3EA7B7218CC7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="" xmlns:p14="http://schemas.microsoft.com/office/powerpoint/2010/main" val="234629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4294967295">
            <a:extLst>
              <a:ext uri="{FF2B5EF4-FFF2-40B4-BE49-F238E27FC236}">
                <a16:creationId xmlns="" xmlns:a16="http://schemas.microsoft.com/office/drawing/2014/main" id="{CF26BB1C-8372-41BD-B104-F6BF84736390}"/>
              </a:ext>
            </a:extLst>
          </p:cNvPr>
          <p:cNvSpPr>
            <a:spLocks noGrp="1"/>
          </p:cNvSpPr>
          <p:nvPr/>
        </p:nvSpPr>
        <p:spPr>
          <a:xfrm>
            <a:off x="666750" y="4762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499A + 499B WORK SPLIT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1867EFDA-411D-4B9E-8285-898959D008D8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7810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72B"/>
                </a:solidFill>
                <a:latin typeface="Aptos Display"/>
                <a:ea typeface="Aptos Display"/>
                <a:cs typeface="Aptos Display"/>
              </a:rPr>
              <a:t>Half now, half later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25CD9C97-8E58-48EE-9506-3583A2F4C649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857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499A proves feasibility; 499B completes integration, AR, evaluation and report.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="" xmlns:a16="http://schemas.microsoft.com/office/drawing/2014/main" id="{97960441-049A-4562-B79C-194BE6E74764}"/>
              </a:ext>
            </a:extLst>
          </p:cNvPr>
          <p:cNvSpPr>
            <a:spLocks noGrp="1"/>
          </p:cNvSpPr>
          <p:nvPr/>
        </p:nvSpPr>
        <p:spPr>
          <a:xfrm>
            <a:off x="3714750" y="2095500"/>
            <a:ext cx="1428750" cy="400050"/>
          </a:xfrm>
          <a:prstGeom prst="roundRect">
            <a:avLst>
              <a:gd name="adj" fmla="val 19048"/>
            </a:avLst>
          </a:prstGeom>
          <a:solidFill>
            <a:srgbClr val="064E4A"/>
          </a:solidFill>
          <a:ln w="0">
            <a:solidFill>
              <a:srgbClr val="064E4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3599D90C-8D1B-423D-AFA5-7C4517CE4CF7}"/>
              </a:ext>
            </a:extLst>
          </p:cNvPr>
          <p:cNvSpPr>
            <a:spLocks noGrp="1"/>
          </p:cNvSpPr>
          <p:nvPr/>
        </p:nvSpPr>
        <p:spPr>
          <a:xfrm>
            <a:off x="3857625" y="2200275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499A-1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="" xmlns:a16="http://schemas.microsoft.com/office/drawing/2014/main" id="{E6F5470B-7BA4-4C5B-9025-7754617499AD}"/>
              </a:ext>
            </a:extLst>
          </p:cNvPr>
          <p:cNvSpPr>
            <a:spLocks noGrp="1"/>
          </p:cNvSpPr>
          <p:nvPr/>
        </p:nvSpPr>
        <p:spPr>
          <a:xfrm>
            <a:off x="5524500" y="2095500"/>
            <a:ext cx="1428750" cy="400050"/>
          </a:xfrm>
          <a:prstGeom prst="roundRect">
            <a:avLst>
              <a:gd name="adj" fmla="val 19048"/>
            </a:avLst>
          </a:prstGeom>
          <a:solidFill>
            <a:srgbClr val="064E4A"/>
          </a:solidFill>
          <a:ln w="0">
            <a:solidFill>
              <a:srgbClr val="064E4A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B5EB53AD-7C7B-4B26-ADF8-3C03FF77A89C}"/>
              </a:ext>
            </a:extLst>
          </p:cNvPr>
          <p:cNvSpPr>
            <a:spLocks noGrp="1"/>
          </p:cNvSpPr>
          <p:nvPr/>
        </p:nvSpPr>
        <p:spPr>
          <a:xfrm>
            <a:off x="5667375" y="2200275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499A-2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="" xmlns:a16="http://schemas.microsoft.com/office/drawing/2014/main" id="{693F8242-4DB5-4ECB-A7AB-525E1E9ADA8C}"/>
              </a:ext>
            </a:extLst>
          </p:cNvPr>
          <p:cNvSpPr>
            <a:spLocks noGrp="1"/>
          </p:cNvSpPr>
          <p:nvPr/>
        </p:nvSpPr>
        <p:spPr>
          <a:xfrm>
            <a:off x="7334250" y="2095500"/>
            <a:ext cx="1428750" cy="400050"/>
          </a:xfrm>
          <a:prstGeom prst="roundRect">
            <a:avLst>
              <a:gd name="adj" fmla="val 19048"/>
            </a:avLst>
          </a:prstGeom>
          <a:solidFill>
            <a:srgbClr val="064E4A"/>
          </a:solidFill>
          <a:ln w="0">
            <a:solidFill>
              <a:srgbClr val="064E4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D8FCD558-B94B-4EC8-A4BB-3EB015D6EDA9}"/>
              </a:ext>
            </a:extLst>
          </p:cNvPr>
          <p:cNvSpPr>
            <a:spLocks noGrp="1"/>
          </p:cNvSpPr>
          <p:nvPr/>
        </p:nvSpPr>
        <p:spPr>
          <a:xfrm>
            <a:off x="7477125" y="2200275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499B-1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="" xmlns:a16="http://schemas.microsoft.com/office/drawing/2014/main" id="{D7163435-F549-4924-BF55-6D0C12BF3409}"/>
              </a:ext>
            </a:extLst>
          </p:cNvPr>
          <p:cNvSpPr>
            <a:spLocks noGrp="1"/>
          </p:cNvSpPr>
          <p:nvPr/>
        </p:nvSpPr>
        <p:spPr>
          <a:xfrm>
            <a:off x="9144000" y="2095500"/>
            <a:ext cx="1428750" cy="400050"/>
          </a:xfrm>
          <a:prstGeom prst="roundRect">
            <a:avLst>
              <a:gd name="adj" fmla="val 19048"/>
            </a:avLst>
          </a:prstGeom>
          <a:solidFill>
            <a:srgbClr val="064E4A"/>
          </a:solidFill>
          <a:ln w="0">
            <a:solidFill>
              <a:srgbClr val="064E4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A0F1EB17-3129-46F9-8F98-2F4AD109C3E7}"/>
              </a:ext>
            </a:extLst>
          </p:cNvPr>
          <p:cNvSpPr>
            <a:spLocks noGrp="1"/>
          </p:cNvSpPr>
          <p:nvPr/>
        </p:nvSpPr>
        <p:spPr>
          <a:xfrm>
            <a:off x="9286875" y="2200275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499B-2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AC6801E7-5817-4E01-AE4B-B09C1D050024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Literature review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="" xmlns:a16="http://schemas.microsoft.com/office/drawing/2014/main" id="{5C337844-5AB8-46A3-B039-E012B02CB9CE}"/>
              </a:ext>
            </a:extLst>
          </p:cNvPr>
          <p:cNvSpPr>
            <a:spLocks noGrp="1"/>
          </p:cNvSpPr>
          <p:nvPr/>
        </p:nvSpPr>
        <p:spPr>
          <a:xfrm>
            <a:off x="3714750" y="2781300"/>
            <a:ext cx="1428750" cy="342900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A51E8517-350C-47E1-ACEC-730351B9A006}"/>
              </a:ext>
            </a:extLst>
          </p:cNvPr>
          <p:cNvSpPr>
            <a:spLocks noGrp="1"/>
          </p:cNvSpPr>
          <p:nvPr/>
        </p:nvSpPr>
        <p:spPr>
          <a:xfrm>
            <a:off x="762000" y="3381375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Dataset collection &amp; labeling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="" xmlns:a16="http://schemas.microsoft.com/office/drawing/2014/main" id="{E90A216C-E106-4FEC-8654-969CBB7AE971}"/>
              </a:ext>
            </a:extLst>
          </p:cNvPr>
          <p:cNvSpPr>
            <a:spLocks noGrp="1"/>
          </p:cNvSpPr>
          <p:nvPr/>
        </p:nvSpPr>
        <p:spPr>
          <a:xfrm>
            <a:off x="3714750" y="3305175"/>
            <a:ext cx="3238500" cy="342900"/>
          </a:xfrm>
          <a:prstGeom prst="roundRect">
            <a:avLst>
              <a:gd name="adj" fmla="val 22222"/>
            </a:avLst>
          </a:prstGeom>
          <a:solidFill>
            <a:srgbClr val="D99A2B"/>
          </a:solidFill>
          <a:ln w="0">
            <a:solidFill>
              <a:srgbClr val="D99A2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D0F720E8-BD41-4CA1-B211-FDF21AA832B3}"/>
              </a:ext>
            </a:extLst>
          </p:cNvPr>
          <p:cNvSpPr>
            <a:spLocks noGrp="1"/>
          </p:cNvSpPr>
          <p:nvPr/>
        </p:nvSpPr>
        <p:spPr>
          <a:xfrm>
            <a:off x="762000" y="390525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Baseline models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="" xmlns:a16="http://schemas.microsoft.com/office/drawing/2014/main" id="{CF29DC2A-4BF3-4217-8F94-A574386505D1}"/>
              </a:ext>
            </a:extLst>
          </p:cNvPr>
          <p:cNvSpPr>
            <a:spLocks noGrp="1"/>
          </p:cNvSpPr>
          <p:nvPr/>
        </p:nvSpPr>
        <p:spPr>
          <a:xfrm>
            <a:off x="5524500" y="3829050"/>
            <a:ext cx="1428750" cy="342900"/>
          </a:xfrm>
          <a:prstGeom prst="roundRect">
            <a:avLst>
              <a:gd name="adj" fmla="val 22222"/>
            </a:avLst>
          </a:prstGeom>
          <a:solidFill>
            <a:srgbClr val="E85D4F"/>
          </a:solidFill>
          <a:ln w="0">
            <a:solidFill>
              <a:srgbClr val="E85D4F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9C8AD502-AE90-4610-9A86-CFC545137B96}"/>
              </a:ext>
            </a:extLst>
          </p:cNvPr>
          <p:cNvSpPr>
            <a:spLocks noGrp="1"/>
          </p:cNvSpPr>
          <p:nvPr/>
        </p:nvSpPr>
        <p:spPr>
          <a:xfrm>
            <a:off x="762000" y="4429125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VLM fusion + explanation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="" xmlns:a16="http://schemas.microsoft.com/office/drawing/2014/main" id="{EC2CD2C2-E486-4910-B424-5D64C2F27AA6}"/>
              </a:ext>
            </a:extLst>
          </p:cNvPr>
          <p:cNvSpPr>
            <a:spLocks noGrp="1"/>
          </p:cNvSpPr>
          <p:nvPr/>
        </p:nvSpPr>
        <p:spPr>
          <a:xfrm>
            <a:off x="7334250" y="4352925"/>
            <a:ext cx="1428750" cy="342900"/>
          </a:xfrm>
          <a:prstGeom prst="roundRect">
            <a:avLst>
              <a:gd name="adj" fmla="val 22222"/>
            </a:avLst>
          </a:prstGeom>
          <a:solidFill>
            <a:srgbClr val="064E4A"/>
          </a:solidFill>
          <a:ln w="0">
            <a:solidFill>
              <a:srgbClr val="064E4A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EAEE9452-CC64-49BD-81B1-96C87541A9A7}"/>
              </a:ext>
            </a:extLst>
          </p:cNvPr>
          <p:cNvSpPr>
            <a:spLocks noGrp="1"/>
          </p:cNvSpPr>
          <p:nvPr/>
        </p:nvSpPr>
        <p:spPr>
          <a:xfrm>
            <a:off x="762000" y="49530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AR scanner + dashboard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="" xmlns:a16="http://schemas.microsoft.com/office/drawing/2014/main" id="{4496CE88-B33A-40BC-85E4-D57BDD21D4CA}"/>
              </a:ext>
            </a:extLst>
          </p:cNvPr>
          <p:cNvSpPr>
            <a:spLocks noGrp="1"/>
          </p:cNvSpPr>
          <p:nvPr/>
        </p:nvSpPr>
        <p:spPr>
          <a:xfrm>
            <a:off x="7334250" y="4876800"/>
            <a:ext cx="3238500" cy="342900"/>
          </a:xfrm>
          <a:prstGeom prst="roundRect">
            <a:avLst>
              <a:gd name="adj" fmla="val 22222"/>
            </a:avLst>
          </a:prstGeom>
          <a:solidFill>
            <a:srgbClr val="1B8A5A"/>
          </a:solidFill>
          <a:ln w="0">
            <a:solidFill>
              <a:srgbClr val="1B8A5A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32FF9007-E3FF-4557-B44E-6D9843BB4D0D}"/>
              </a:ext>
            </a:extLst>
          </p:cNvPr>
          <p:cNvSpPr>
            <a:spLocks noGrp="1"/>
          </p:cNvSpPr>
          <p:nvPr/>
        </p:nvSpPr>
        <p:spPr>
          <a:xfrm>
            <a:off x="762000" y="5476875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Evaluation + final paper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="" xmlns:a16="http://schemas.microsoft.com/office/drawing/2014/main" id="{C22F6850-06AC-4991-B0DB-E00263B29121}"/>
              </a:ext>
            </a:extLst>
          </p:cNvPr>
          <p:cNvSpPr>
            <a:spLocks noGrp="1"/>
          </p:cNvSpPr>
          <p:nvPr/>
        </p:nvSpPr>
        <p:spPr>
          <a:xfrm>
            <a:off x="9144000" y="5400675"/>
            <a:ext cx="1428750" cy="342900"/>
          </a:xfrm>
          <a:prstGeom prst="roundRect">
            <a:avLst>
              <a:gd name="adj" fmla="val 22222"/>
            </a:avLst>
          </a:prstGeom>
          <a:solidFill>
            <a:srgbClr val="E85D4F"/>
          </a:solidFill>
          <a:ln w="0">
            <a:solidFill>
              <a:srgbClr val="E85D4F"/>
            </a:solidFill>
            <a:prstDash val="solid"/>
          </a:ln>
        </p:spPr>
      </p:sp>
      <p:sp>
        <p:nvSpPr>
          <p:cNvPr id="24" name="Rounded Rectangle 23">
            <a:extLst>
              <a:ext uri="{FF2B5EF4-FFF2-40B4-BE49-F238E27FC236}">
                <a16:creationId xmlns="" xmlns:a16="http://schemas.microsoft.com/office/drawing/2014/main" id="{D68FAAFC-17FE-40A3-8DEA-522E9A8B2D14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4762500" cy="361950"/>
          </a:xfrm>
          <a:prstGeom prst="roundRect">
            <a:avLst>
              <a:gd name="adj" fmla="val 21053"/>
            </a:avLst>
          </a:prstGeom>
          <a:solidFill>
            <a:srgbClr val="D8F3EC"/>
          </a:solidFill>
          <a:ln w="0">
            <a:solidFill>
              <a:srgbClr val="D8F3EC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7EAB98BA-367C-4330-973C-A68C7860F85D}"/>
              </a:ext>
            </a:extLst>
          </p:cNvPr>
          <p:cNvSpPr>
            <a:spLocks noGrp="1"/>
          </p:cNvSpPr>
          <p:nvPr/>
        </p:nvSpPr>
        <p:spPr>
          <a:xfrm>
            <a:off x="1000125" y="5895975"/>
            <a:ext cx="433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64E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64E4A"/>
                </a:solidFill>
                <a:latin typeface="Aptos"/>
                <a:ea typeface="Aptos"/>
                <a:cs typeface="Aptos"/>
              </a:rPr>
              <a:t>499A deliverable: proposal + literature review + dataset plan + baseline prototype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="" xmlns:a16="http://schemas.microsoft.com/office/drawing/2014/main" id="{14F63484-F51E-4657-9B84-2C24EB829CB4}"/>
              </a:ext>
            </a:extLst>
          </p:cNvPr>
          <p:cNvSpPr>
            <a:spLocks noGrp="1"/>
          </p:cNvSpPr>
          <p:nvPr/>
        </p:nvSpPr>
        <p:spPr>
          <a:xfrm>
            <a:off x="6667500" y="5810250"/>
            <a:ext cx="4762500" cy="361950"/>
          </a:xfrm>
          <a:prstGeom prst="roundRect">
            <a:avLst>
              <a:gd name="adj" fmla="val 21053"/>
            </a:avLst>
          </a:prstGeom>
          <a:solidFill>
            <a:srgbClr val="FDE6D8"/>
          </a:solidFill>
          <a:ln w="0">
            <a:solidFill>
              <a:srgbClr val="FDE6D8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93B37E98-E723-4149-85E9-BDCE9CA24295}"/>
              </a:ext>
            </a:extLst>
          </p:cNvPr>
          <p:cNvSpPr>
            <a:spLocks noGrp="1"/>
          </p:cNvSpPr>
          <p:nvPr/>
        </p:nvSpPr>
        <p:spPr>
          <a:xfrm>
            <a:off x="6934200" y="5895975"/>
            <a:ext cx="423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C241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2413A"/>
                </a:solidFill>
                <a:latin typeface="Aptos"/>
                <a:ea typeface="Aptos"/>
                <a:cs typeface="Aptos"/>
              </a:rPr>
              <a:t>499B deliverable: full integrated system + AR demo + evaluation + final report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="" xmlns:a16="http://schemas.microsoft.com/office/drawing/2014/main" id="{3706E2A2-2824-4149-AEE7-D1238289E7A4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10858500" cy="9525"/>
          </a:xfrm>
          <a:prstGeom prst="line">
            <a:avLst/>
          </a:prstGeom>
          <a:noFill/>
          <a:ln w="9525">
            <a:solidFill>
              <a:srgbClr val="D6E2DF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="" xmlns:a16="http://schemas.microsoft.com/office/drawing/2014/main" id="{AA5C7BEC-2F96-48C3-B871-C48E55F1B71C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="" xmlns:p14="http://schemas.microsoft.com/office/powerpoint/2010/main" val="1723556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4294967295">
            <a:extLst>
              <a:ext uri="{FF2B5EF4-FFF2-40B4-BE49-F238E27FC236}">
                <a16:creationId xmlns="" xmlns:a16="http://schemas.microsoft.com/office/drawing/2014/main" id="{FF4502BF-84B6-4185-A67A-0EB7A00C8210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Expected Outcome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D191633C-503C-4B6E-8697-CD70FB8620F6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7429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D8F3E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F3EC"/>
                </a:solidFill>
                <a:latin typeface="Aptos"/>
                <a:ea typeface="Aptos"/>
                <a:cs typeface="Aptos"/>
              </a:rPr>
              <a:t>By the end of CSE 499, TruthLens AR should deliver a working prototype, a Bangla-focused dataset, measurable experiments, and a paper-ready research story.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="" xmlns:a16="http://schemas.microsoft.com/office/drawing/2014/main" id="{727377DD-B821-46F0-9FC4-E44AD6028578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3143250" cy="1762125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9CB0B45F-7DE8-4E28-92CD-F426A0CD82F5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66675" cy="1762125"/>
          </a:xfrm>
          <a:prstGeom prst="rect">
            <a:avLst/>
          </a:prstGeom>
          <a:solidFill>
            <a:srgbClr val="D99A2B"/>
          </a:solidFill>
          <a:ln w="0">
            <a:solidFill>
              <a:srgbClr val="D99A2B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3E01F035-FE30-44C6-870B-3B937D4AFC71}"/>
              </a:ext>
            </a:extLst>
          </p:cNvPr>
          <p:cNvSpPr>
            <a:spLocks noGrp="1"/>
          </p:cNvSpPr>
          <p:nvPr/>
        </p:nvSpPr>
        <p:spPr>
          <a:xfrm>
            <a:off x="895350" y="2524125"/>
            <a:ext cx="2705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C0DC0AD6-DA80-40FE-A91D-745BFDE39BB7}"/>
              </a:ext>
            </a:extLst>
          </p:cNvPr>
          <p:cNvSpPr>
            <a:spLocks noGrp="1"/>
          </p:cNvSpPr>
          <p:nvPr/>
        </p:nvSpPr>
        <p:spPr>
          <a:xfrm>
            <a:off x="895350" y="2886075"/>
            <a:ext cx="27051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Web dashboard + AR scanner demo + verification report generator.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="" xmlns:a16="http://schemas.microsoft.com/office/drawing/2014/main" id="{314A00B0-D287-47AE-9267-0AE9ADD900FF}"/>
              </a:ext>
            </a:extLst>
          </p:cNvPr>
          <p:cNvSpPr>
            <a:spLocks noGrp="1"/>
          </p:cNvSpPr>
          <p:nvPr/>
        </p:nvSpPr>
        <p:spPr>
          <a:xfrm>
            <a:off x="4524375" y="2333625"/>
            <a:ext cx="3143250" cy="1762125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92D87E1C-719F-4DD7-A6F8-7B984E528425}"/>
              </a:ext>
            </a:extLst>
          </p:cNvPr>
          <p:cNvSpPr>
            <a:spLocks noGrp="1"/>
          </p:cNvSpPr>
          <p:nvPr/>
        </p:nvSpPr>
        <p:spPr>
          <a:xfrm>
            <a:off x="4524375" y="2333625"/>
            <a:ext cx="66675" cy="1762125"/>
          </a:xfrm>
          <a:prstGeom prst="rect">
            <a:avLst/>
          </a:prstGeom>
          <a:solidFill>
            <a:srgbClr val="E85D4F"/>
          </a:solidFill>
          <a:ln w="0">
            <a:solidFill>
              <a:srgbClr val="E85D4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D7C1F219-0D96-4E0C-B3E8-4122D13831AD}"/>
              </a:ext>
            </a:extLst>
          </p:cNvPr>
          <p:cNvSpPr>
            <a:spLocks noGrp="1"/>
          </p:cNvSpPr>
          <p:nvPr/>
        </p:nvSpPr>
        <p:spPr>
          <a:xfrm>
            <a:off x="4752975" y="2524125"/>
            <a:ext cx="2705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Research output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1E8D3BD-9EAF-4A14-B1CC-D26D16337BDB}"/>
              </a:ext>
            </a:extLst>
          </p:cNvPr>
          <p:cNvSpPr>
            <a:spLocks noGrp="1"/>
          </p:cNvSpPr>
          <p:nvPr/>
        </p:nvSpPr>
        <p:spPr>
          <a:xfrm>
            <a:off x="4752975" y="2886075"/>
            <a:ext cx="27051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Comparative results against baseline models and ablation study for fusion.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="" xmlns:a16="http://schemas.microsoft.com/office/drawing/2014/main" id="{AD768CF5-FED7-456A-AFC8-A3C52CBC0465}"/>
              </a:ext>
            </a:extLst>
          </p:cNvPr>
          <p:cNvSpPr>
            <a:spLocks noGrp="1"/>
          </p:cNvSpPr>
          <p:nvPr/>
        </p:nvSpPr>
        <p:spPr>
          <a:xfrm>
            <a:off x="8382000" y="2333625"/>
            <a:ext cx="3143250" cy="1762125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4FA038D2-5A16-44AC-AFFE-DCC0CA011E23}"/>
              </a:ext>
            </a:extLst>
          </p:cNvPr>
          <p:cNvSpPr>
            <a:spLocks noGrp="1"/>
          </p:cNvSpPr>
          <p:nvPr/>
        </p:nvSpPr>
        <p:spPr>
          <a:xfrm>
            <a:off x="8382000" y="2333625"/>
            <a:ext cx="66675" cy="176212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1BD9217E-0E5E-445A-9039-BDAC1CF43C89}"/>
              </a:ext>
            </a:extLst>
          </p:cNvPr>
          <p:cNvSpPr>
            <a:spLocks noGrp="1"/>
          </p:cNvSpPr>
          <p:nvPr/>
        </p:nvSpPr>
        <p:spPr>
          <a:xfrm>
            <a:off x="8610600" y="2524125"/>
            <a:ext cx="2705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Publication angle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5A3A900D-AD6A-4ABA-BE86-69F25AF79E79}"/>
              </a:ext>
            </a:extLst>
          </p:cNvPr>
          <p:cNvSpPr>
            <a:spLocks noGrp="1"/>
          </p:cNvSpPr>
          <p:nvPr/>
        </p:nvSpPr>
        <p:spPr>
          <a:xfrm>
            <a:off x="8610600" y="2886075"/>
            <a:ext cx="27051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Explainable Bangla multimodal misinformation detection with AR-assisted credibility visualization.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3397361A-DD41-4375-BB23-B9BBBB87651A}"/>
              </a:ext>
            </a:extLst>
          </p:cNvPr>
          <p:cNvSpPr>
            <a:spLocks noGrp="1"/>
          </p:cNvSpPr>
          <p:nvPr/>
        </p:nvSpPr>
        <p:spPr>
          <a:xfrm>
            <a:off x="666750" y="48196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Key references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DC231B3A-5FD5-4B36-80C4-D2EF024A6853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1009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D8F3E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F3EC"/>
                </a:solidFill>
                <a:latin typeface="Aptos"/>
                <a:ea typeface="Aptos"/>
                <a:cs typeface="Aptos"/>
              </a:rPr>
              <a:t>FakeNewsNet (2018), Fakeddit (2019), FaceForensics++ (2019), M-DRUM/HFFN (2024), Factually wearable fact-checking (2025).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7FB9DFD0-5D4E-4DB7-B62E-50FDDE6843DB}"/>
              </a:ext>
            </a:extLst>
          </p:cNvPr>
          <p:cNvSpPr>
            <a:spLocks noGrp="1"/>
          </p:cNvSpPr>
          <p:nvPr/>
        </p:nvSpPr>
        <p:spPr>
          <a:xfrm>
            <a:off x="666750" y="5953125"/>
            <a:ext cx="1009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 decision for supervisor: approve scope for 499A as dataset + baseline + design prototype, with full integration in 499B.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="" xmlns:a16="http://schemas.microsoft.com/office/drawing/2014/main" id="{0FDBC47B-AC04-47A8-A9DB-3FFF9BE1324B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10858500" cy="9525"/>
          </a:xfrm>
          <a:prstGeom prst="line">
            <a:avLst/>
          </a:prstGeom>
          <a:noFill/>
          <a:ln w="9525">
            <a:solidFill>
              <a:srgbClr val="D6E2DF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6E0BAA9F-0560-4472-8D3F-5029E5F926CE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="" xmlns:p14="http://schemas.microsoft.com/office/powerpoint/2010/main" val="2084871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4294967295">
            <a:extLst>
              <a:ext uri="{FF2B5EF4-FFF2-40B4-BE49-F238E27FC236}">
                <a16:creationId xmlns="" xmlns:a16="http://schemas.microsoft.com/office/drawing/2014/main" id="{93401DB7-11DE-454C-9C6B-06ADC38653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7EF"/>
          </a:solidFill>
          <a:ln w="0">
            <a:solidFill>
              <a:srgbClr val="FAF7E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BD04AA6E-9EF9-4F38-98BA-CA596808E9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64E4A"/>
          </a:solidFill>
          <a:ln w="0">
            <a:solidFill>
              <a:srgbClr val="064E4A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F4FCF0BF-7661-4002-B857-944648BAE8F8}"/>
              </a:ext>
            </a:extLst>
          </p:cNvPr>
          <p:cNvSpPr>
            <a:spLocks noGrp="1"/>
          </p:cNvSpPr>
          <p:nvPr/>
        </p:nvSpPr>
        <p:spPr>
          <a:xfrm>
            <a:off x="666750" y="24765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55206165-492A-4A11-82D8-FD1A0F102B60}"/>
              </a:ext>
            </a:extLst>
          </p:cNvPr>
          <p:cNvSpPr>
            <a:spLocks noGrp="1"/>
          </p:cNvSpPr>
          <p:nvPr/>
        </p:nvSpPr>
        <p:spPr>
          <a:xfrm>
            <a:off x="857250" y="1381125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TruthLens AR is a feasible and research-worthy CSE 499 project because it connects a real social problem with AI, computer vision, pattern recognition, explainability and augmented reality.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="" xmlns:a16="http://schemas.microsoft.com/office/drawing/2014/main" id="{C09AC091-00E8-4B1B-B7EB-C6CF95BED1C3}"/>
              </a:ext>
            </a:extLst>
          </p:cNvPr>
          <p:cNvSpPr>
            <a:spLocks noGrp="1"/>
          </p:cNvSpPr>
          <p:nvPr/>
        </p:nvSpPr>
        <p:spPr>
          <a:xfrm>
            <a:off x="857250" y="2667000"/>
            <a:ext cx="31432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27DB0271-A1A7-406B-A1C6-7F885E89CB88}"/>
              </a:ext>
            </a:extLst>
          </p:cNvPr>
          <p:cNvSpPr>
            <a:spLocks noGrp="1"/>
          </p:cNvSpPr>
          <p:nvPr/>
        </p:nvSpPr>
        <p:spPr>
          <a:xfrm>
            <a:off x="857250" y="2667000"/>
            <a:ext cx="314325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010A7EF-1371-4EDB-B311-2D260B8E818D}"/>
              </a:ext>
            </a:extLst>
          </p:cNvPr>
          <p:cNvSpPr>
            <a:spLocks noGrp="1"/>
          </p:cNvSpPr>
          <p:nvPr/>
        </p:nvSpPr>
        <p:spPr>
          <a:xfrm>
            <a:off x="1085850" y="300037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Why it is strong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BB2ED60F-1DC9-4C76-A655-7FB64387D431}"/>
              </a:ext>
            </a:extLst>
          </p:cNvPr>
          <p:cNvSpPr>
            <a:spLocks noGrp="1"/>
          </p:cNvSpPr>
          <p:nvPr/>
        </p:nvSpPr>
        <p:spPr>
          <a:xfrm>
            <a:off x="1123950" y="3476625"/>
            <a:ext cx="2609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It addresses fake news, manipulated images and deepfake media in one practical verification workflow.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="" xmlns:a16="http://schemas.microsoft.com/office/drawing/2014/main" id="{2A43D8C3-2ACA-46E3-B063-9A7E344A3920}"/>
              </a:ext>
            </a:extLst>
          </p:cNvPr>
          <p:cNvSpPr>
            <a:spLocks noGrp="1"/>
          </p:cNvSpPr>
          <p:nvPr/>
        </p:nvSpPr>
        <p:spPr>
          <a:xfrm>
            <a:off x="4619625" y="2667000"/>
            <a:ext cx="31432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C8A9B5AA-72D9-47B6-A7F4-99F25F16C41E}"/>
              </a:ext>
            </a:extLst>
          </p:cNvPr>
          <p:cNvSpPr>
            <a:spLocks noGrp="1"/>
          </p:cNvSpPr>
          <p:nvPr/>
        </p:nvSpPr>
        <p:spPr>
          <a:xfrm>
            <a:off x="4619625" y="2667000"/>
            <a:ext cx="3143250" cy="76200"/>
          </a:xfrm>
          <a:prstGeom prst="rect">
            <a:avLst/>
          </a:prstGeom>
          <a:solidFill>
            <a:srgbClr val="E85D4F"/>
          </a:solidFill>
          <a:ln w="0">
            <a:solidFill>
              <a:srgbClr val="E85D4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ACA0AD2C-8F15-48C4-B61B-D9A8A2C9B344}"/>
              </a:ext>
            </a:extLst>
          </p:cNvPr>
          <p:cNvSpPr>
            <a:spLocks noGrp="1"/>
          </p:cNvSpPr>
          <p:nvPr/>
        </p:nvSpPr>
        <p:spPr>
          <a:xfrm>
            <a:off x="4848225" y="300037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Why it is original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594ACE2E-C6D8-414E-A6AB-E068BCDF1947}"/>
              </a:ext>
            </a:extLst>
          </p:cNvPr>
          <p:cNvSpPr>
            <a:spLocks noGrp="1"/>
          </p:cNvSpPr>
          <p:nvPr/>
        </p:nvSpPr>
        <p:spPr>
          <a:xfrm>
            <a:off x="4886325" y="3476625"/>
            <a:ext cx="2609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Bangla/local dataset, VLM reasoning, evidence report and AR overlay create a clear research gap.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="" xmlns:a16="http://schemas.microsoft.com/office/drawing/2014/main" id="{92906BFB-E2AF-4738-B33B-97DA4AE1836A}"/>
              </a:ext>
            </a:extLst>
          </p:cNvPr>
          <p:cNvSpPr>
            <a:spLocks noGrp="1"/>
          </p:cNvSpPr>
          <p:nvPr/>
        </p:nvSpPr>
        <p:spPr>
          <a:xfrm>
            <a:off x="8382000" y="2667000"/>
            <a:ext cx="31432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6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5311F1A9-055D-48BA-8AD3-15B8B9FA839F}"/>
              </a:ext>
            </a:extLst>
          </p:cNvPr>
          <p:cNvSpPr>
            <a:spLocks noGrp="1"/>
          </p:cNvSpPr>
          <p:nvPr/>
        </p:nvSpPr>
        <p:spPr>
          <a:xfrm>
            <a:off x="8382000" y="2667000"/>
            <a:ext cx="3143250" cy="76200"/>
          </a:xfrm>
          <a:prstGeom prst="rect">
            <a:avLst/>
          </a:prstGeom>
          <a:solidFill>
            <a:srgbClr val="D99A2B"/>
          </a:solidFill>
          <a:ln w="0">
            <a:solidFill>
              <a:srgbClr val="D99A2B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56963C6C-8772-41F8-A2F8-EC114FD4320B}"/>
              </a:ext>
            </a:extLst>
          </p:cNvPr>
          <p:cNvSpPr>
            <a:spLocks noGrp="1"/>
          </p:cNvSpPr>
          <p:nvPr/>
        </p:nvSpPr>
        <p:spPr>
          <a:xfrm>
            <a:off x="8610600" y="300037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27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72B"/>
                </a:solidFill>
                <a:latin typeface="Aptos"/>
                <a:ea typeface="Aptos"/>
                <a:cs typeface="Aptos"/>
              </a:rPr>
              <a:t>Why it is feasible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D169534A-9F01-485D-9385-519E57F87409}"/>
              </a:ext>
            </a:extLst>
          </p:cNvPr>
          <p:cNvSpPr>
            <a:spLocks noGrp="1"/>
          </p:cNvSpPr>
          <p:nvPr/>
        </p:nvSpPr>
        <p:spPr>
          <a:xfrm>
            <a:off x="8648700" y="3476625"/>
            <a:ext cx="2609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499A handles dataset, literature review and baselines; 499B completes fusion, dashboard, AR and evaluation.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="" xmlns:a16="http://schemas.microsoft.com/office/drawing/2014/main" id="{DDB257CD-C448-4D7F-A191-04BB6B7C5B25}"/>
              </a:ext>
            </a:extLst>
          </p:cNvPr>
          <p:cNvSpPr>
            <a:spLocks noGrp="1"/>
          </p:cNvSpPr>
          <p:nvPr/>
        </p:nvSpPr>
        <p:spPr>
          <a:xfrm>
            <a:off x="1428750" y="5191125"/>
            <a:ext cx="9334500" cy="552450"/>
          </a:xfrm>
          <a:prstGeom prst="roundRect">
            <a:avLst>
              <a:gd name="adj" fmla="val 13793"/>
            </a:avLst>
          </a:prstGeom>
          <a:solidFill>
            <a:srgbClr val="064E4A"/>
          </a:solidFill>
          <a:ln w="0">
            <a:solidFill>
              <a:srgbClr val="064E4A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B9435A5F-580F-44FF-A4D6-E53F26CED58A}"/>
              </a:ext>
            </a:extLst>
          </p:cNvPr>
          <p:cNvSpPr>
            <a:spLocks noGrp="1"/>
          </p:cNvSpPr>
          <p:nvPr/>
        </p:nvSpPr>
        <p:spPr>
          <a:xfrm>
            <a:off x="1762125" y="5362575"/>
            <a:ext cx="866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Supervisor approval request: approve 499A scope as literature review, dataset plan, baselines and prototype.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="" xmlns:a16="http://schemas.microsoft.com/office/drawing/2014/main" id="{C06CFFBD-ACF0-480C-9A9E-DDAA3D2A0E72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10858500" cy="9525"/>
          </a:xfrm>
          <a:prstGeom prst="line">
            <a:avLst/>
          </a:prstGeom>
          <a:noFill/>
          <a:ln w="9525">
            <a:solidFill>
              <a:srgbClr val="D6E2D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F2DB5725-0353-4D16-BA74-E3E55BFA79C9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="" xmlns:p14="http://schemas.microsoft.com/office/powerpoint/2010/main" val="2030253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1526</Words>
  <Application>Walnut Exporter</Application>
  <DocSecurity>0</DocSecurity>
  <PresentationFormat>Custom</PresentationFormat>
  <Paragraphs>259</Paragraphs>
  <Slides>15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ChatGPT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SUBROTO GHOSH</cp:lastModifiedBy>
  <cp:revision>5</cp:revision>
  <dcterms:created xsi:type="dcterms:W3CDTF">2026-06-23T10:12:17Z</dcterms:created>
  <dcterms:modified xsi:type="dcterms:W3CDTF">2026-06-23T19:06:46Z</dcterms:modified>
</cp:coreProperties>
</file>