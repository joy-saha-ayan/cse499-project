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67" r:id="rId13"/>
    <p:sldId id="269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642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617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754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492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026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742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89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28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4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266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85624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97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934766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8739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0233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096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321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304.08485" TargetMode="External"/><Relationship Id="rId3" Type="http://schemas.openxmlformats.org/officeDocument/2006/relationships/hyperlink" Target="https://ieeexplore.ieee.org/document/10021572" TargetMode="External"/><Relationship Id="rId7" Type="http://schemas.openxmlformats.org/officeDocument/2006/relationships/hyperlink" Target="https://arxiv.org/abs/2301.12597" TargetMode="External"/><Relationship Id="rId2" Type="http://schemas.openxmlformats.org/officeDocument/2006/relationships/hyperlink" Target="https://aclanthology.org/2020.coling-main.98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103.00020" TargetMode="External"/><Relationship Id="rId5" Type="http://schemas.openxmlformats.org/officeDocument/2006/relationships/hyperlink" Target="https://aclanthology.org/P17-2067/" TargetMode="External"/><Relationship Id="rId10" Type="http://schemas.openxmlformats.org/officeDocument/2006/relationships/hyperlink" Target="https://ieeexplore.ieee.org/document/258082" TargetMode="External"/><Relationship Id="rId4" Type="http://schemas.openxmlformats.org/officeDocument/2006/relationships/hyperlink" Target="https://ieeexplore.ieee.org/document/9847543" TargetMode="External"/><Relationship Id="rId9" Type="http://schemas.openxmlformats.org/officeDocument/2006/relationships/hyperlink" Target="https://developers.google.com/a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70781"/>
            <a:ext cx="7772400" cy="1593409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TruthLens AR</a:t>
            </a:r>
            <a:br>
              <a:rPr lang="en-US" b="1" dirty="0"/>
            </a:br>
            <a:r>
              <a:rPr lang="en-US" sz="2000" b="1" dirty="0"/>
              <a:t>Bangla Multimodal Fake News, Image &amp; Deepfake Detection Using Vision-Language Models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064190"/>
            <a:ext cx="7086600" cy="4137434"/>
          </a:xfrm>
        </p:spPr>
        <p:txBody>
          <a:bodyPr>
            <a:normAutofit/>
          </a:bodyPr>
          <a:lstStyle/>
          <a:p>
            <a:endParaRPr b="1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Berlin Sans FB" panose="020E0602020502020306" pitchFamily="34" charset="0"/>
              </a:rPr>
              <a:t>Prepared By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Berlin Sans FB" panose="020E0602020502020306" pitchFamily="34" charset="0"/>
              </a:rPr>
              <a:t>Anas Ahmed 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Berlin Sans FB" panose="020E0602020502020306" pitchFamily="34" charset="0"/>
              </a:rPr>
              <a:t>Subroto Ghosh 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Berlin Sans FB" panose="020E0602020502020306" pitchFamily="34" charset="0"/>
              </a:rPr>
              <a:t>Joy Saha 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Berlin Sans FB" panose="020E0602020502020306" pitchFamily="34" charset="0"/>
              </a:rPr>
              <a:t>Md. </a:t>
            </a:r>
            <a:r>
              <a:rPr lang="en-US" dirty="0">
                <a:solidFill>
                  <a:schemeClr val="tx1"/>
                </a:solidFill>
                <a:latin typeface="Berlin Sans FB" panose="020E0602020502020306" pitchFamily="34" charset="0"/>
              </a:rPr>
              <a:t>Abu Sufian Protik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Berlin Sans FB" panose="020E0602020502020306" pitchFamily="34" charset="0"/>
              </a:rPr>
              <a:t>Supervisor</a:t>
            </a:r>
            <a:br>
              <a:rPr lang="en-US" dirty="0">
                <a:solidFill>
                  <a:schemeClr val="tx1"/>
                </a:solidFill>
                <a:latin typeface="Berlin Sans FB" panose="020E0602020502020306" pitchFamily="34" charset="0"/>
              </a:rPr>
            </a:br>
            <a:r>
              <a:rPr lang="en-US" dirty="0">
                <a:solidFill>
                  <a:schemeClr val="tx1"/>
                </a:solidFill>
                <a:latin typeface="Berlin Sans FB" panose="020E0602020502020306" pitchFamily="34" charset="0"/>
              </a:rPr>
              <a:t>Dr. Mohammad Shifat-E-Rabbi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6661" y="615636"/>
            <a:ext cx="5621606" cy="1032095"/>
          </a:xfrm>
        </p:spPr>
        <p:txBody>
          <a:bodyPr/>
          <a:lstStyle/>
          <a:p>
            <a:r>
              <a:rPr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339912"/>
            <a:ext cx="8257515" cy="5323438"/>
          </a:xfrm>
        </p:spPr>
        <p:txBody>
          <a:bodyPr>
            <a:normAutofit/>
          </a:bodyPr>
          <a:lstStyle/>
          <a:p>
            <a:endParaRPr dirty="0"/>
          </a:p>
          <a:p>
            <a:pPr marL="0" indent="0">
              <a:buNone/>
            </a:pPr>
            <a:r>
              <a:rPr lang="en-US" b="1" dirty="0">
                <a:latin typeface="Arial Black" panose="020B0A04020102020204" pitchFamily="34" charset="0"/>
              </a:rPr>
              <a:t>Background</a:t>
            </a:r>
          </a:p>
          <a:p>
            <a:r>
              <a:rPr lang="en-US" b="1" dirty="0"/>
              <a:t>Fake news and manipulated media are spreading rapidly across social media platforms. </a:t>
            </a:r>
          </a:p>
          <a:p>
            <a:r>
              <a:rPr lang="en-US" b="1" dirty="0"/>
              <a:t>Existing fact-checking systems mainly support English. </a:t>
            </a:r>
          </a:p>
          <a:p>
            <a:r>
              <a:rPr lang="en-US" b="1" dirty="0"/>
              <a:t>Bangla remains a low-resource language with limited datasets and tools. </a:t>
            </a:r>
          </a:p>
          <a:p>
            <a:r>
              <a:rPr lang="en-US" b="1" dirty="0"/>
              <a:t>Modern misinformation combines text, images, and deep fake content, making detection more challenging. </a:t>
            </a:r>
          </a:p>
          <a:p>
            <a:pPr marL="0" indent="0">
              <a:buNone/>
            </a:pPr>
            <a:r>
              <a:rPr lang="en-US" b="1" dirty="0">
                <a:latin typeface="Arial Black" panose="020B0A04020102020204" pitchFamily="34" charset="0"/>
              </a:rPr>
              <a:t>Proposed Solution</a:t>
            </a:r>
          </a:p>
          <a:p>
            <a:r>
              <a:rPr lang="en-US" b="1" dirty="0"/>
              <a:t>Truth Lens introduces an AR-based multimodal verification system that combines Vision Language Models (VLMs), Bangla NLP, and Google ARCore to detect misinformation in real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96" y="1222218"/>
            <a:ext cx="8193385" cy="68278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Develop an intelligent AR application capable of detecting Bangla fake news, manipulated images, and deep fake content in real time.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70368" y="2318442"/>
            <a:ext cx="7260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2796" y="2833735"/>
            <a:ext cx="8347295" cy="20313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Current Challenges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Bangla language has limited fake news datasets.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Existing systems focus only on text.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Image manipulation and caption swapping are ignored.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Deepfake media increases misinformation.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Manual fact-checking is slow and inconvenient.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0037" y="624110"/>
            <a:ext cx="7004364" cy="1280890"/>
          </a:xfrm>
        </p:spPr>
        <p:txBody>
          <a:bodyPr/>
          <a:lstStyle/>
          <a:p>
            <a:r>
              <a:rPr b="1" dirty="0"/>
              <a:t>Literature Review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8599" y="2133600"/>
            <a:ext cx="7755802" cy="377762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literature review focuses on five major research areas:</a:t>
            </a:r>
          </a:p>
          <a:p>
            <a:r>
              <a:rPr lang="en-US" dirty="0"/>
              <a:t>Fake News Detection </a:t>
            </a:r>
          </a:p>
          <a:p>
            <a:r>
              <a:rPr lang="en-US" dirty="0"/>
              <a:t>Dataset-Based Approaches </a:t>
            </a:r>
          </a:p>
          <a:p>
            <a:r>
              <a:rPr lang="en-US" dirty="0"/>
              <a:t>Technical Bottlenecks </a:t>
            </a:r>
          </a:p>
          <a:p>
            <a:r>
              <a:rPr lang="en-US" dirty="0"/>
              <a:t>Vision Language Models </a:t>
            </a:r>
          </a:p>
          <a:p>
            <a:r>
              <a:rPr lang="en-US" dirty="0"/>
              <a:t>Spatial Computing using ARCore </a:t>
            </a:r>
          </a:p>
          <a:p>
            <a:pPr marL="0" indent="0">
              <a:buNone/>
            </a:pPr>
            <a:r>
              <a:rPr lang="en-US" dirty="0"/>
              <a:t>These studies highlight current achievements and identify research gaps addressed by TruthLens.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1105" y="624110"/>
            <a:ext cx="6823295" cy="1280890"/>
          </a:xfrm>
        </p:spPr>
        <p:txBody>
          <a:bodyPr/>
          <a:lstStyle/>
          <a:p>
            <a:r>
              <a:rPr dirty="0"/>
              <a:t>Dataset-based Approaches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4259163"/>
              </p:ext>
            </p:extLst>
          </p:nvPr>
        </p:nvGraphicFramePr>
        <p:xfrm>
          <a:off x="679011" y="2127564"/>
          <a:ext cx="7855389" cy="3495361"/>
        </p:xfrm>
        <a:graphic>
          <a:graphicData uri="http://schemas.openxmlformats.org/drawingml/2006/table">
            <a:tbl>
              <a:tblPr/>
              <a:tblGrid>
                <a:gridCol w="2618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8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8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9470">
                <a:tc>
                  <a:txBody>
                    <a:bodyPr/>
                    <a:lstStyle/>
                    <a:p>
                      <a:r>
                        <a:rPr lang="en-US" dirty="0"/>
                        <a:t>Dataset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Limitation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9072">
                <a:tc>
                  <a:txBody>
                    <a:bodyPr/>
                    <a:lstStyle/>
                    <a:p>
                      <a:r>
                        <a:rPr lang="en-US"/>
                        <a:t>LIAR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English political claims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 multimodal 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9072">
                <a:tc>
                  <a:txBody>
                    <a:bodyPr/>
                    <a:lstStyle/>
                    <a:p>
                      <a:r>
                        <a:rPr lang="en-US"/>
                        <a:t>BanFakeNews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Bangla online news articles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Text 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9072">
                <a:tc>
                  <a:txBody>
                    <a:bodyPr/>
                    <a:lstStyle/>
                    <a:p>
                      <a:r>
                        <a:rPr lang="en-US" dirty="0"/>
                        <a:t>BanMANI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Bangla social media posts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 real-time verification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8675">
                <a:tc>
                  <a:txBody>
                    <a:bodyPr/>
                    <a:lstStyle/>
                    <a:p>
                      <a:r>
                        <a:rPr lang="en-US"/>
                        <a:t>BanFakeNews 2.0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Expanded Bangla dataset using LLMs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 inference latency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234" y="624689"/>
            <a:ext cx="7140166" cy="733331"/>
          </a:xfrm>
        </p:spPr>
        <p:txBody>
          <a:bodyPr/>
          <a:lstStyle/>
          <a:p>
            <a:r>
              <a:rPr b="1" dirty="0"/>
              <a:t>Technical Bottlenecks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7651" y="2133600"/>
            <a:ext cx="7746749" cy="377762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Major Issues</a:t>
            </a:r>
          </a:p>
          <a:p>
            <a:r>
              <a:rPr lang="en-US" dirty="0"/>
              <a:t>Highly imbalanced datasets </a:t>
            </a:r>
          </a:p>
          <a:p>
            <a:r>
              <a:rPr lang="en-US" dirty="0"/>
              <a:t>Majority of samples are authentic news </a:t>
            </a:r>
          </a:p>
          <a:p>
            <a:r>
              <a:rPr lang="en-US" dirty="0"/>
              <a:t>High false-negative rate </a:t>
            </a:r>
          </a:p>
          <a:p>
            <a:r>
              <a:rPr lang="en-US" dirty="0"/>
              <a:t>Poor generalization </a:t>
            </a:r>
          </a:p>
          <a:p>
            <a:pPr marL="0" indent="0">
              <a:buNone/>
            </a:pPr>
            <a:r>
              <a:rPr lang="en-US" b="1" dirty="0"/>
              <a:t>Existing Solutions</a:t>
            </a:r>
          </a:p>
          <a:p>
            <a:r>
              <a:rPr lang="en-US" dirty="0"/>
              <a:t>SMOTE Oversampling </a:t>
            </a:r>
          </a:p>
          <a:p>
            <a:r>
              <a:rPr lang="en-US" dirty="0"/>
              <a:t>Ensemble Learning </a:t>
            </a:r>
          </a:p>
          <a:p>
            <a:r>
              <a:rPr lang="en-US" dirty="0"/>
              <a:t>Stacking Models </a:t>
            </a:r>
          </a:p>
          <a:p>
            <a:r>
              <a:rPr lang="en-US" dirty="0"/>
              <a:t>Transformer-based classifiers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88064" y="1764268"/>
            <a:ext cx="4934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Challenges in Existing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234" y="688062"/>
            <a:ext cx="7140166" cy="497941"/>
          </a:xfrm>
        </p:spPr>
        <p:txBody>
          <a:bodyPr>
            <a:normAutofit fontScale="90000"/>
          </a:bodyPr>
          <a:lstStyle/>
          <a:p>
            <a:r>
              <a:rPr b="1" dirty="0"/>
              <a:t>Methodological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6995" y="1348967"/>
            <a:ext cx="8027406" cy="5314384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b="1" dirty="0"/>
              <a:t>Limitations</a:t>
            </a:r>
            <a:endParaRPr lang="en-US" dirty="0"/>
          </a:p>
          <a:p>
            <a:r>
              <a:rPr lang="en-US" dirty="0"/>
              <a:t>Cannot understand semantic meaning </a:t>
            </a:r>
          </a:p>
          <a:p>
            <a:r>
              <a:rPr lang="en-US" dirty="0"/>
              <a:t>Weak performance on sarcasm and context </a:t>
            </a:r>
          </a:p>
          <a:p>
            <a:pPr marL="0" indent="0">
              <a:buNone/>
            </a:pPr>
            <a:r>
              <a:rPr lang="en-US" b="1" dirty="0"/>
              <a:t>Deep Learning</a:t>
            </a:r>
          </a:p>
          <a:p>
            <a:r>
              <a:rPr lang="en-US" dirty="0"/>
              <a:t>Transformer Models </a:t>
            </a:r>
          </a:p>
          <a:p>
            <a:r>
              <a:rPr lang="en-US" dirty="0"/>
              <a:t>Large Language Models </a:t>
            </a:r>
          </a:p>
          <a:p>
            <a:r>
              <a:rPr lang="en-US" dirty="0"/>
              <a:t>Contextual </a:t>
            </a:r>
            <a:r>
              <a:rPr lang="en-US" dirty="0" err="1"/>
              <a:t>Embeddings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b="1" dirty="0"/>
              <a:t>Advantages</a:t>
            </a:r>
            <a:endParaRPr lang="en-US" dirty="0"/>
          </a:p>
          <a:p>
            <a:r>
              <a:rPr lang="en-US" dirty="0"/>
              <a:t>Better semantic understanding </a:t>
            </a:r>
          </a:p>
          <a:p>
            <a:r>
              <a:rPr lang="en-US" dirty="0"/>
              <a:t>Improved Bangla language processing </a:t>
            </a:r>
          </a:p>
          <a:p>
            <a:r>
              <a:rPr lang="en-US" dirty="0"/>
              <a:t>Higher classification accuracy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Vision Language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5637" y="2133599"/>
            <a:ext cx="7918764" cy="439394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Vision Language Models (VLMs)</a:t>
            </a:r>
          </a:p>
          <a:p>
            <a:pPr marL="0" indent="0">
              <a:buNone/>
            </a:pPr>
            <a:r>
              <a:rPr lang="en-US" b="1" dirty="0"/>
              <a:t>CLIP(Contrastive Language–Image Pre-training</a:t>
            </a:r>
            <a:r>
              <a:rPr lang="en-US" dirty="0"/>
              <a:t>.)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Strengths</a:t>
            </a:r>
            <a:endParaRPr lang="en-US" dirty="0"/>
          </a:p>
          <a:p>
            <a:r>
              <a:rPr lang="en-US" dirty="0"/>
              <a:t>Excellent image-text matching </a:t>
            </a:r>
          </a:p>
          <a:p>
            <a:r>
              <a:rPr lang="en-US" dirty="0"/>
              <a:t>Strong zero-shot learning </a:t>
            </a:r>
          </a:p>
          <a:p>
            <a:pPr marL="0" indent="0">
              <a:buNone/>
            </a:pPr>
            <a:r>
              <a:rPr lang="en-US" b="1" dirty="0"/>
              <a:t>Weakness</a:t>
            </a:r>
            <a:endParaRPr lang="en-US" dirty="0"/>
          </a:p>
          <a:p>
            <a:r>
              <a:rPr lang="en-US" dirty="0"/>
              <a:t>Cannot perform logical reasoning</a:t>
            </a:r>
          </a:p>
          <a:p>
            <a:pPr marL="0" indent="0">
              <a:buNone/>
            </a:pPr>
            <a:r>
              <a:rPr lang="en-US" b="1" dirty="0"/>
              <a:t>BLIP-2(Bootstrapping Language-Image Pre-training 2</a:t>
            </a:r>
            <a:r>
              <a:rPr lang="en-US" dirty="0"/>
              <a:t>.)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Strengths</a:t>
            </a:r>
            <a:endParaRPr lang="en-US" dirty="0"/>
          </a:p>
          <a:p>
            <a:r>
              <a:rPr lang="en-US" dirty="0"/>
              <a:t>Efficient multimodal learning </a:t>
            </a:r>
          </a:p>
          <a:p>
            <a:r>
              <a:rPr lang="en-US" dirty="0"/>
              <a:t>Parameter-efficient architecture </a:t>
            </a:r>
          </a:p>
          <a:p>
            <a:pPr marL="0" indent="0">
              <a:buNone/>
            </a:pPr>
            <a:r>
              <a:rPr lang="en-US" b="1" dirty="0"/>
              <a:t>Weakness</a:t>
            </a:r>
            <a:endParaRPr lang="en-US" dirty="0"/>
          </a:p>
          <a:p>
            <a:r>
              <a:rPr lang="en-US" dirty="0"/>
              <a:t>High inference latency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Spatial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621" y="2133600"/>
            <a:ext cx="8090780" cy="377762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Google ARCore</a:t>
            </a:r>
          </a:p>
          <a:p>
            <a:pPr marL="0" indent="0">
              <a:buNone/>
            </a:pPr>
            <a:r>
              <a:rPr lang="en-US" dirty="0"/>
              <a:t>TruthLens uses Google ARCore for Augmented Reality visualization.</a:t>
            </a:r>
          </a:p>
          <a:p>
            <a:pPr marL="0" indent="0">
              <a:buNone/>
            </a:pPr>
            <a:r>
              <a:rPr lang="en-US" b="1" dirty="0"/>
              <a:t>ARCore Features</a:t>
            </a:r>
          </a:p>
          <a:p>
            <a:r>
              <a:rPr lang="en-US" dirty="0"/>
              <a:t>Simultaneous Localization and Mapping (SLAM) </a:t>
            </a:r>
          </a:p>
          <a:p>
            <a:r>
              <a:rPr lang="en-US" dirty="0"/>
              <a:t>Plane Detection </a:t>
            </a:r>
          </a:p>
          <a:p>
            <a:r>
              <a:rPr lang="en-US" dirty="0"/>
              <a:t>Environmental Understanding </a:t>
            </a:r>
          </a:p>
          <a:p>
            <a:r>
              <a:rPr lang="en-US" dirty="0"/>
              <a:t>Light Estimation </a:t>
            </a:r>
          </a:p>
          <a:p>
            <a:pPr marL="0" indent="0">
              <a:buNone/>
            </a:pPr>
            <a:r>
              <a:rPr lang="en-US" dirty="0"/>
              <a:t>These features allow verification results to remain fixed on real-world objects.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769" y="624110"/>
            <a:ext cx="6627136" cy="1123741"/>
          </a:xfrm>
        </p:spPr>
        <p:txBody>
          <a:bodyPr/>
          <a:lstStyle/>
          <a:p>
            <a:r>
              <a:rPr b="1" dirty="0"/>
              <a:t>Research Gaps</a:t>
            </a: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0" y="1547797"/>
            <a:ext cx="234360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97941" y="1747851"/>
            <a:ext cx="803645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Gap 1</a:t>
            </a:r>
          </a:p>
          <a:p>
            <a:r>
              <a:rPr lang="en-US" dirty="0"/>
              <a:t>High-performance Vision Language Models are mostly trained for English.</a:t>
            </a:r>
          </a:p>
          <a:p>
            <a:r>
              <a:rPr lang="en-US" b="1" dirty="0"/>
              <a:t>Gap 2</a:t>
            </a:r>
          </a:p>
          <a:p>
            <a:r>
              <a:rPr lang="en-US" dirty="0"/>
              <a:t>Bangla fake news systems only analyze text.</a:t>
            </a:r>
          </a:p>
          <a:p>
            <a:r>
              <a:rPr lang="en-US" b="1" dirty="0"/>
              <a:t>Gap 3</a:t>
            </a:r>
          </a:p>
          <a:p>
            <a:r>
              <a:rPr lang="en-US" dirty="0"/>
              <a:t>Existing fact-checking platforms require manual searching and verification.</a:t>
            </a:r>
          </a:p>
          <a:p>
            <a:r>
              <a:rPr lang="en-US" b="1" dirty="0"/>
              <a:t>Gap 4</a:t>
            </a:r>
          </a:p>
          <a:p>
            <a:r>
              <a:rPr lang="en-US" dirty="0"/>
              <a:t>No system combines Bangla NLP, Vision Language Models, and Augmented Reality into one application.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870" y="0"/>
            <a:ext cx="8718487" cy="488887"/>
          </a:xfrm>
        </p:spPr>
        <p:txBody>
          <a:bodyPr>
            <a:normAutofit/>
          </a:bodyPr>
          <a:lstStyle/>
          <a:p>
            <a:r>
              <a:rPr lang="en-US" sz="1800" b="1" dirty="0"/>
              <a:t>Literature Review Summary and Research Gap Analysis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3145301"/>
              </p:ext>
            </p:extLst>
          </p:nvPr>
        </p:nvGraphicFramePr>
        <p:xfrm>
          <a:off x="1394236" y="1466850"/>
          <a:ext cx="4030760" cy="5266907"/>
        </p:xfrm>
        <a:graphic>
          <a:graphicData uri="http://schemas.openxmlformats.org/drawingml/2006/table">
            <a:tbl>
              <a:tblPr/>
              <a:tblGrid>
                <a:gridCol w="1007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76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706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21707" marR="21707" marT="10853" marB="1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21707" marR="21707" marT="10853" marB="1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21707" marR="21707" marT="10853" marB="1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21707" marR="21707" marT="10853" marB="1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91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21707" marR="21707" marT="10853" marB="1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21707" marR="21707" marT="10853" marB="1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21707" marR="21707" marT="10853" marB="1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21707" marR="21707" marT="10853" marB="1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91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21707" marR="21707" marT="10853" marB="1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21707" marR="21707" marT="10853" marB="1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21707" marR="21707" marT="10853" marB="1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21707" marR="21707" marT="10853" marB="1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803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21707" marR="21707" marT="10853" marB="1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21707" marR="21707" marT="10853" marB="1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21707" marR="21707" marT="10853" marB="1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21707" marR="21707" marT="10853" marB="1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79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21707" marR="21707" marT="10853" marB="1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21707" marR="21707" marT="10853" marB="1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21707" marR="21707" marT="10853" marB="1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21707" marR="21707" marT="10853" marB="1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803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21707" marR="21707" marT="10853" marB="1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21707" marR="21707" marT="10853" marB="1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21707" marR="21707" marT="10853" marB="1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21707" marR="21707" marT="10853" marB="1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291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21707" marR="21707" marT="10853" marB="1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21707" marR="21707" marT="10853" marB="1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21707" marR="21707" marT="10853" marB="1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21707" marR="21707" marT="10853" marB="1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6827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21707" marR="21707" marT="10853" marB="1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21707" marR="21707" marT="10853" marB="1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21707" marR="21707" marT="10853" marB="1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21707" marR="21707" marT="10853" marB="1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00089"/>
              </p:ext>
            </p:extLst>
          </p:nvPr>
        </p:nvGraphicFramePr>
        <p:xfrm>
          <a:off x="197962" y="688158"/>
          <a:ext cx="8718486" cy="59577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9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4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4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718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909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Ref.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Work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Technology/Method</a:t>
                      </a:r>
                      <a:r>
                        <a:rPr lang="en-US" sz="1200" baseline="0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Used</a:t>
                      </a:r>
                      <a:endParaRPr lang="en-US" sz="120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548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BanFakeNews</a:t>
                      </a:r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A Dataset for Detecting Fake News in Bangla (Hossain et al., 2020)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Bangla Fake News Dataset, Machine Learning (TF-IDF, SVM, Random Forest)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analyzes text; no image or multimodal verification; limited contextual understanding.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956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BanMANI: A Dataset for Manipulated Social Media News Detection in Bangla (</a:t>
                      </a:r>
                      <a:r>
                        <a:rPr lang="en-US" sz="12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Kamruzzaman</a:t>
                      </a:r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al., 2023)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Social Media Dataset, Transformer-based NLP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Detects manipulated posts but lacks real-time verification, image analysis, and AR-based visualization.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1143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BanFakeNews-2.0: </a:t>
                      </a:r>
                      <a:r>
                        <a:rPr lang="fr-FR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Generative</a:t>
                      </a:r>
                      <a:r>
                        <a:rPr lang="fr-F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Augmentation and Transformer Ensembles (</a:t>
                      </a:r>
                      <a:r>
                        <a:rPr lang="fr-FR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Shibu</a:t>
                      </a:r>
                      <a:r>
                        <a:rPr lang="fr-F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al., 2025)</a:t>
                      </a:r>
                    </a:p>
                    <a:p>
                      <a:pPr algn="just"/>
                      <a:endParaRPr lang="en-US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Augmentation, Transformer </a:t>
                      </a:r>
                      <a:r>
                        <a:rPr lang="fr-FR" sz="12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Models</a:t>
                      </a:r>
                      <a:r>
                        <a:rPr lang="fr-FR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Large </a:t>
                      </a:r>
                      <a:r>
                        <a:rPr lang="fr-FR" sz="12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Language</a:t>
                      </a:r>
                      <a:r>
                        <a:rPr lang="fr-FR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12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Models</a:t>
                      </a:r>
                      <a:r>
                        <a:rPr lang="fr-FR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fr-FR" sz="12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LLMs</a:t>
                      </a:r>
                      <a:r>
                        <a:rPr lang="fr-FR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text classification but has high computational cost and does not support multimodal or mobile deployment.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548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Mitigating Data </a:t>
                      </a:r>
                      <a:r>
                        <a:rPr lang="en-US" sz="12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Skewness</a:t>
                      </a:r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 Bangla Misinformation Classifiers (Hossain et al., 2022)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SMOTE, Ensemble Learning, Stacking Classifiers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Solves class imbalance but remains text-centric and cannot verify manipulated images or videos.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548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[5]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LIAR: A Benchmark Dataset for Fake News Detection (Wang, 2017)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English Fake News Dataset, Machine Learning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Benchmark is English-only and unsuitable for Bangla language and multimodal misinformation detection.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4956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[6]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CLIP: Learning Transferable Visual Models from Natural Language Supervision (Radford et al., 2021)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Vision-Language Model (Contrastive Learning)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Performs image-text matching but cannot verify factual correctness or provide reasoning for misinformation.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11143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[7]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BLIP-2: Bootstrapping Language-Image Pre-training (Li et al., 2023)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Vision Encoder + Q-Former + Large </a:t>
                      </a:r>
                      <a:r>
                        <a:rPr lang="fr-FR" sz="12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Language</a:t>
                      </a:r>
                      <a:r>
                        <a:rPr lang="fr-FR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Model</a:t>
                      </a:r>
                      <a:endParaRPr lang="en-US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multimodal reasoning but suffers from high inference latency and is computationally expensive for mobile devices.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8757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Expected Results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42937" y="2435369"/>
            <a:ext cx="7459914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fake news detection accuracy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image manipulation detection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Deepfake identification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 fact-checking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public awareness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misinformation spread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0983" y="624110"/>
            <a:ext cx="7013418" cy="1280890"/>
          </a:xfrm>
        </p:spPr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063" y="1905000"/>
            <a:ext cx="7846337" cy="400622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TruthLens introduces a novel approach that combines:</a:t>
            </a:r>
          </a:p>
          <a:p>
            <a:r>
              <a:rPr lang="en-US" dirty="0"/>
              <a:t>Bangla NLP </a:t>
            </a:r>
          </a:p>
          <a:p>
            <a:r>
              <a:rPr lang="en-US" dirty="0"/>
              <a:t>Vision Language Models </a:t>
            </a:r>
          </a:p>
          <a:p>
            <a:r>
              <a:rPr lang="en-US" dirty="0"/>
              <a:t>Google ARCore </a:t>
            </a:r>
          </a:p>
          <a:p>
            <a:r>
              <a:rPr lang="en-US" dirty="0"/>
              <a:t>Explainable AI </a:t>
            </a:r>
          </a:p>
          <a:p>
            <a:pPr marL="0" indent="0">
              <a:buNone/>
            </a:pPr>
            <a:r>
              <a:rPr lang="en-US" dirty="0"/>
              <a:t>to provide real-time multimodal fake news detection through an Augmented Reality interface.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690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3287" y="606582"/>
            <a:ext cx="7131113" cy="1298418"/>
          </a:xfrm>
        </p:spPr>
        <p:txBody>
          <a:bodyPr/>
          <a:lstStyle/>
          <a:p>
            <a:r>
              <a:rPr b="1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048" y="1385180"/>
            <a:ext cx="8256759" cy="5151422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Arial Black" panose="020B0A04020102020204" pitchFamily="34" charset="0"/>
              </a:rPr>
              <a:t>1.BanFakeNews (ACL 2020) </a:t>
            </a:r>
          </a:p>
          <a:p>
            <a:pPr marL="0" indent="0">
              <a:buNone/>
            </a:pPr>
            <a:r>
              <a:rPr lang="en-US" b="1" dirty="0">
                <a:latin typeface="Arial Black" panose="020B0A04020102020204" pitchFamily="34" charset="0"/>
              </a:rPr>
              <a:t>2.BanMANI (IEEE TCSS 2023) </a:t>
            </a:r>
          </a:p>
          <a:p>
            <a:pPr marL="0" indent="0">
              <a:buNone/>
            </a:pPr>
            <a:r>
              <a:rPr lang="en-US" b="1" dirty="0">
                <a:latin typeface="Arial Black" panose="020B0A04020102020204" pitchFamily="34" charset="0"/>
              </a:rPr>
              <a:t>3.BanFakeNews-2.0 (2025) </a:t>
            </a:r>
          </a:p>
          <a:p>
            <a:pPr marL="0" indent="0">
              <a:buNone/>
            </a:pPr>
            <a:r>
              <a:rPr lang="en-US" b="1" dirty="0">
                <a:latin typeface="Arial Black" panose="020B0A04020102020204" pitchFamily="34" charset="0"/>
              </a:rPr>
              <a:t>4.Ensemble Stacking Frameworks (IEEE Access 2022) </a:t>
            </a:r>
          </a:p>
          <a:p>
            <a:pPr marL="0" indent="0">
              <a:buNone/>
            </a:pPr>
            <a:r>
              <a:rPr lang="en-US" b="1" dirty="0">
                <a:latin typeface="Arial Black" panose="020B0A04020102020204" pitchFamily="34" charset="0"/>
              </a:rPr>
              <a:t>5.LIAR Dataset (ACL 2017) </a:t>
            </a:r>
          </a:p>
          <a:p>
            <a:pPr marL="0" indent="0">
              <a:buNone/>
            </a:pPr>
            <a:r>
              <a:rPr lang="en-US" b="1" dirty="0">
                <a:latin typeface="Arial Black" panose="020B0A04020102020204" pitchFamily="34" charset="0"/>
              </a:rPr>
              <a:t>6.CLIP (ICML 2021) </a:t>
            </a:r>
          </a:p>
          <a:p>
            <a:pPr marL="0" indent="0">
              <a:buNone/>
            </a:pPr>
            <a:r>
              <a:rPr lang="en-US" b="1" dirty="0">
                <a:latin typeface="Arial Black" panose="020B0A04020102020204" pitchFamily="34" charset="0"/>
              </a:rPr>
              <a:t>7.BLIP-2 (2023) </a:t>
            </a:r>
          </a:p>
          <a:p>
            <a:pPr marL="0" indent="0">
              <a:buNone/>
            </a:pPr>
            <a:r>
              <a:rPr lang="en-US" b="1" dirty="0">
                <a:latin typeface="Arial Black" panose="020B0A04020102020204" pitchFamily="34" charset="0"/>
              </a:rPr>
              <a:t>8.LLaVA (</a:t>
            </a:r>
            <a:r>
              <a:rPr lang="en-US" b="1" dirty="0" err="1">
                <a:latin typeface="Arial Black" panose="020B0A04020102020204" pitchFamily="34" charset="0"/>
              </a:rPr>
              <a:t>NeurIPS</a:t>
            </a:r>
            <a:r>
              <a:rPr lang="en-US" b="1" dirty="0">
                <a:latin typeface="Arial Black" panose="020B0A04020102020204" pitchFamily="34" charset="0"/>
              </a:rPr>
              <a:t> 2023) </a:t>
            </a:r>
          </a:p>
          <a:p>
            <a:pPr marL="0" indent="0">
              <a:buNone/>
            </a:pPr>
            <a:r>
              <a:rPr lang="en-US" b="1" dirty="0">
                <a:latin typeface="Arial Black" panose="020B0A04020102020204" pitchFamily="34" charset="0"/>
              </a:rPr>
              <a:t>9.Google ARCore Documentation </a:t>
            </a:r>
          </a:p>
          <a:p>
            <a:pPr marL="0" indent="0">
              <a:buNone/>
            </a:pPr>
            <a:r>
              <a:rPr lang="en-US" b="1" dirty="0">
                <a:latin typeface="Arial Black" panose="020B0A04020102020204" pitchFamily="34" charset="0"/>
              </a:rPr>
              <a:t>10.Milgram &amp; </a:t>
            </a:r>
            <a:r>
              <a:rPr lang="en-US" b="1" dirty="0" err="1">
                <a:latin typeface="Arial Black" panose="020B0A04020102020204" pitchFamily="34" charset="0"/>
              </a:rPr>
              <a:t>Kishino</a:t>
            </a:r>
            <a:r>
              <a:rPr lang="en-US" b="1" dirty="0">
                <a:latin typeface="Arial Black" panose="020B0A04020102020204" pitchFamily="34" charset="0"/>
              </a:rPr>
              <a:t> – Reality-</a:t>
            </a:r>
            <a:r>
              <a:rPr lang="en-US" b="1" dirty="0" err="1">
                <a:latin typeface="Arial Black" panose="020B0A04020102020204" pitchFamily="34" charset="0"/>
              </a:rPr>
              <a:t>Virtuality</a:t>
            </a:r>
            <a:r>
              <a:rPr lang="en-US" b="1" dirty="0">
                <a:latin typeface="Arial Black" panose="020B0A04020102020204" pitchFamily="34" charset="0"/>
              </a:rPr>
              <a:t> Continuum (1994) </a:t>
            </a:r>
          </a:p>
          <a:p>
            <a:pPr marL="0" indent="0">
              <a:buNone/>
            </a:pP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341694"/>
              </p:ext>
            </p:extLst>
          </p:nvPr>
        </p:nvGraphicFramePr>
        <p:xfrm>
          <a:off x="-2516861" y="22932429"/>
          <a:ext cx="12864975" cy="27103228"/>
        </p:xfrm>
        <a:graphic>
          <a:graphicData uri="http://schemas.openxmlformats.org/drawingml/2006/table">
            <a:tbl>
              <a:tblPr/>
              <a:tblGrid>
                <a:gridCol w="2572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2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2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2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72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8023">
                <a:tc>
                  <a:txBody>
                    <a:bodyPr/>
                    <a:lstStyle/>
                    <a:p>
                      <a:r>
                        <a:rPr lang="en-US" sz="1800"/>
                        <a:t>No.</a:t>
                      </a:r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Paper Title</a:t>
                      </a:r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Authors</a:t>
                      </a:r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Published</a:t>
                      </a:r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Link</a:t>
                      </a:r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1330">
                <a:tc>
                  <a:txBody>
                    <a:bodyPr/>
                    <a:lstStyle/>
                    <a:p>
                      <a:r>
                        <a:rPr lang="en-US" sz="1800" b="1"/>
                        <a:t>[1]</a:t>
                      </a:r>
                      <a:endParaRPr lang="en-US" sz="1800"/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BanFakeNews: A Dataset for Detecting Fake News in Bangla</a:t>
                      </a:r>
                      <a:endParaRPr lang="en-US" sz="1800"/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M. Z. Hossain et al.</a:t>
                      </a:r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COLING 2020</a:t>
                      </a:r>
                      <a:endParaRPr lang="en-US" sz="1800"/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hlinkClick r:id="rId2"/>
                        </a:rPr>
                        <a:t>https://aclanthology.org/2020.coling-main.98/</a:t>
                      </a:r>
                      <a:endParaRPr lang="en-US" sz="1800" dirty="0"/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3314">
                <a:tc>
                  <a:txBody>
                    <a:bodyPr/>
                    <a:lstStyle/>
                    <a:p>
                      <a:r>
                        <a:rPr lang="en-US" sz="1800" b="1"/>
                        <a:t>[2]</a:t>
                      </a:r>
                      <a:endParaRPr lang="en-US" sz="1800"/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BanMANI: A Dataset for Manipulated Social Media News Detection in Bangla</a:t>
                      </a:r>
                      <a:endParaRPr lang="en-US" sz="1800" dirty="0"/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M. Kamruzzaman et al.</a:t>
                      </a:r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IEEE Transactions on Computational Social Systems, 2023</a:t>
                      </a:r>
                      <a:endParaRPr lang="en-US" sz="1800"/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hlinkClick r:id="rId3"/>
                        </a:rPr>
                        <a:t>https://ieeexplore.ieee.org/document/10021572</a:t>
                      </a:r>
                      <a:endParaRPr lang="en-US" sz="1800"/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4639">
                <a:tc>
                  <a:txBody>
                    <a:bodyPr/>
                    <a:lstStyle/>
                    <a:p>
                      <a:r>
                        <a:rPr lang="en-US" sz="1800" b="1"/>
                        <a:t>[3]</a:t>
                      </a:r>
                      <a:endParaRPr lang="en-US" sz="1800"/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BanFakeNews-2.0: Generative Augmentation and Transformer Ensembles for Low-Resource Deception Tracking</a:t>
                      </a:r>
                      <a:endParaRPr lang="en-US" sz="1800"/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R. Shibu et al.</a:t>
                      </a:r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2025</a:t>
                      </a:r>
                      <a:r>
                        <a:rPr lang="en-US" sz="1800"/>
                        <a:t> </a:t>
                      </a:r>
                      <a:r>
                        <a:rPr lang="en-US" sz="1800" i="1"/>
                        <a:t>(as cited in your report; difficult to verify publicly)</a:t>
                      </a:r>
                      <a:endParaRPr lang="en-US" sz="1800"/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i="1"/>
                        <a:t>(No verified public link available)</a:t>
                      </a:r>
                      <a:endParaRPr lang="en-US" sz="1800"/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5298">
                <a:tc>
                  <a:txBody>
                    <a:bodyPr/>
                    <a:lstStyle/>
                    <a:p>
                      <a:r>
                        <a:rPr lang="en-US" sz="1800" b="1"/>
                        <a:t>[4]</a:t>
                      </a:r>
                      <a:endParaRPr lang="en-US" sz="1800"/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Mitigating Data Skewness in Bangla Misinformation Classifiers via Ensemble Stacking Frameworks</a:t>
                      </a:r>
                      <a:endParaRPr lang="en-US" sz="1800"/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M. Z. Hossain et al.</a:t>
                      </a:r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IEEE Access, 2022</a:t>
                      </a:r>
                      <a:endParaRPr lang="en-US" sz="1800"/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hlinkClick r:id="rId4"/>
                        </a:rPr>
                        <a:t>https://ieeexplore.ieee.org/document/9847543</a:t>
                      </a:r>
                      <a:endParaRPr lang="en-US" sz="1800"/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20668">
                <a:tc>
                  <a:txBody>
                    <a:bodyPr/>
                    <a:lstStyle/>
                    <a:p>
                      <a:r>
                        <a:rPr lang="en-US" sz="1800" b="1"/>
                        <a:t>[5]</a:t>
                      </a:r>
                      <a:endParaRPr lang="en-US" sz="1800"/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LIAR: A Benchmark Dataset for Fake News Detection</a:t>
                      </a:r>
                      <a:endParaRPr lang="en-US" sz="1800"/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William Yang Wang</a:t>
                      </a:r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ACL 2017</a:t>
                      </a:r>
                      <a:endParaRPr lang="en-US" sz="1800"/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hlinkClick r:id="rId5"/>
                        </a:rPr>
                        <a:t>https://aclanthology.org/P17-2067/</a:t>
                      </a:r>
                      <a:endParaRPr lang="en-US" sz="1800"/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83314">
                <a:tc>
                  <a:txBody>
                    <a:bodyPr/>
                    <a:lstStyle/>
                    <a:p>
                      <a:r>
                        <a:rPr lang="en-US" sz="1800" b="1"/>
                        <a:t>[6]</a:t>
                      </a:r>
                      <a:endParaRPr lang="en-US" sz="1800"/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Learning Transferable Visual Models From Natural Language Supervision (CLIP)</a:t>
                      </a:r>
                      <a:endParaRPr lang="en-US" sz="1800"/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Alec Radford et al.</a:t>
                      </a:r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ICML 2021</a:t>
                      </a:r>
                      <a:endParaRPr lang="en-US" sz="1800"/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hlinkClick r:id="rId6"/>
                        </a:rPr>
                        <a:t>https://arxiv.org/abs/2103.00020</a:t>
                      </a:r>
                      <a:endParaRPr lang="en-US" sz="1800"/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05298">
                <a:tc>
                  <a:txBody>
                    <a:bodyPr/>
                    <a:lstStyle/>
                    <a:p>
                      <a:r>
                        <a:rPr lang="en-US" sz="1800" b="1" dirty="0"/>
                        <a:t>[7]</a:t>
                      </a:r>
                      <a:endParaRPr lang="en-US" sz="1800" dirty="0"/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BLIP-2: Bootstrapping Language-Image Pre-training with Frozen Image Encoders and Large Language Models</a:t>
                      </a:r>
                      <a:endParaRPr lang="en-US" sz="1800"/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Junnan Li et al.</a:t>
                      </a:r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2023 (arXiv)</a:t>
                      </a:r>
                      <a:endParaRPr lang="en-US" sz="1800"/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hlinkClick r:id="rId7"/>
                        </a:rPr>
                        <a:t>https://arxiv.org/abs/2301.12597</a:t>
                      </a:r>
                      <a:endParaRPr lang="en-US" sz="1800"/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80007">
                <a:tc>
                  <a:txBody>
                    <a:bodyPr/>
                    <a:lstStyle/>
                    <a:p>
                      <a:r>
                        <a:rPr lang="en-US" sz="1800" b="1"/>
                        <a:t>[8]</a:t>
                      </a:r>
                      <a:endParaRPr lang="en-US" sz="1800"/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Visual Instruction Tuning (LLaVA)</a:t>
                      </a:r>
                      <a:endParaRPr lang="en-US" sz="1800"/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Haotian Liu et al.</a:t>
                      </a:r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NeurIPS 2023</a:t>
                      </a:r>
                      <a:endParaRPr lang="en-US" sz="1800"/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hlinkClick r:id="rId8"/>
                        </a:rPr>
                        <a:t>https://arxiv.org/abs/2304.08485</a:t>
                      </a:r>
                      <a:endParaRPr lang="en-US" sz="1800"/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80007">
                <a:tc>
                  <a:txBody>
                    <a:bodyPr/>
                    <a:lstStyle/>
                    <a:p>
                      <a:r>
                        <a:rPr lang="en-US" sz="1800" b="1"/>
                        <a:t>[9]</a:t>
                      </a:r>
                      <a:endParaRPr lang="en-US" sz="1800"/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Google ARCore SDK Overview</a:t>
                      </a:r>
                      <a:endParaRPr lang="en-US" sz="1800"/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Google Developers</a:t>
                      </a:r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2018</a:t>
                      </a:r>
                      <a:endParaRPr lang="en-US" sz="1800"/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hlinkClick r:id="rId9"/>
                        </a:rPr>
                        <a:t>https://developers.google.com/ar</a:t>
                      </a:r>
                      <a:endParaRPr lang="en-US" sz="1800"/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61330">
                <a:tc>
                  <a:txBody>
                    <a:bodyPr/>
                    <a:lstStyle/>
                    <a:p>
                      <a:r>
                        <a:rPr lang="en-US" sz="1800" b="1"/>
                        <a:t>[10]</a:t>
                      </a:r>
                      <a:endParaRPr lang="en-US" sz="1800"/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A Taxonomy of Mixed Reality Visual Displays</a:t>
                      </a:r>
                      <a:endParaRPr lang="en-US" sz="1800"/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Paul Milgram &amp; Fumio Kishino</a:t>
                      </a:r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IEICE Transactions on Information Systems, 1994</a:t>
                      </a:r>
                      <a:endParaRPr lang="en-US" sz="1800"/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hlinkClick r:id="rId10"/>
                        </a:rPr>
                        <a:t>https://ieeexplore.ieee.org/document/258082</a:t>
                      </a:r>
                      <a:endParaRPr lang="en-US" sz="1800" dirty="0"/>
                    </a:p>
                  </a:txBody>
                  <a:tcPr marL="13979" marR="13979" marT="6990" marB="6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102</TotalTime>
  <Words>1224</Words>
  <Application>Microsoft Office PowerPoint</Application>
  <PresentationFormat>On-screen Show (4:3)</PresentationFormat>
  <Paragraphs>222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Arial Black</vt:lpstr>
      <vt:lpstr>Arial Rounded MT Bold</vt:lpstr>
      <vt:lpstr>Berlin Sans FB</vt:lpstr>
      <vt:lpstr>Century Gothic</vt:lpstr>
      <vt:lpstr>Times New Roman</vt:lpstr>
      <vt:lpstr>Wingdings 3</vt:lpstr>
      <vt:lpstr>Wisp</vt:lpstr>
      <vt:lpstr>TruthLens AR Bangla Multimodal Fake News, Image &amp; Deepfake Detection Using Vision-Language Models</vt:lpstr>
      <vt:lpstr>Introduction</vt:lpstr>
      <vt:lpstr>Objectives</vt:lpstr>
      <vt:lpstr>Literature Review Overview</vt:lpstr>
      <vt:lpstr>Dataset-based Approaches</vt:lpstr>
      <vt:lpstr>Technical Bottlenecks</vt:lpstr>
      <vt:lpstr>Methodological Evolution</vt:lpstr>
      <vt:lpstr>Vision Language Models</vt:lpstr>
      <vt:lpstr>Spatial Computing</vt:lpstr>
      <vt:lpstr>Research Gaps</vt:lpstr>
      <vt:lpstr>Literature Review Summary and Research Gap Analysis</vt:lpstr>
      <vt:lpstr>Expected Results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TruthLens AR Bangla Multimodal Fake News, Image &amp; Deepfake Detection Using Vision-Language Models</dc:title>
  <dc:subject/>
  <dc:creator/>
  <cp:keywords/>
  <dc:description>generated using python-pptx</dc:description>
  <cp:lastModifiedBy>Joy saha</cp:lastModifiedBy>
  <cp:revision>13</cp:revision>
  <dcterms:created xsi:type="dcterms:W3CDTF">2013-01-27T09:14:16Z</dcterms:created>
  <dcterms:modified xsi:type="dcterms:W3CDTF">2026-07-07T21:00:30Z</dcterms:modified>
  <cp:category/>
</cp:coreProperties>
</file>